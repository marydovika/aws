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4"/>
  </p:notesMasterIdLst>
  <p:sldIdLst>
    <p:sldId id="256" r:id="rId2"/>
    <p:sldId id="318" r:id="rId3"/>
    <p:sldId id="310" r:id="rId4"/>
    <p:sldId id="312" r:id="rId5"/>
    <p:sldId id="315" r:id="rId6"/>
    <p:sldId id="258" r:id="rId7"/>
    <p:sldId id="259" r:id="rId8"/>
    <p:sldId id="268" r:id="rId9"/>
    <p:sldId id="278" r:id="rId10"/>
    <p:sldId id="280" r:id="rId11"/>
    <p:sldId id="291" r:id="rId12"/>
    <p:sldId id="307" r:id="rId13"/>
    <p:sldId id="321" r:id="rId14"/>
    <p:sldId id="292" r:id="rId15"/>
    <p:sldId id="319" r:id="rId16"/>
    <p:sldId id="305" r:id="rId17"/>
    <p:sldId id="306" r:id="rId18"/>
    <p:sldId id="320" r:id="rId19"/>
    <p:sldId id="262" r:id="rId20"/>
    <p:sldId id="266" r:id="rId21"/>
    <p:sldId id="264" r:id="rId22"/>
    <p:sldId id="32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75A"/>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57" autoAdjust="0"/>
    <p:restoredTop sz="94660"/>
  </p:normalViewPr>
  <p:slideViewPr>
    <p:cSldViewPr snapToGrid="0">
      <p:cViewPr varScale="1">
        <p:scale>
          <a:sx n="80" d="100"/>
          <a:sy n="80" d="100"/>
        </p:scale>
        <p:origin x="96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662022-5DBB-476D-8C27-821A5849ED6A}" type="datetimeFigureOut">
              <a:rPr lang="en-US" smtClean="0"/>
              <a:t>10/7/2025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E8EF5D-B315-4406-BCDE-C498A7EBC592}" type="slidenum">
              <a:rPr lang="en-US" smtClean="0"/>
              <a:t>‹#›</a:t>
            </a:fld>
            <a:endParaRPr lang="en-US" dirty="0"/>
          </a:p>
        </p:txBody>
      </p:sp>
    </p:spTree>
    <p:extLst>
      <p:ext uri="{BB962C8B-B14F-4D97-AF65-F5344CB8AC3E}">
        <p14:creationId xmlns:p14="http://schemas.microsoft.com/office/powerpoint/2010/main" val="2849774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0E8EF5D-B315-4406-BCDE-C498A7EBC592}" type="slidenum">
              <a:rPr lang="en-US" smtClean="0"/>
              <a:t>1</a:t>
            </a:fld>
            <a:endParaRPr lang="en-US" dirty="0"/>
          </a:p>
        </p:txBody>
      </p:sp>
    </p:spTree>
    <p:extLst>
      <p:ext uri="{BB962C8B-B14F-4D97-AF65-F5344CB8AC3E}">
        <p14:creationId xmlns:p14="http://schemas.microsoft.com/office/powerpoint/2010/main" val="53487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8EF5D-B315-4406-BCDE-C498A7EBC592}" type="slidenum">
              <a:rPr lang="en-US" smtClean="0"/>
              <a:t>6</a:t>
            </a:fld>
            <a:endParaRPr lang="en-US" dirty="0"/>
          </a:p>
        </p:txBody>
      </p:sp>
    </p:spTree>
    <p:extLst>
      <p:ext uri="{BB962C8B-B14F-4D97-AF65-F5344CB8AC3E}">
        <p14:creationId xmlns:p14="http://schemas.microsoft.com/office/powerpoint/2010/main" val="1182212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E8EF5D-B315-4406-BCDE-C498A7EBC592}" type="slidenum">
              <a:rPr lang="en-US" smtClean="0"/>
              <a:t>15</a:t>
            </a:fld>
            <a:endParaRPr lang="en-US" dirty="0"/>
          </a:p>
        </p:txBody>
      </p:sp>
    </p:spTree>
    <p:extLst>
      <p:ext uri="{BB962C8B-B14F-4D97-AF65-F5344CB8AC3E}">
        <p14:creationId xmlns:p14="http://schemas.microsoft.com/office/powerpoint/2010/main" val="1885724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6D3661-3966-4FC8-705E-E3813F035D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0E521C9C-8673-98C4-D884-ACC935EFF7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BB51598B-7CCB-8DD6-7685-5FDCF9ABB307}"/>
              </a:ext>
            </a:extLst>
          </p:cNvPr>
          <p:cNvSpPr>
            <a:spLocks noGrp="1"/>
          </p:cNvSpPr>
          <p:nvPr>
            <p:ph type="dt" sz="half" idx="10"/>
          </p:nvPr>
        </p:nvSpPr>
        <p:spPr/>
        <p:txBody>
          <a:bodyPr/>
          <a:lstStyle/>
          <a:p>
            <a:fld id="{35D9CAD5-D120-4269-A51E-71FF80E405E7}" type="datetime1">
              <a:rPr lang="en-US" smtClean="0"/>
              <a:t>10/7/2025</a:t>
            </a:fld>
            <a:endParaRPr lang="en-US" dirty="0"/>
          </a:p>
        </p:txBody>
      </p:sp>
      <p:sp>
        <p:nvSpPr>
          <p:cNvPr id="5" name="Footer Placeholder 4">
            <a:extLst>
              <a:ext uri="{FF2B5EF4-FFF2-40B4-BE49-F238E27FC236}">
                <a16:creationId xmlns="" xmlns:a16="http://schemas.microsoft.com/office/drawing/2014/main" id="{6558223C-4F53-6011-EBE5-2DBA4C0E3F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BDE71CF8-3D1F-C35E-5925-F7D4BEBAAD02}"/>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4031195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0C64FF-C1E0-1BA9-22C5-0747EB1E1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1EF84B78-3190-E41A-937E-A1A9097A07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4F263D9-0217-A461-A998-06907A7E3D0D}"/>
              </a:ext>
            </a:extLst>
          </p:cNvPr>
          <p:cNvSpPr>
            <a:spLocks noGrp="1"/>
          </p:cNvSpPr>
          <p:nvPr>
            <p:ph type="dt" sz="half" idx="10"/>
          </p:nvPr>
        </p:nvSpPr>
        <p:spPr/>
        <p:txBody>
          <a:bodyPr/>
          <a:lstStyle/>
          <a:p>
            <a:fld id="{F7D93892-681C-4EA0-818D-A489A50F78E4}" type="datetime1">
              <a:rPr lang="en-US" smtClean="0"/>
              <a:t>10/7/2025</a:t>
            </a:fld>
            <a:endParaRPr lang="en-US" dirty="0"/>
          </a:p>
        </p:txBody>
      </p:sp>
      <p:sp>
        <p:nvSpPr>
          <p:cNvPr id="5" name="Footer Placeholder 4">
            <a:extLst>
              <a:ext uri="{FF2B5EF4-FFF2-40B4-BE49-F238E27FC236}">
                <a16:creationId xmlns="" xmlns:a16="http://schemas.microsoft.com/office/drawing/2014/main" id="{2652D105-DC65-92F9-30A4-66B4B19CB4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BA52BD5E-BA45-46F0-2ABF-66FDA44F5DA4}"/>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1565908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93E611-52D3-B38B-91F1-010FC32AB6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9B9BEC66-EC34-6D32-5F0E-BCDF00E726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138BE39D-D64B-1BF6-8868-6341235D9EC0}"/>
              </a:ext>
            </a:extLst>
          </p:cNvPr>
          <p:cNvSpPr>
            <a:spLocks noGrp="1"/>
          </p:cNvSpPr>
          <p:nvPr>
            <p:ph type="dt" sz="half" idx="10"/>
          </p:nvPr>
        </p:nvSpPr>
        <p:spPr/>
        <p:txBody>
          <a:bodyPr/>
          <a:lstStyle/>
          <a:p>
            <a:fld id="{167485E2-5A5B-47B3-B3EC-91328887ABB9}" type="datetime1">
              <a:rPr lang="en-US" smtClean="0"/>
              <a:t>10/7/2025</a:t>
            </a:fld>
            <a:endParaRPr lang="en-US" dirty="0"/>
          </a:p>
        </p:txBody>
      </p:sp>
      <p:sp>
        <p:nvSpPr>
          <p:cNvPr id="5" name="Footer Placeholder 4">
            <a:extLst>
              <a:ext uri="{FF2B5EF4-FFF2-40B4-BE49-F238E27FC236}">
                <a16:creationId xmlns="" xmlns:a16="http://schemas.microsoft.com/office/drawing/2014/main" id="{02B55700-288B-4910-90B4-73AEAC0C0C2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C3D5AC35-D391-4967-6B04-9DE36994E6B3}"/>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963048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381EE1-0C6E-4691-589C-AC223F70F8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F60078E8-E1AF-F78E-6CA6-7C15AFB83D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6DCCACAE-DDE5-90EB-A0C0-1C56200FC1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F8551C17-1F05-DCF4-71BF-D94A4AF06160}"/>
              </a:ext>
            </a:extLst>
          </p:cNvPr>
          <p:cNvSpPr>
            <a:spLocks noGrp="1"/>
          </p:cNvSpPr>
          <p:nvPr>
            <p:ph type="dt" sz="half" idx="10"/>
          </p:nvPr>
        </p:nvSpPr>
        <p:spPr/>
        <p:txBody>
          <a:bodyPr/>
          <a:lstStyle/>
          <a:p>
            <a:fld id="{F41366E2-4311-4FB6-9D69-F4A430DB40C5}" type="datetime1">
              <a:rPr lang="en-US" smtClean="0"/>
              <a:t>10/7/2025</a:t>
            </a:fld>
            <a:endParaRPr lang="en-US" dirty="0"/>
          </a:p>
        </p:txBody>
      </p:sp>
      <p:sp>
        <p:nvSpPr>
          <p:cNvPr id="6" name="Footer Placeholder 5">
            <a:extLst>
              <a:ext uri="{FF2B5EF4-FFF2-40B4-BE49-F238E27FC236}">
                <a16:creationId xmlns="" xmlns:a16="http://schemas.microsoft.com/office/drawing/2014/main" id="{1D023510-1949-075F-4569-403911D1772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 xmlns:a16="http://schemas.microsoft.com/office/drawing/2014/main" id="{83265529-139D-AC1E-4698-14201A15ADB8}"/>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276692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52423C-DAC9-7697-59ED-3D5442D5CB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B4F316BF-B872-EC68-3401-300875D9CA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7EC75CC-E2A4-8FF3-F0AE-7CBB7717D1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C0A746AB-9321-A869-082B-64998A30D7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3035A97-6CD1-94BA-8794-57F4A5FF73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928FE344-F093-1440-DD14-CE96F741D6EB}"/>
              </a:ext>
            </a:extLst>
          </p:cNvPr>
          <p:cNvSpPr>
            <a:spLocks noGrp="1"/>
          </p:cNvSpPr>
          <p:nvPr>
            <p:ph type="dt" sz="half" idx="10"/>
          </p:nvPr>
        </p:nvSpPr>
        <p:spPr/>
        <p:txBody>
          <a:bodyPr/>
          <a:lstStyle/>
          <a:p>
            <a:fld id="{A928BD6D-F130-4BEB-B5B9-956BEE411ED6}" type="datetime1">
              <a:rPr lang="en-US" smtClean="0"/>
              <a:t>10/7/2025</a:t>
            </a:fld>
            <a:endParaRPr lang="en-US" dirty="0"/>
          </a:p>
        </p:txBody>
      </p:sp>
      <p:sp>
        <p:nvSpPr>
          <p:cNvPr id="8" name="Footer Placeholder 7">
            <a:extLst>
              <a:ext uri="{FF2B5EF4-FFF2-40B4-BE49-F238E27FC236}">
                <a16:creationId xmlns="" xmlns:a16="http://schemas.microsoft.com/office/drawing/2014/main" id="{75CD5F95-B523-EABA-7045-32111E615F9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 xmlns:a16="http://schemas.microsoft.com/office/drawing/2014/main" id="{6E7A339F-A6D7-873A-3FE4-5BD2B166B202}"/>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1139946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0768F36-A1B0-B60D-7F87-66DC1B82F8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4F1AA47F-9E48-0B7A-63FF-369FEBBB0F43}"/>
              </a:ext>
            </a:extLst>
          </p:cNvPr>
          <p:cNvSpPr>
            <a:spLocks noGrp="1"/>
          </p:cNvSpPr>
          <p:nvPr>
            <p:ph type="dt" sz="half" idx="10"/>
          </p:nvPr>
        </p:nvSpPr>
        <p:spPr/>
        <p:txBody>
          <a:bodyPr/>
          <a:lstStyle/>
          <a:p>
            <a:fld id="{3AA51596-F01A-403E-8741-B13CA86EED4E}" type="datetime1">
              <a:rPr lang="en-US" smtClean="0"/>
              <a:t>10/7/2025</a:t>
            </a:fld>
            <a:endParaRPr lang="en-US" dirty="0"/>
          </a:p>
        </p:txBody>
      </p:sp>
      <p:sp>
        <p:nvSpPr>
          <p:cNvPr id="4" name="Footer Placeholder 3">
            <a:extLst>
              <a:ext uri="{FF2B5EF4-FFF2-40B4-BE49-F238E27FC236}">
                <a16:creationId xmlns="" xmlns:a16="http://schemas.microsoft.com/office/drawing/2014/main" id="{95631EAF-12EC-D4B0-D857-56F65D00D75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 xmlns:a16="http://schemas.microsoft.com/office/drawing/2014/main" id="{1E5253ED-67FF-61F3-9053-74F11F549B29}"/>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2078559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BD3530C-4C2B-B148-9D88-E26C3F33AE6C}"/>
              </a:ext>
            </a:extLst>
          </p:cNvPr>
          <p:cNvSpPr>
            <a:spLocks noGrp="1"/>
          </p:cNvSpPr>
          <p:nvPr>
            <p:ph type="dt" sz="half" idx="10"/>
          </p:nvPr>
        </p:nvSpPr>
        <p:spPr/>
        <p:txBody>
          <a:bodyPr/>
          <a:lstStyle/>
          <a:p>
            <a:fld id="{00961736-5A23-4022-A31A-9F8D19E46D7D}" type="datetime1">
              <a:rPr lang="en-US" smtClean="0"/>
              <a:t>10/7/2025</a:t>
            </a:fld>
            <a:endParaRPr lang="en-US" dirty="0"/>
          </a:p>
        </p:txBody>
      </p:sp>
      <p:sp>
        <p:nvSpPr>
          <p:cNvPr id="3" name="Footer Placeholder 2">
            <a:extLst>
              <a:ext uri="{FF2B5EF4-FFF2-40B4-BE49-F238E27FC236}">
                <a16:creationId xmlns="" xmlns:a16="http://schemas.microsoft.com/office/drawing/2014/main" id="{8A7149CB-7AB2-07C7-07A2-48CA093B5C0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 xmlns:a16="http://schemas.microsoft.com/office/drawing/2014/main" id="{425439CA-6521-8D75-ECC5-0956ACF555EB}"/>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269158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30B7E2-9F91-4129-85DE-1274B5AD4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8CB7269C-69F4-4FDD-CC1F-0D71387B34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8329CD85-0E71-6E42-F171-EDDDEC3CBF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707D513-4410-58BB-54CC-D62D5CA3D086}"/>
              </a:ext>
            </a:extLst>
          </p:cNvPr>
          <p:cNvSpPr>
            <a:spLocks noGrp="1"/>
          </p:cNvSpPr>
          <p:nvPr>
            <p:ph type="dt" sz="half" idx="10"/>
          </p:nvPr>
        </p:nvSpPr>
        <p:spPr/>
        <p:txBody>
          <a:bodyPr/>
          <a:lstStyle/>
          <a:p>
            <a:fld id="{05C3D80C-61AD-4B11-8EDE-51316443E8B9}" type="datetime1">
              <a:rPr lang="en-US" smtClean="0"/>
              <a:t>10/7/2025</a:t>
            </a:fld>
            <a:endParaRPr lang="en-US" dirty="0"/>
          </a:p>
        </p:txBody>
      </p:sp>
      <p:sp>
        <p:nvSpPr>
          <p:cNvPr id="6" name="Footer Placeholder 5">
            <a:extLst>
              <a:ext uri="{FF2B5EF4-FFF2-40B4-BE49-F238E27FC236}">
                <a16:creationId xmlns="" xmlns:a16="http://schemas.microsoft.com/office/drawing/2014/main" id="{51B7D449-A46A-E10D-0FD4-E6C44CE2F76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 xmlns:a16="http://schemas.microsoft.com/office/drawing/2014/main" id="{CF87F891-F3C8-2D29-A6AE-8C64C91A0DDC}"/>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1678148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8C91D5-0B0B-EA86-5A3C-1FE6215279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113140EF-482F-660B-EDCF-81552006EB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932D1E16-0878-1EF7-FBBA-E0122D6FDA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03C0C13-8746-ADE3-A785-AE6F56AAF3BE}"/>
              </a:ext>
            </a:extLst>
          </p:cNvPr>
          <p:cNvSpPr>
            <a:spLocks noGrp="1"/>
          </p:cNvSpPr>
          <p:nvPr>
            <p:ph type="dt" sz="half" idx="10"/>
          </p:nvPr>
        </p:nvSpPr>
        <p:spPr/>
        <p:txBody>
          <a:bodyPr/>
          <a:lstStyle/>
          <a:p>
            <a:fld id="{E1EBC553-C167-40B9-AC8F-787270809BD6}" type="datetime1">
              <a:rPr lang="en-US" smtClean="0"/>
              <a:t>10/7/2025</a:t>
            </a:fld>
            <a:endParaRPr lang="en-US" dirty="0"/>
          </a:p>
        </p:txBody>
      </p:sp>
      <p:sp>
        <p:nvSpPr>
          <p:cNvPr id="6" name="Footer Placeholder 5">
            <a:extLst>
              <a:ext uri="{FF2B5EF4-FFF2-40B4-BE49-F238E27FC236}">
                <a16:creationId xmlns="" xmlns:a16="http://schemas.microsoft.com/office/drawing/2014/main" id="{DA7BB9D3-A6C1-1935-DDFC-A3C3639531F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 xmlns:a16="http://schemas.microsoft.com/office/drawing/2014/main" id="{243CCCFD-AF57-1986-CAC6-26AA4BB3BBE6}"/>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989655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B270E5-EAC8-BC9F-B4AF-316674949E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62E1FAC1-64AB-BFAF-E767-FAF0430C07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10F3BA5-0129-6E56-9963-4D885C4FE9D4}"/>
              </a:ext>
            </a:extLst>
          </p:cNvPr>
          <p:cNvSpPr>
            <a:spLocks noGrp="1"/>
          </p:cNvSpPr>
          <p:nvPr>
            <p:ph type="dt" sz="half" idx="10"/>
          </p:nvPr>
        </p:nvSpPr>
        <p:spPr/>
        <p:txBody>
          <a:bodyPr/>
          <a:lstStyle/>
          <a:p>
            <a:fld id="{1193268A-9A59-4D75-BEB4-FE84A640186E}" type="datetime1">
              <a:rPr lang="en-US" smtClean="0"/>
              <a:t>10/7/2025</a:t>
            </a:fld>
            <a:endParaRPr lang="en-US" dirty="0"/>
          </a:p>
        </p:txBody>
      </p:sp>
      <p:sp>
        <p:nvSpPr>
          <p:cNvPr id="5" name="Footer Placeholder 4">
            <a:extLst>
              <a:ext uri="{FF2B5EF4-FFF2-40B4-BE49-F238E27FC236}">
                <a16:creationId xmlns="" xmlns:a16="http://schemas.microsoft.com/office/drawing/2014/main" id="{8CE9D3FC-279A-5706-EE0F-7651940DE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2FC34F29-A4C8-4F33-BC42-02426C368187}"/>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1120341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452AB401-A471-90A4-3361-DA881D23F4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37563528-B2F3-31DC-8661-1E10C5AAAD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7813264-5A49-6316-CE85-48D018A902B3}"/>
              </a:ext>
            </a:extLst>
          </p:cNvPr>
          <p:cNvSpPr>
            <a:spLocks noGrp="1"/>
          </p:cNvSpPr>
          <p:nvPr>
            <p:ph type="dt" sz="half" idx="10"/>
          </p:nvPr>
        </p:nvSpPr>
        <p:spPr/>
        <p:txBody>
          <a:bodyPr/>
          <a:lstStyle/>
          <a:p>
            <a:fld id="{4014D63A-18C9-4C36-9398-08ABB15601CF}" type="datetime1">
              <a:rPr lang="en-US" smtClean="0"/>
              <a:t>10/7/2025</a:t>
            </a:fld>
            <a:endParaRPr lang="en-US" dirty="0"/>
          </a:p>
        </p:txBody>
      </p:sp>
      <p:sp>
        <p:nvSpPr>
          <p:cNvPr id="5" name="Footer Placeholder 4">
            <a:extLst>
              <a:ext uri="{FF2B5EF4-FFF2-40B4-BE49-F238E27FC236}">
                <a16:creationId xmlns="" xmlns:a16="http://schemas.microsoft.com/office/drawing/2014/main" id="{75128841-FC77-0ADF-008C-14188676E2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 xmlns:a16="http://schemas.microsoft.com/office/drawing/2014/main" id="{C2B14E09-55E5-1AC1-67BF-00B6266C6702}"/>
              </a:ext>
            </a:extLst>
          </p:cNvPr>
          <p:cNvSpPr>
            <a:spLocks noGrp="1"/>
          </p:cNvSpPr>
          <p:nvPr>
            <p:ph type="sldNum" sz="quarter" idx="12"/>
          </p:nvPr>
        </p:nvSpPr>
        <p:spPr/>
        <p:txBody>
          <a:bodyPr/>
          <a:lstStyle/>
          <a:p>
            <a:fld id="{9B87FC41-F35B-458E-AD48-D36E6575979E}" type="slidenum">
              <a:rPr lang="en-US" smtClean="0"/>
              <a:t>‹#›</a:t>
            </a:fld>
            <a:endParaRPr lang="en-US" dirty="0"/>
          </a:p>
        </p:txBody>
      </p:sp>
    </p:spTree>
    <p:extLst>
      <p:ext uri="{BB962C8B-B14F-4D97-AF65-F5344CB8AC3E}">
        <p14:creationId xmlns:p14="http://schemas.microsoft.com/office/powerpoint/2010/main" val="2817366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FF99106-04DA-17D0-4D05-73E61239DC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1DA525CB-786D-B47B-DAA1-141D971343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D31DA6D-4861-5E9A-9FAE-AAAE381A52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AA0BD5-299A-491B-82D8-64C3060B839F}" type="datetime1">
              <a:rPr lang="en-US" smtClean="0"/>
              <a:t>10/7/2025</a:t>
            </a:fld>
            <a:endParaRPr lang="en-US" dirty="0"/>
          </a:p>
        </p:txBody>
      </p:sp>
      <p:sp>
        <p:nvSpPr>
          <p:cNvPr id="5" name="Footer Placeholder 4">
            <a:extLst>
              <a:ext uri="{FF2B5EF4-FFF2-40B4-BE49-F238E27FC236}">
                <a16:creationId xmlns="" xmlns:a16="http://schemas.microsoft.com/office/drawing/2014/main" id="{FB259E3A-32E1-2B4D-83AA-CE08626CB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 xmlns:a16="http://schemas.microsoft.com/office/drawing/2014/main" id="{A3F5B2A1-5B7A-B67B-3AF1-0475FBFA6D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87FC41-F35B-458E-AD48-D36E6575979E}" type="slidenum">
              <a:rPr lang="en-US" smtClean="0"/>
              <a:t>‹#›</a:t>
            </a:fld>
            <a:endParaRPr lang="en-US" dirty="0"/>
          </a:p>
        </p:txBody>
      </p:sp>
    </p:spTree>
    <p:extLst>
      <p:ext uri="{BB962C8B-B14F-4D97-AF65-F5344CB8AC3E}">
        <p14:creationId xmlns:p14="http://schemas.microsoft.com/office/powerpoint/2010/main" val="3257863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016/j.rser.2009.05.005" TargetMode="External"/><Relationship Id="rId7" Type="http://schemas.openxmlformats.org/officeDocument/2006/relationships/hyperlink" Target="https://doi.org/10.3390/electronics13152899" TargetMode="External"/><Relationship Id="rId2" Type="http://schemas.openxmlformats.org/officeDocument/2006/relationships/hyperlink" Target="https://doi.org/10.1007/s41062-024-01817-7" TargetMode="External"/><Relationship Id="rId1" Type="http://schemas.openxmlformats.org/officeDocument/2006/relationships/slideLayout" Target="../slideLayouts/slideLayout2.xml"/><Relationship Id="rId6" Type="http://schemas.openxmlformats.org/officeDocument/2006/relationships/hyperlink" Target="https://doi.org/10.3390/en15103701" TargetMode="External"/><Relationship Id="rId5" Type="http://schemas.openxmlformats.org/officeDocument/2006/relationships/hyperlink" Target="https://doi.org/10.1016/j.deveng.2018.100040" TargetMode="External"/><Relationship Id="rId4" Type="http://schemas.openxmlformats.org/officeDocument/2006/relationships/hyperlink" Target="https://doi.org/10.1016/J.PCE.2022.103243"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 xmlns:a16="http://schemas.microsoft.com/office/drawing/2014/main" id="{889AF678-B5D8-AF74-F887-DEC2EF6C498A}"/>
              </a:ext>
            </a:extLst>
          </p:cNvPr>
          <p:cNvSpPr txBox="1"/>
          <p:nvPr/>
        </p:nvSpPr>
        <p:spPr>
          <a:xfrm>
            <a:off x="1366580" y="1181574"/>
            <a:ext cx="9971063" cy="5676426"/>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DEVELOPING A MODULAR AND ADAPTIVE POWER ELECTRONICS SYSTEM FOR ENERGY CONSTRAINED AUTOMATIC WEATHER STATIONS</a:t>
            </a:r>
            <a:r>
              <a:rPr lang="en-GB" sz="2800" dirty="0">
                <a:latin typeface="Times New Roman" panose="02020603050405020304" pitchFamily="18" charset="0"/>
                <a:cs typeface="Times New Roman" panose="02020603050405020304" pitchFamily="18" charset="0"/>
              </a:rPr>
              <a:t/>
            </a:r>
            <a:br>
              <a:rPr lang="en-GB" sz="2800" dirty="0">
                <a:latin typeface="Times New Roman" panose="02020603050405020304" pitchFamily="18" charset="0"/>
                <a:cs typeface="Times New Roman" panose="02020603050405020304" pitchFamily="18" charset="0"/>
              </a:rPr>
            </a:br>
            <a:r>
              <a:rPr lang="en-GB" sz="2800" dirty="0">
                <a:latin typeface="Times New Roman" panose="02020603050405020304" pitchFamily="18" charset="0"/>
                <a:cs typeface="Times New Roman" panose="02020603050405020304" pitchFamily="18" charset="0"/>
              </a:rPr>
              <a:t>By</a:t>
            </a:r>
            <a:endParaRPr lang="en-US" sz="28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Tobias Newman Muhanguzi</a:t>
            </a:r>
          </a:p>
          <a:p>
            <a:pPr algn="ctr"/>
            <a:r>
              <a:rPr lang="en-US" sz="2400" dirty="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BTE., </a:t>
            </a:r>
            <a:r>
              <a:rPr lang="en-US" sz="2400" dirty="0">
                <a:latin typeface="Times New Roman" panose="02020603050405020304" pitchFamily="18" charset="0"/>
                <a:cs typeface="Times New Roman" panose="02020603050405020304" pitchFamily="18" charset="0"/>
              </a:rPr>
              <a:t>KyU)</a:t>
            </a:r>
          </a:p>
          <a:p>
            <a:pPr algn="ctr"/>
            <a:r>
              <a:rPr lang="en-US" sz="2400" dirty="0">
                <a:latin typeface="Times New Roman" panose="02020603050405020304" pitchFamily="18" charset="0"/>
                <a:cs typeface="Times New Roman" panose="02020603050405020304" pitchFamily="18" charset="0"/>
              </a:rPr>
              <a:t>Supervisors</a:t>
            </a:r>
          </a:p>
          <a:p>
            <a:pPr algn="ctr"/>
            <a:r>
              <a:rPr lang="en-US" sz="2400" dirty="0" smtClean="0">
                <a:latin typeface="Times New Roman" panose="02020603050405020304" pitchFamily="18" charset="0"/>
                <a:cs typeface="Times New Roman" panose="02020603050405020304" pitchFamily="18" charset="0"/>
              </a:rPr>
              <a:t>     Dr</a:t>
            </a:r>
            <a:r>
              <a:rPr lang="en-US" sz="2400" dirty="0">
                <a:latin typeface="Times New Roman" panose="02020603050405020304" pitchFamily="18" charset="0"/>
                <a:cs typeface="Times New Roman" panose="02020603050405020304" pitchFamily="18" charset="0"/>
              </a:rPr>
              <a:t>. Roseline </a:t>
            </a:r>
            <a:r>
              <a:rPr lang="en-US" sz="2400" dirty="0" smtClean="0">
                <a:latin typeface="Times New Roman" panose="02020603050405020304" pitchFamily="18" charset="0"/>
                <a:cs typeface="Times New Roman" panose="02020603050405020304" pitchFamily="18" charset="0"/>
              </a:rPr>
              <a:t>Akol</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Dr</a:t>
            </a:r>
            <a:r>
              <a:rPr lang="en-US" sz="2400" dirty="0">
                <a:latin typeface="Times New Roman" panose="02020603050405020304" pitchFamily="18" charset="0"/>
                <a:cs typeface="Times New Roman" panose="02020603050405020304" pitchFamily="18" charset="0"/>
              </a:rPr>
              <a:t>. Mary </a:t>
            </a:r>
            <a:r>
              <a:rPr lang="en-US" sz="2400" dirty="0" smtClean="0">
                <a:latin typeface="Times New Roman" panose="02020603050405020304" pitchFamily="18" charset="0"/>
                <a:cs typeface="Times New Roman" panose="02020603050405020304" pitchFamily="18" charset="0"/>
              </a:rPr>
              <a:t>Nsabagwa</a:t>
            </a:r>
          </a:p>
          <a:p>
            <a:pPr algn="ctr"/>
            <a:endParaRPr lang="en-US" sz="1200" dirty="0">
              <a:latin typeface="Times New Roman" panose="02020603050405020304" pitchFamily="18" charset="0"/>
              <a:cs typeface="Times New Roman" panose="02020603050405020304" pitchFamily="18" charset="0"/>
            </a:endParaRPr>
          </a:p>
          <a:p>
            <a:pPr algn="ctr"/>
            <a:r>
              <a:rPr lang="en-GB" sz="2400" dirty="0">
                <a:latin typeface="Times New Roman" panose="02020603050405020304" pitchFamily="18" charset="0"/>
                <a:cs typeface="Times New Roman" panose="02020603050405020304" pitchFamily="18" charset="0"/>
              </a:rPr>
              <a:t>A research proposal submitted to the Directorate of Research and Graduate Training in partial fulfilment for requirements of the award of Masters of Science in Power Systems Engineering of Makerere </a:t>
            </a:r>
            <a:r>
              <a:rPr lang="en-GB" sz="2400" dirty="0" smtClean="0">
                <a:latin typeface="Times New Roman" panose="02020603050405020304" pitchFamily="18" charset="0"/>
                <a:cs typeface="Times New Roman" panose="02020603050405020304" pitchFamily="18" charset="0"/>
              </a:rPr>
              <a:t>University</a:t>
            </a:r>
          </a:p>
          <a:p>
            <a:pPr algn="ctr"/>
            <a:endParaRPr lang="en-US" sz="500" kern="1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US" sz="2400" kern="100" dirty="0">
                <a:latin typeface="Times New Roman" panose="02020603050405020304" pitchFamily="18" charset="0"/>
                <a:ea typeface="Times New Roman" panose="02020603050405020304" pitchFamily="18" charset="0"/>
                <a:cs typeface="Times New Roman" panose="02020603050405020304" pitchFamily="18" charset="0"/>
              </a:rPr>
              <a:t>7</a:t>
            </a:r>
            <a:r>
              <a:rPr lang="en-US" sz="2400" kern="100" baseline="30000" dirty="0">
                <a:latin typeface="Times New Roman" panose="02020603050405020304" pitchFamily="18" charset="0"/>
                <a:ea typeface="Times New Roman" panose="02020603050405020304" pitchFamily="18" charset="0"/>
                <a:cs typeface="Times New Roman" panose="02020603050405020304" pitchFamily="18" charset="0"/>
              </a:rPr>
              <a:t>th</a:t>
            </a:r>
            <a:r>
              <a:rPr lang="en-US" sz="2400" kern="100" dirty="0">
                <a:latin typeface="Times New Roman" panose="02020603050405020304" pitchFamily="18" charset="0"/>
                <a:ea typeface="Times New Roman" panose="02020603050405020304" pitchFamily="18" charset="0"/>
                <a:cs typeface="Times New Roman" panose="02020603050405020304" pitchFamily="18" charset="0"/>
              </a:rPr>
              <a:t> OCTOBER, </a:t>
            </a:r>
            <a:r>
              <a:rPr lang="en-US" sz="2400" kern="100" dirty="0" smtClean="0">
                <a:latin typeface="Times New Roman" panose="02020603050405020304" pitchFamily="18" charset="0"/>
                <a:ea typeface="Times New Roman" panose="02020603050405020304" pitchFamily="18" charset="0"/>
                <a:cs typeface="Times New Roman" panose="02020603050405020304" pitchFamily="18" charset="0"/>
              </a:rPr>
              <a:t>2025</a:t>
            </a:r>
          </a:p>
          <a:p>
            <a:pPr algn="ctr">
              <a:lnSpc>
                <a:spcPct val="115000"/>
              </a:lnSpc>
              <a:spcAft>
                <a:spcPts val="800"/>
              </a:spcAft>
            </a:pPr>
            <a:r>
              <a:rPr lang="en-GB" sz="2400" kern="100" dirty="0" smtClean="0">
                <a:latin typeface="Times New Roman" panose="02020603050405020304" pitchFamily="18" charset="0"/>
                <a:ea typeface="Times New Roman" panose="02020603050405020304" pitchFamily="18" charset="0"/>
                <a:cs typeface="Times New Roman" panose="02020603050405020304" pitchFamily="18" charset="0"/>
              </a:rPr>
              <a:t>Kampala, Uganda</a:t>
            </a:r>
            <a:endParaRPr lang="en-US" sz="2400" kern="100" dirty="0" smtClean="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9" name="Content Placeholder 12" descr="logo">
            <a:extLst>
              <a:ext uri="{FF2B5EF4-FFF2-40B4-BE49-F238E27FC236}">
                <a16:creationId xmlns="" xmlns:a16="http://schemas.microsoft.com/office/drawing/2014/main" id="{36D49612-3549-512A-2103-3A78D1E80E76}"/>
              </a:ext>
            </a:extLst>
          </p:cNvPr>
          <p:cNvPicPr>
            <a:picLocks/>
          </p:cNvPicPr>
          <p:nvPr/>
        </p:nvPicPr>
        <p:blipFill>
          <a:blip r:embed="rId3" cstate="print"/>
          <a:srcRect/>
          <a:stretch/>
        </p:blipFill>
        <p:spPr>
          <a:xfrm>
            <a:off x="5652025" y="137476"/>
            <a:ext cx="1400175" cy="1145593"/>
          </a:xfrm>
          <a:prstGeom prst="rect">
            <a:avLst/>
          </a:prstGeom>
          <a:ln>
            <a:noFill/>
          </a:ln>
        </p:spPr>
      </p:pic>
      <p:sp>
        <p:nvSpPr>
          <p:cNvPr id="23" name="TextBox 22">
            <a:extLst>
              <a:ext uri="{FF2B5EF4-FFF2-40B4-BE49-F238E27FC236}">
                <a16:creationId xmlns="" xmlns:a16="http://schemas.microsoft.com/office/drawing/2014/main" id="{406BFD9E-D934-8985-E4F6-911B6EC5638C}"/>
              </a:ext>
            </a:extLst>
          </p:cNvPr>
          <p:cNvSpPr txBox="1"/>
          <p:nvPr/>
        </p:nvSpPr>
        <p:spPr>
          <a:xfrm>
            <a:off x="2643188" y="387108"/>
            <a:ext cx="7939087" cy="646331"/>
          </a:xfrm>
          <a:prstGeom prst="rect">
            <a:avLst/>
          </a:prstGeom>
          <a:noFill/>
        </p:spPr>
        <p:txBody>
          <a:bodyPr wrap="square">
            <a:spAutoFit/>
          </a:bodyPr>
          <a:lstStyle/>
          <a:p>
            <a:r>
              <a:rPr lang="en-US" sz="3600" dirty="0" smtClean="0">
                <a:effectLst/>
                <a:latin typeface="Times New Roman" panose="02020603050405020304" pitchFamily="18" charset="0"/>
                <a:ea typeface="Calibri" panose="020F0502020204030204" pitchFamily="34" charset="0"/>
                <a:cs typeface="Times New Roman" panose="02020603050405020304" pitchFamily="18" charset="0"/>
              </a:rPr>
              <a:t>MAKERERE                   UNIVERSITY</a:t>
            </a: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B87FC41-F35B-458E-AD48-D36E6575979E}" type="slidenum">
              <a:rPr lang="en-US" smtClean="0"/>
              <a:t>1</a:t>
            </a:fld>
            <a:endParaRPr lang="en-US" dirty="0"/>
          </a:p>
        </p:txBody>
      </p:sp>
    </p:spTree>
    <p:extLst>
      <p:ext uri="{BB962C8B-B14F-4D97-AF65-F5344CB8AC3E}">
        <p14:creationId xmlns:p14="http://schemas.microsoft.com/office/powerpoint/2010/main" val="41230966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6DA90C-D6AB-F1B8-7AAC-D696C8EE29FE}"/>
            </a:ext>
          </a:extLst>
        </p:cNvPr>
        <p:cNvGrpSpPr/>
        <p:nvPr/>
      </p:nvGrpSpPr>
      <p:grpSpPr>
        <a:xfrm>
          <a:off x="0" y="0"/>
          <a:ext cx="0" cy="0"/>
          <a:chOff x="0" y="0"/>
          <a:chExt cx="0" cy="0"/>
        </a:xfrm>
      </p:grpSpPr>
      <p:sp>
        <p:nvSpPr>
          <p:cNvPr id="5" name="Rectangle 4"/>
          <p:cNvSpPr/>
          <p:nvPr/>
        </p:nvSpPr>
        <p:spPr>
          <a:xfrm>
            <a:off x="421090" y="2279879"/>
            <a:ext cx="11101648" cy="1764586"/>
          </a:xfrm>
          <a:prstGeom prst="rect">
            <a:avLst/>
          </a:prstGeom>
        </p:spPr>
        <p:txBody>
          <a:bodyPr wrap="square">
            <a:spAutoFit/>
          </a:bodyPr>
          <a:lstStyle/>
          <a:p>
            <a:pPr marL="0" lvl="2" algn="ctr">
              <a:lnSpc>
                <a:spcPct val="150000"/>
              </a:lnSpc>
              <a:spcBef>
                <a:spcPts val="200"/>
              </a:spcBef>
              <a:spcAft>
                <a:spcPts val="0"/>
              </a:spcAft>
            </a:pPr>
            <a:r>
              <a:rPr lang="en-GB" sz="2800" b="1" dirty="0" smtClean="0">
                <a:latin typeface="Times New Roman" panose="02020603050405020304" pitchFamily="18" charset="0"/>
                <a:ea typeface="Times New Roman" panose="02020603050405020304" pitchFamily="18" charset="0"/>
                <a:cs typeface="Times New Roman" panose="02020603050405020304" pitchFamily="18" charset="0"/>
              </a:rPr>
              <a:t>Modularity</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50000"/>
              </a:lnSpc>
              <a:spcAft>
                <a:spcPts val="800"/>
              </a:spcAft>
              <a:buFont typeface="Wingdings" panose="05000000000000000000" pitchFamily="2" charset="2"/>
              <a:buChar char="v"/>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Modularity </a:t>
            </a:r>
            <a:r>
              <a:rPr lang="en-US" sz="2000" dirty="0">
                <a:latin typeface="Times New Roman" panose="02020603050405020304" pitchFamily="18" charset="0"/>
                <a:ea typeface="Calibri" panose="020F0502020204030204" pitchFamily="34" charset="0"/>
                <a:cs typeface="Times New Roman" panose="02020603050405020304" pitchFamily="18" charset="0"/>
              </a:rPr>
              <a:t>is where a complex system is broken down into manageable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subsystems.</a:t>
            </a:r>
          </a:p>
          <a:p>
            <a:pPr marL="342900" indent="-342900" algn="just">
              <a:lnSpc>
                <a:spcPct val="150000"/>
              </a:lnSpc>
              <a:spcAft>
                <a:spcPts val="800"/>
              </a:spcAft>
              <a:buFont typeface="Wingdings" panose="05000000000000000000" pitchFamily="2" charset="2"/>
              <a:buChar char="v"/>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This improves </a:t>
            </a:r>
            <a:r>
              <a:rPr lang="en-US" sz="2000" dirty="0">
                <a:latin typeface="Times New Roman" panose="02020603050405020304" pitchFamily="18" charset="0"/>
                <a:ea typeface="Calibri" panose="020F0502020204030204" pitchFamily="34" charset="0"/>
                <a:cs typeface="Times New Roman" panose="02020603050405020304" pitchFamily="18" charset="0"/>
              </a:rPr>
              <a:t>scalability, fault tolerance, and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maintainability. Also enable Hardware in a Loop (HIL</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 xmlns:a16="http://schemas.microsoft.com/office/drawing/2014/main" id="{11002E01-5117-1C60-5F97-229C4879EB6D}"/>
              </a:ext>
            </a:extLst>
          </p:cNvPr>
          <p:cNvSpPr txBox="1"/>
          <p:nvPr/>
        </p:nvSpPr>
        <p:spPr>
          <a:xfrm>
            <a:off x="4698142" y="0"/>
            <a:ext cx="2712803"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Background</a:t>
            </a:r>
          </a:p>
        </p:txBody>
      </p:sp>
      <p:sp>
        <p:nvSpPr>
          <p:cNvPr id="13" name="Rectangle 12"/>
          <p:cNvSpPr/>
          <p:nvPr/>
        </p:nvSpPr>
        <p:spPr>
          <a:xfrm>
            <a:off x="461702" y="430854"/>
            <a:ext cx="11020424" cy="1754326"/>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GB" sz="2400" dirty="0">
                <a:latin typeface="Times New Roman" panose="02020603050405020304" pitchFamily="18" charset="0"/>
                <a:ea typeface="Calibri" panose="020F0502020204030204" pitchFamily="34" charset="0"/>
                <a:cs typeface="Times New Roman" panose="02020603050405020304" pitchFamily="18" charset="0"/>
              </a:rPr>
              <a:t>A</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utomatic </a:t>
            </a:r>
            <a:r>
              <a:rPr lang="en-GB" sz="2400" dirty="0">
                <a:latin typeface="Times New Roman" panose="02020603050405020304" pitchFamily="18" charset="0"/>
                <a:ea typeface="Calibri" panose="020F0502020204030204" pitchFamily="34" charset="0"/>
                <a:cs typeface="Times New Roman" panose="02020603050405020304" pitchFamily="18" charset="0"/>
              </a:rPr>
              <a:t>weather stations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(AWS) use </a:t>
            </a:r>
            <a:r>
              <a:rPr lang="en-GB" sz="2400" dirty="0">
                <a:latin typeface="Times New Roman" panose="02020603050405020304" pitchFamily="18" charset="0"/>
                <a:ea typeface="Calibri" panose="020F0502020204030204" pitchFamily="34" charset="0"/>
                <a:cs typeface="Times New Roman" panose="02020603050405020304" pitchFamily="18" charset="0"/>
              </a:rPr>
              <a:t>advanced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sensors, communication protocols, and </a:t>
            </a:r>
            <a:r>
              <a:rPr lang="en-GB" sz="2400" dirty="0">
                <a:latin typeface="Times New Roman" panose="02020603050405020304" pitchFamily="18" charset="0"/>
                <a:ea typeface="Calibri" panose="020F0502020204030204" pitchFamily="34" charset="0"/>
                <a:cs typeface="Times New Roman" panose="02020603050405020304" pitchFamily="18" charset="0"/>
              </a:rPr>
              <a:t>power electronic systems to measure various weather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parameters.</a:t>
            </a:r>
          </a:p>
          <a:p>
            <a:pPr marL="342900" indent="-342900" algn="just">
              <a:lnSpc>
                <a:spcPct val="150000"/>
              </a:lnSpc>
              <a:buFont typeface="Wingdings" panose="05000000000000000000" pitchFamily="2" charset="2"/>
              <a:buChar char="v"/>
            </a:pPr>
            <a:r>
              <a:rPr lang="en-GB" sz="2400" dirty="0">
                <a:latin typeface="Times New Roman" panose="02020603050405020304" pitchFamily="18" charset="0"/>
                <a:ea typeface="Calibri" panose="020F0502020204030204" pitchFamily="34" charset="0"/>
                <a:cs typeface="Times New Roman" panose="02020603050405020304" pitchFamily="18" charset="0"/>
              </a:rPr>
              <a:t>P</a:t>
            </a:r>
            <a:r>
              <a:rPr lang="en-GB" sz="2400" dirty="0" smtClean="0">
                <a:latin typeface="Times New Roman" panose="02020603050405020304" pitchFamily="18" charset="0"/>
                <a:ea typeface="Times New Roman" panose="02020603050405020304" pitchFamily="18" charset="0"/>
                <a:cs typeface="Times New Roman" panose="02020603050405020304" pitchFamily="18" charset="0"/>
              </a:rPr>
              <a:t>roposed </a:t>
            </a:r>
            <a:r>
              <a:rPr lang="en-GB" sz="2400" dirty="0">
                <a:latin typeface="Times New Roman" panose="02020603050405020304" pitchFamily="18" charset="0"/>
                <a:ea typeface="Times New Roman" panose="02020603050405020304" pitchFamily="18" charset="0"/>
                <a:cs typeface="Times New Roman" panose="02020603050405020304" pitchFamily="18" charset="0"/>
              </a:rPr>
              <a:t>design </a:t>
            </a:r>
            <a:r>
              <a:rPr lang="en-GB" sz="2400" dirty="0" smtClean="0">
                <a:latin typeface="Times New Roman" panose="02020603050405020304" pitchFamily="18" charset="0"/>
                <a:ea typeface="Times New Roman" panose="02020603050405020304" pitchFamily="18" charset="0"/>
                <a:cs typeface="Times New Roman" panose="02020603050405020304" pitchFamily="18" charset="0"/>
              </a:rPr>
              <a:t>strategies for AWS include:</a:t>
            </a:r>
            <a:endParaRPr lang="en-US" sz="2400" dirty="0">
              <a:latin typeface="Times New Roman" panose="02020603050405020304" pitchFamily="18" charset="0"/>
              <a:cs typeface="Times New Roman" panose="02020603050405020304" pitchFamily="18" charset="0"/>
            </a:endParaRPr>
          </a:p>
        </p:txBody>
      </p:sp>
      <p:sp>
        <p:nvSpPr>
          <p:cNvPr id="18" name="Rectangle 17"/>
          <p:cNvSpPr/>
          <p:nvPr/>
        </p:nvSpPr>
        <p:spPr>
          <a:xfrm>
            <a:off x="8406870" y="6395276"/>
            <a:ext cx="2705421" cy="369332"/>
          </a:xfrm>
          <a:prstGeom prst="rect">
            <a:avLst/>
          </a:prstGeom>
        </p:spPr>
        <p:txBody>
          <a:bodyPr wrap="none">
            <a:spAutoFit/>
          </a:bodyPr>
          <a:lstStyle/>
          <a:p>
            <a:r>
              <a:rPr lang="en-GB" dirty="0">
                <a:latin typeface="Times New Roman" panose="02020603050405020304" pitchFamily="18" charset="0"/>
                <a:ea typeface="Calibri" panose="020F0502020204030204" pitchFamily="34" charset="0"/>
                <a:cs typeface="Times New Roman" panose="02020603050405020304" pitchFamily="18" charset="0"/>
              </a:rPr>
              <a:t>Figure 1</a:t>
            </a:r>
            <a:r>
              <a:rPr lang="en-GB" dirty="0" smtClean="0">
                <a:latin typeface="Times New Roman" panose="02020603050405020304" pitchFamily="18" charset="0"/>
                <a:ea typeface="Calibri" panose="020F0502020204030204" pitchFamily="34"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AWS Subsystems</a:t>
            </a:r>
            <a:endParaRPr lang="en-US" dirty="0">
              <a:latin typeface="Times New Roman" panose="02020603050405020304" pitchFamily="18" charset="0"/>
              <a:cs typeface="Times New Roman" panose="02020603050405020304" pitchFamily="18" charset="0"/>
            </a:endParaRPr>
          </a:p>
        </p:txBody>
      </p:sp>
      <p:grpSp>
        <p:nvGrpSpPr>
          <p:cNvPr id="6" name="Group 5"/>
          <p:cNvGrpSpPr/>
          <p:nvPr/>
        </p:nvGrpSpPr>
        <p:grpSpPr>
          <a:xfrm>
            <a:off x="2292358" y="4675737"/>
            <a:ext cx="8099417" cy="2088871"/>
            <a:chOff x="2292358" y="4675737"/>
            <a:chExt cx="8099417" cy="2088871"/>
          </a:xfrm>
        </p:grpSpPr>
        <p:grpSp>
          <p:nvGrpSpPr>
            <p:cNvPr id="2" name="Group 1"/>
            <p:cNvGrpSpPr/>
            <p:nvPr/>
          </p:nvGrpSpPr>
          <p:grpSpPr>
            <a:xfrm>
              <a:off x="2292358" y="4675737"/>
              <a:ext cx="8099417" cy="2088871"/>
              <a:chOff x="2320933" y="4219574"/>
              <a:chExt cx="8420105" cy="2500499"/>
            </a:xfrm>
          </p:grpSpPr>
          <p:sp>
            <p:nvSpPr>
              <p:cNvPr id="3" name="Rounded Rectangle 2"/>
              <p:cNvSpPr/>
              <p:nvPr/>
            </p:nvSpPr>
            <p:spPr>
              <a:xfrm>
                <a:off x="2320933" y="4219575"/>
                <a:ext cx="1809750" cy="74294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latin typeface="Times New Roman" panose="02020603050405020304" pitchFamily="18" charset="0"/>
                    <a:cs typeface="Times New Roman" panose="02020603050405020304" pitchFamily="18" charset="0"/>
                  </a:rPr>
                  <a:t>Sensor Subsystem</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0" name="Rounded Rectangle 9"/>
              <p:cNvSpPr/>
              <p:nvPr/>
            </p:nvSpPr>
            <p:spPr>
              <a:xfrm>
                <a:off x="5297498" y="4219574"/>
                <a:ext cx="1809750" cy="71437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latin typeface="Times New Roman" panose="02020603050405020304" pitchFamily="18" charset="0"/>
                    <a:cs typeface="Times New Roman" panose="02020603050405020304" pitchFamily="18" charset="0"/>
                  </a:rPr>
                  <a:t>Power Subsystem</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1" name="Rounded Rectangle 10"/>
              <p:cNvSpPr/>
              <p:nvPr/>
            </p:nvSpPr>
            <p:spPr>
              <a:xfrm>
                <a:off x="8274063" y="4219574"/>
                <a:ext cx="1809750" cy="73342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tx1"/>
                    </a:solidFill>
                    <a:latin typeface="Times New Roman" panose="02020603050405020304" pitchFamily="18" charset="0"/>
                    <a:cs typeface="Times New Roman" panose="02020603050405020304" pitchFamily="18" charset="0"/>
                  </a:rPr>
                  <a:t>Communication Subsystem</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2" name="Rounded Rectangle 11"/>
              <p:cNvSpPr/>
              <p:nvPr/>
            </p:nvSpPr>
            <p:spPr>
              <a:xfrm>
                <a:off x="2494400" y="5075884"/>
                <a:ext cx="1410199" cy="622301"/>
              </a:xfrm>
              <a:prstGeom prst="round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bg1"/>
                    </a:solidFill>
                    <a:latin typeface="Times New Roman" panose="02020603050405020304" pitchFamily="18" charset="0"/>
                    <a:cs typeface="Times New Roman" panose="02020603050405020304" pitchFamily="18" charset="0"/>
                  </a:rPr>
                  <a:t>Sensor Nodes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4" name="Rounded Rectangle 13"/>
              <p:cNvSpPr/>
              <p:nvPr/>
            </p:nvSpPr>
            <p:spPr>
              <a:xfrm>
                <a:off x="5497273" y="5006974"/>
                <a:ext cx="1410199" cy="62230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bg1"/>
                    </a:solidFill>
                    <a:latin typeface="Times New Roman" panose="02020603050405020304" pitchFamily="18" charset="0"/>
                    <a:cs typeface="Times New Roman" panose="02020603050405020304" pitchFamily="18" charset="0"/>
                  </a:rPr>
                  <a:t>Converters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5" name="Rounded Rectangle 14"/>
              <p:cNvSpPr/>
              <p:nvPr/>
            </p:nvSpPr>
            <p:spPr>
              <a:xfrm>
                <a:off x="4592398" y="5482755"/>
                <a:ext cx="1410199" cy="622301"/>
              </a:xfrm>
              <a:prstGeom prst="round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bg1"/>
                    </a:solidFill>
                    <a:latin typeface="Times New Roman" panose="02020603050405020304" pitchFamily="18" charset="0"/>
                    <a:cs typeface="Times New Roman" panose="02020603050405020304" pitchFamily="18" charset="0"/>
                  </a:rPr>
                  <a:t>Battery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5697050" y="5951099"/>
                <a:ext cx="1410199" cy="768974"/>
              </a:xfrm>
              <a:prstGeom prst="round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bg1"/>
                    </a:solidFill>
                    <a:latin typeface="Times New Roman" panose="02020603050405020304" pitchFamily="18" charset="0"/>
                    <a:cs typeface="Times New Roman" panose="02020603050405020304" pitchFamily="18" charset="0"/>
                  </a:rPr>
                  <a:t>Battery Charger</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7" name="Rounded Rectangle 16"/>
              <p:cNvSpPr/>
              <p:nvPr/>
            </p:nvSpPr>
            <p:spPr>
              <a:xfrm>
                <a:off x="7915876" y="5018322"/>
                <a:ext cx="2825162" cy="622301"/>
              </a:xfrm>
              <a:prstGeom prst="round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chemeClr val="bg1"/>
                    </a:solidFill>
                    <a:latin typeface="Times New Roman" panose="02020603050405020304" pitchFamily="18" charset="0"/>
                    <a:cs typeface="Times New Roman" panose="02020603050405020304" pitchFamily="18" charset="0"/>
                  </a:rPr>
                  <a:t>GSM, LoRa, WiFi, &amp; BLE</a:t>
                </a:r>
                <a:endParaRPr lang="en-US" dirty="0">
                  <a:solidFill>
                    <a:schemeClr val="bg1"/>
                  </a:solidFill>
                  <a:latin typeface="Times New Roman" panose="02020603050405020304" pitchFamily="18" charset="0"/>
                  <a:cs typeface="Times New Roman" panose="02020603050405020304" pitchFamily="18" charset="0"/>
                </a:endParaRPr>
              </a:p>
            </p:txBody>
          </p:sp>
        </p:grpSp>
        <p:sp>
          <p:nvSpPr>
            <p:cNvPr id="4" name="Right Arrow 3"/>
            <p:cNvSpPr/>
            <p:nvPr/>
          </p:nvSpPr>
          <p:spPr>
            <a:xfrm>
              <a:off x="4452893" y="4858422"/>
              <a:ext cx="350757" cy="285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flipH="1">
              <a:off x="7257282" y="4858422"/>
              <a:ext cx="350757" cy="285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Slide Number Placeholder 19"/>
          <p:cNvSpPr>
            <a:spLocks noGrp="1"/>
          </p:cNvSpPr>
          <p:nvPr>
            <p:ph type="sldNum" sz="quarter" idx="12"/>
          </p:nvPr>
        </p:nvSpPr>
        <p:spPr/>
        <p:txBody>
          <a:bodyPr/>
          <a:lstStyle/>
          <a:p>
            <a:fld id="{9B87FC41-F35B-458E-AD48-D36E6575979E}" type="slidenum">
              <a:rPr lang="en-US" smtClean="0"/>
              <a:t>2</a:t>
            </a:fld>
            <a:endParaRPr lang="en-US" dirty="0"/>
          </a:p>
        </p:txBody>
      </p:sp>
    </p:spTree>
    <p:extLst>
      <p:ext uri="{BB962C8B-B14F-4D97-AF65-F5344CB8AC3E}">
        <p14:creationId xmlns:p14="http://schemas.microsoft.com/office/powerpoint/2010/main" val="7625219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6DA90C-D6AB-F1B8-7AAC-D696C8EE29FE}"/>
            </a:ext>
          </a:extLst>
        </p:cNvPr>
        <p:cNvGrpSpPr/>
        <p:nvPr/>
      </p:nvGrpSpPr>
      <p:grpSpPr>
        <a:xfrm>
          <a:off x="0" y="0"/>
          <a:ext cx="0" cy="0"/>
          <a:chOff x="0" y="0"/>
          <a:chExt cx="0" cy="0"/>
        </a:xfrm>
      </p:grpSpPr>
      <p:sp>
        <p:nvSpPr>
          <p:cNvPr id="5" name="Rectangle 4"/>
          <p:cNvSpPr/>
          <p:nvPr/>
        </p:nvSpPr>
        <p:spPr>
          <a:xfrm>
            <a:off x="370024" y="719044"/>
            <a:ext cx="11350488" cy="3159839"/>
          </a:xfrm>
          <a:prstGeom prst="rect">
            <a:avLst/>
          </a:prstGeom>
        </p:spPr>
        <p:txBody>
          <a:bodyPr wrap="square">
            <a:spAutoFit/>
          </a:bodyPr>
          <a:lstStyle/>
          <a:p>
            <a:pPr marL="0" lvl="2" algn="ctr">
              <a:lnSpc>
                <a:spcPct val="150000"/>
              </a:lnSpc>
              <a:spcBef>
                <a:spcPts val="200"/>
              </a:spcBef>
              <a:spcAft>
                <a:spcPts val="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Adaptability</a:t>
            </a:r>
          </a:p>
          <a:p>
            <a:pPr marL="342900" indent="-342900" algn="just">
              <a:lnSpc>
                <a:spcPct val="150000"/>
              </a:lnSpc>
              <a:spcAft>
                <a:spcPts val="800"/>
              </a:spcAft>
              <a:buFont typeface="Wingdings" panose="05000000000000000000" pitchFamily="2" charset="2"/>
              <a:buChar char="v"/>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Adaptability </a:t>
            </a:r>
            <a:r>
              <a:rPr lang="en-US" sz="2000" dirty="0">
                <a:latin typeface="Times New Roman" panose="02020603050405020304" pitchFamily="18" charset="0"/>
                <a:ea typeface="Calibri" panose="020F0502020204030204" pitchFamily="34" charset="0"/>
                <a:cs typeface="Times New Roman" panose="02020603050405020304" pitchFamily="18" charset="0"/>
              </a:rPr>
              <a:t>in power electronics refers to automatic adjustment of control parameters and operational modes in response to changing conditions (e.g. input variation, load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shift</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smtClean="0">
                <a:latin typeface="Times New Roman" panose="02020603050405020304" pitchFamily="18" charset="0"/>
                <a:ea typeface="Calibri" panose="020F0502020204030204" pitchFamily="34" charset="0"/>
                <a:cs typeface="Times New Roman" panose="02020603050405020304" pitchFamily="18" charset="0"/>
              </a:rPr>
              <a:t>e.t.c</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Wingdings" panose="05000000000000000000" pitchFamily="2" charset="2"/>
              <a:buChar char="v"/>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Adaptive </a:t>
            </a:r>
            <a:r>
              <a:rPr lang="en-US" sz="2000" dirty="0">
                <a:latin typeface="Times New Roman" panose="02020603050405020304" pitchFamily="18" charset="0"/>
                <a:ea typeface="Calibri" panose="020F0502020204030204" pitchFamily="34" charset="0"/>
                <a:cs typeface="Times New Roman" panose="02020603050405020304" pitchFamily="18" charset="0"/>
              </a:rPr>
              <a:t>controllers such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as; (</a:t>
            </a:r>
            <a:r>
              <a:rPr lang="en-US" sz="2000" dirty="0" err="1" smtClean="0">
                <a:latin typeface="Times New Roman" panose="02020603050405020304" pitchFamily="18" charset="0"/>
                <a:ea typeface="Calibri" panose="020F0502020204030204" pitchFamily="34" charset="0"/>
                <a:cs typeface="Times New Roman" panose="02020603050405020304" pitchFamily="18" charset="0"/>
              </a:rPr>
              <a:t>Pallo</a:t>
            </a:r>
            <a:r>
              <a:rPr lang="en-US" sz="2000" dirty="0">
                <a:latin typeface="Times New Roman" panose="02020603050405020304" pitchFamily="18" charset="0"/>
                <a:ea typeface="Calibri" panose="020F0502020204030204" pitchFamily="34" charset="0"/>
                <a:cs typeface="Times New Roman" panose="02020603050405020304" pitchFamily="18" charset="0"/>
              </a:rPr>
              <a:t>, Bonfiglio, &amp; Procopio, 2020; Savadkoohi, Karami, &amp; Shojaci, 2024</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gn="just">
              <a:lnSpc>
                <a:spcPct val="150000"/>
              </a:lnSpc>
              <a:spcAft>
                <a:spcPts val="800"/>
              </a:spcAft>
              <a:buFont typeface="Wingdings" panose="05000000000000000000" pitchFamily="2" charset="2"/>
              <a:buChar char="v"/>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Model-free </a:t>
            </a:r>
            <a:r>
              <a:rPr lang="en-US" sz="2000" dirty="0">
                <a:latin typeface="Times New Roman" panose="02020603050405020304" pitchFamily="18" charset="0"/>
                <a:ea typeface="Calibri" panose="020F0502020204030204" pitchFamily="34" charset="0"/>
                <a:cs typeface="Times New Roman" panose="02020603050405020304" pitchFamily="18" charset="0"/>
              </a:rPr>
              <a:t>adaptive control (MFAC)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which are </a:t>
            </a:r>
            <a:r>
              <a:rPr lang="en-US" sz="2000" dirty="0">
                <a:latin typeface="Times New Roman" panose="02020603050405020304" pitchFamily="18" charset="0"/>
                <a:ea typeface="Calibri" panose="020F0502020204030204" pitchFamily="34" charset="0"/>
                <a:cs typeface="Times New Roman" panose="02020603050405020304" pitchFamily="18" charset="0"/>
              </a:rPr>
              <a:t>event-triggered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reduce </a:t>
            </a:r>
            <a:r>
              <a:rPr lang="en-US" sz="2000" dirty="0">
                <a:latin typeface="Times New Roman" panose="02020603050405020304" pitchFamily="18" charset="0"/>
                <a:ea typeface="Calibri" panose="020F0502020204030204" pitchFamily="34" charset="0"/>
                <a:cs typeface="Times New Roman" panose="02020603050405020304" pitchFamily="18" charset="0"/>
              </a:rPr>
              <a:t>computational burden and switching losses</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smtClean="0">
                <a:latin typeface="Times New Roman" panose="02020603050405020304" pitchFamily="18" charset="0"/>
                <a:ea typeface="Calibri" panose="020F0502020204030204" pitchFamily="34" charset="0"/>
                <a:cs typeface="Times New Roman" panose="02020603050405020304" pitchFamily="18" charset="0"/>
              </a:rPr>
              <a:t>Have been </a:t>
            </a:r>
            <a:r>
              <a:rPr lang="en-GB" dirty="0" smtClean="0">
                <a:latin typeface="Times New Roman" panose="02020603050405020304" pitchFamily="18" charset="0"/>
                <a:ea typeface="Calibri" panose="020F0502020204030204" pitchFamily="34" charset="0"/>
                <a:cs typeface="Times New Roman" panose="02020603050405020304" pitchFamily="18" charset="0"/>
              </a:rPr>
              <a:t>suggested </a:t>
            </a:r>
            <a:r>
              <a:rPr lang="en-US" dirty="0" smtClean="0">
                <a:latin typeface="Times New Roman" panose="02020603050405020304" pitchFamily="18" charset="0"/>
                <a:ea typeface="Calibri" panose="020F0502020204030204" pitchFamily="34" charset="0"/>
                <a:cs typeface="Times New Roman" panose="02020603050405020304" pitchFamily="18" charset="0"/>
              </a:rPr>
              <a:t>(Fang </a:t>
            </a:r>
            <a:r>
              <a:rPr lang="en-US" dirty="0">
                <a:latin typeface="Times New Roman" panose="02020603050405020304" pitchFamily="18" charset="0"/>
                <a:ea typeface="Calibri" panose="020F0502020204030204" pitchFamily="34" charset="0"/>
                <a:cs typeface="Times New Roman" panose="02020603050405020304" pitchFamily="18" charset="0"/>
              </a:rPr>
              <a:t>et al., 2024) </a:t>
            </a:r>
          </a:p>
        </p:txBody>
      </p:sp>
      <p:sp>
        <p:nvSpPr>
          <p:cNvPr id="7" name="TextBox 6">
            <a:extLst>
              <a:ext uri="{FF2B5EF4-FFF2-40B4-BE49-F238E27FC236}">
                <a16:creationId xmlns="" xmlns:a16="http://schemas.microsoft.com/office/drawing/2014/main" id="{11002E01-5117-1C60-5F97-229C4879EB6D}"/>
              </a:ext>
            </a:extLst>
          </p:cNvPr>
          <p:cNvSpPr txBox="1"/>
          <p:nvPr/>
        </p:nvSpPr>
        <p:spPr>
          <a:xfrm>
            <a:off x="4763409" y="0"/>
            <a:ext cx="2712803"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Background</a:t>
            </a:r>
          </a:p>
        </p:txBody>
      </p:sp>
      <p:sp>
        <p:nvSpPr>
          <p:cNvPr id="12" name="Rectangle 11"/>
          <p:cNvSpPr/>
          <p:nvPr/>
        </p:nvSpPr>
        <p:spPr>
          <a:xfrm>
            <a:off x="703399" y="4531711"/>
            <a:ext cx="11017113" cy="1472391"/>
          </a:xfrm>
          <a:prstGeom prst="rect">
            <a:avLst/>
          </a:prstGeom>
        </p:spPr>
        <p:txBody>
          <a:bodyPr wrap="square">
            <a:spAutoFit/>
          </a:bodyPr>
          <a:lstStyle/>
          <a:p>
            <a:pPr marL="0" lvl="2" algn="ctr">
              <a:lnSpc>
                <a:spcPct val="107000"/>
              </a:lnSpc>
              <a:spcBef>
                <a:spcPts val="200"/>
              </a:spcBef>
              <a:spcAft>
                <a:spcPts val="12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Micro Energy Harvesting, Storage &amp; Adaptive Management</a:t>
            </a:r>
          </a:p>
          <a:p>
            <a:pPr marL="285750" indent="-285750">
              <a:lnSpc>
                <a:spcPct val="150000"/>
              </a:lnSpc>
              <a:buFont typeface="Wingdings" panose="05000000000000000000" pitchFamily="2" charset="2"/>
              <a:buChar char="v"/>
            </a:pPr>
            <a:r>
              <a:rPr lang="en-US" dirty="0" smtClean="0">
                <a:latin typeface="Times New Roman" panose="02020603050405020304" pitchFamily="18" charset="0"/>
                <a:ea typeface="Calibri" panose="020F0502020204030204" pitchFamily="34" charset="0"/>
                <a:cs typeface="Times New Roman" panose="02020603050405020304" pitchFamily="18" charset="0"/>
              </a:rPr>
              <a:t>In </a:t>
            </a:r>
            <a:r>
              <a:rPr lang="en-US" dirty="0">
                <a:latin typeface="Times New Roman" panose="02020603050405020304" pitchFamily="18" charset="0"/>
                <a:ea typeface="Calibri" panose="020F0502020204030204" pitchFamily="34" charset="0"/>
                <a:cs typeface="Times New Roman" panose="02020603050405020304" pitchFamily="18" charset="0"/>
              </a:rPr>
              <a:t>IoT or micro-power applications, power management circuits must dynamically switch modes (e.g. sleep, active, boost) and adapt to harvested energy availability (Sarker et al., 2024). </a:t>
            </a:r>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B87FC41-F35B-458E-AD48-D36E6575979E}" type="slidenum">
              <a:rPr lang="en-US" smtClean="0"/>
              <a:t>3</a:t>
            </a:fld>
            <a:endParaRPr lang="en-US" dirty="0"/>
          </a:p>
        </p:txBody>
      </p:sp>
    </p:spTree>
    <p:extLst>
      <p:ext uri="{BB962C8B-B14F-4D97-AF65-F5344CB8AC3E}">
        <p14:creationId xmlns:p14="http://schemas.microsoft.com/office/powerpoint/2010/main" val="38427163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6DA90C-D6AB-F1B8-7AAC-D696C8EE29FE}"/>
            </a:ext>
          </a:extLst>
        </p:cNvPr>
        <p:cNvGrpSpPr/>
        <p:nvPr/>
      </p:nvGrpSpPr>
      <p:grpSpPr>
        <a:xfrm>
          <a:off x="0" y="0"/>
          <a:ext cx="0" cy="0"/>
          <a:chOff x="0" y="0"/>
          <a:chExt cx="0" cy="0"/>
        </a:xfrm>
      </p:grpSpPr>
      <p:sp>
        <p:nvSpPr>
          <p:cNvPr id="5" name="Rectangle 4"/>
          <p:cNvSpPr/>
          <p:nvPr/>
        </p:nvSpPr>
        <p:spPr>
          <a:xfrm>
            <a:off x="592868" y="713143"/>
            <a:ext cx="10267950" cy="2318583"/>
          </a:xfrm>
          <a:prstGeom prst="rect">
            <a:avLst/>
          </a:prstGeom>
        </p:spPr>
        <p:txBody>
          <a:bodyPr wrap="square">
            <a:spAutoFit/>
          </a:bodyPr>
          <a:lstStyle/>
          <a:p>
            <a:pPr marL="0" lvl="2" algn="ctr">
              <a:lnSpc>
                <a:spcPct val="150000"/>
              </a:lnSpc>
              <a:spcBef>
                <a:spcPts val="200"/>
              </a:spcBef>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Modularity &amp; Adaptability</a:t>
            </a:r>
          </a:p>
          <a:p>
            <a:pPr marL="285750" indent="-285750" algn="just">
              <a:lnSpc>
                <a:spcPct val="150000"/>
              </a:lnSpc>
              <a:spcAft>
                <a:spcPts val="800"/>
              </a:spcAft>
              <a:buFont typeface="Wingdings" panose="05000000000000000000" pitchFamily="2" charset="2"/>
              <a:buChar char="q"/>
            </a:pPr>
            <a:r>
              <a:rPr lang="en-US" dirty="0" smtClean="0">
                <a:latin typeface="Times New Roman" panose="02020603050405020304" pitchFamily="18" charset="0"/>
                <a:ea typeface="Calibri" panose="020F0502020204030204" pitchFamily="34" charset="0"/>
                <a:cs typeface="Times New Roman" panose="02020603050405020304" pitchFamily="18" charset="0"/>
              </a:rPr>
              <a:t>Adaptive </a:t>
            </a:r>
            <a:r>
              <a:rPr lang="en-US" dirty="0">
                <a:latin typeface="Times New Roman" panose="02020603050405020304" pitchFamily="18" charset="0"/>
                <a:ea typeface="Calibri" panose="020F0502020204030204" pitchFamily="34" charset="0"/>
                <a:cs typeface="Times New Roman" panose="02020603050405020304" pitchFamily="18" charset="0"/>
              </a:rPr>
              <a:t>control ensures stable and efficient operation under varying loads, fault conditions and environmental </a:t>
            </a:r>
            <a:r>
              <a:rPr lang="en-US" dirty="0" smtClean="0">
                <a:latin typeface="Times New Roman" panose="02020603050405020304" pitchFamily="18" charset="0"/>
                <a:ea typeface="Calibri" panose="020F0502020204030204" pitchFamily="34" charset="0"/>
                <a:cs typeface="Times New Roman" panose="02020603050405020304" pitchFamily="18" charset="0"/>
              </a:rPr>
              <a:t>changes.</a:t>
            </a:r>
          </a:p>
          <a:p>
            <a:pPr marL="285750" indent="-285750" algn="just">
              <a:lnSpc>
                <a:spcPct val="150000"/>
              </a:lnSpc>
              <a:spcAft>
                <a:spcPts val="800"/>
              </a:spcAft>
              <a:buFont typeface="Wingdings" panose="05000000000000000000" pitchFamily="2" charset="2"/>
              <a:buChar char="q"/>
            </a:pPr>
            <a:r>
              <a:rPr lang="en-US" dirty="0" smtClean="0">
                <a:latin typeface="Times New Roman" panose="02020603050405020304" pitchFamily="18" charset="0"/>
                <a:ea typeface="Calibri" panose="020F0502020204030204" pitchFamily="34" charset="0"/>
                <a:cs typeface="Times New Roman" panose="02020603050405020304" pitchFamily="18" charset="0"/>
              </a:rPr>
              <a:t>Modular</a:t>
            </a:r>
            <a:r>
              <a:rPr lang="en-US" dirty="0">
                <a:latin typeface="Times New Roman" panose="02020603050405020304" pitchFamily="18" charset="0"/>
                <a:ea typeface="Calibri" panose="020F0502020204030204" pitchFamily="34" charset="0"/>
                <a:cs typeface="Times New Roman" panose="02020603050405020304" pitchFamily="18" charset="0"/>
              </a:rPr>
              <a:t>, adaptive converters simplify deployment, support interoperability, and enhance resilience against supply intermittency (Kramer &amp; Chakraborty, 2009</a:t>
            </a:r>
            <a:r>
              <a:rPr lang="en-US"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 xmlns:a16="http://schemas.microsoft.com/office/drawing/2014/main" id="{11002E01-5117-1C60-5F97-229C4879EB6D}"/>
              </a:ext>
            </a:extLst>
          </p:cNvPr>
          <p:cNvSpPr txBox="1"/>
          <p:nvPr/>
        </p:nvSpPr>
        <p:spPr>
          <a:xfrm>
            <a:off x="4763409" y="0"/>
            <a:ext cx="2712803"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Background</a:t>
            </a:r>
          </a:p>
        </p:txBody>
      </p:sp>
      <p:sp>
        <p:nvSpPr>
          <p:cNvPr id="12" name="Rectangle 11"/>
          <p:cNvSpPr/>
          <p:nvPr/>
        </p:nvSpPr>
        <p:spPr>
          <a:xfrm>
            <a:off x="504825" y="3303469"/>
            <a:ext cx="10355993" cy="3057247"/>
          </a:xfrm>
          <a:prstGeom prst="rect">
            <a:avLst/>
          </a:prstGeom>
        </p:spPr>
        <p:txBody>
          <a:bodyPr wrap="square">
            <a:spAutoFit/>
          </a:bodyPr>
          <a:lstStyle/>
          <a:p>
            <a:pPr marL="0" lvl="1" algn="ctr">
              <a:lnSpc>
                <a:spcPct val="150000"/>
              </a:lnSpc>
              <a:spcBef>
                <a:spcPts val="200"/>
              </a:spcBef>
              <a:spcAft>
                <a:spcPts val="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Hybrid communication and Protocol switching</a:t>
            </a:r>
          </a:p>
          <a:p>
            <a:pPr marL="342900" indent="-342900" algn="just">
              <a:lnSpc>
                <a:spcPct val="150000"/>
              </a:lnSpc>
              <a:spcAft>
                <a:spcPts val="800"/>
              </a:spcAft>
              <a:buFont typeface="Wingdings" panose="05000000000000000000" pitchFamily="2" charset="2"/>
              <a:buChar char="q"/>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The </a:t>
            </a:r>
            <a:r>
              <a:rPr lang="en-US" sz="2000" dirty="0">
                <a:latin typeface="Times New Roman" panose="02020603050405020304" pitchFamily="18" charset="0"/>
                <a:ea typeface="Calibri" panose="020F0502020204030204" pitchFamily="34" charset="0"/>
                <a:cs typeface="Times New Roman" panose="02020603050405020304" pitchFamily="18" charset="0"/>
              </a:rPr>
              <a:t>system will be able to dynamically switch among the programmed communication modes such as, LoRa, GSM, and WiFi depending on signal strength, power availability, data urgency, or data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type/formats.</a:t>
            </a:r>
          </a:p>
          <a:p>
            <a:pPr marL="342900" indent="-342900" algn="just">
              <a:lnSpc>
                <a:spcPct val="150000"/>
              </a:lnSpc>
              <a:spcAft>
                <a:spcPts val="800"/>
              </a:spcAft>
              <a:buFont typeface="Wingdings" panose="05000000000000000000" pitchFamily="2" charset="2"/>
              <a:buChar char="q"/>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This </a:t>
            </a:r>
            <a:r>
              <a:rPr lang="en-US" sz="2000" dirty="0">
                <a:latin typeface="Times New Roman" panose="02020603050405020304" pitchFamily="18" charset="0"/>
                <a:ea typeface="Calibri" panose="020F0502020204030204" pitchFamily="34" charset="0"/>
                <a:cs typeface="Times New Roman" panose="02020603050405020304" pitchFamily="18" charset="0"/>
              </a:rPr>
              <a:t>proposal will integrate modularity, adaptability to design an AWS system with hybrid communication and fault tolerance mechanisms.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B87FC41-F35B-458E-AD48-D36E6575979E}" type="slidenum">
              <a:rPr lang="en-US" smtClean="0"/>
              <a:t>4</a:t>
            </a:fld>
            <a:endParaRPr lang="en-US" dirty="0"/>
          </a:p>
        </p:txBody>
      </p:sp>
    </p:spTree>
    <p:extLst>
      <p:ext uri="{BB962C8B-B14F-4D97-AF65-F5344CB8AC3E}">
        <p14:creationId xmlns:p14="http://schemas.microsoft.com/office/powerpoint/2010/main" val="13052672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6DA90C-D6AB-F1B8-7AAC-D696C8EE29FE}"/>
            </a:ext>
          </a:extLst>
        </p:cNvPr>
        <p:cNvGrpSpPr/>
        <p:nvPr/>
      </p:nvGrpSpPr>
      <p:grpSpPr>
        <a:xfrm>
          <a:off x="0" y="0"/>
          <a:ext cx="0" cy="0"/>
          <a:chOff x="0" y="0"/>
          <a:chExt cx="0" cy="0"/>
        </a:xfrm>
      </p:grpSpPr>
      <p:sp>
        <p:nvSpPr>
          <p:cNvPr id="2" name="Rectangle 1"/>
          <p:cNvSpPr/>
          <p:nvPr/>
        </p:nvSpPr>
        <p:spPr>
          <a:xfrm>
            <a:off x="1009646" y="724465"/>
            <a:ext cx="10220327" cy="4914166"/>
          </a:xfrm>
          <a:prstGeom prst="rect">
            <a:avLst/>
          </a:prstGeom>
        </p:spPr>
        <p:txBody>
          <a:bodyPr wrap="square">
            <a:spAutoFit/>
          </a:bodyPr>
          <a:lstStyle/>
          <a:p>
            <a:pPr marL="0" lvl="1" algn="ctr">
              <a:lnSpc>
                <a:spcPct val="150000"/>
              </a:lnSpc>
              <a:spcBef>
                <a:spcPts val="1200"/>
              </a:spcBef>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Research Gaps and Opportunities</a:t>
            </a:r>
          </a:p>
          <a:p>
            <a:pPr marL="342900" indent="-342900" algn="just">
              <a:lnSpc>
                <a:spcPct val="150000"/>
              </a:lnSpc>
              <a:spcBef>
                <a:spcPts val="1200"/>
              </a:spcBef>
              <a:spcAft>
                <a:spcPts val="800"/>
              </a:spcAft>
              <a:buFont typeface="Wingdings" panose="05000000000000000000" pitchFamily="2" charset="2"/>
              <a:buChar char="v"/>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Limited research in Lightweight</a:t>
            </a:r>
            <a:r>
              <a:rPr lang="en-US" sz="2000" dirty="0">
                <a:latin typeface="Times New Roman" panose="02020603050405020304" pitchFamily="18" charset="0"/>
                <a:ea typeface="Calibri" panose="020F0502020204030204" pitchFamily="34" charset="0"/>
                <a:cs typeface="Times New Roman" panose="02020603050405020304" pitchFamily="18" charset="0"/>
              </a:rPr>
              <a:t>, event triggered, model free adaptive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algorithm controllers </a:t>
            </a:r>
            <a:r>
              <a:rPr lang="en-US" sz="2000" dirty="0">
                <a:latin typeface="Times New Roman" panose="02020603050405020304" pitchFamily="18" charset="0"/>
                <a:ea typeface="Calibri" panose="020F0502020204030204" pitchFamily="34" charset="0"/>
                <a:cs typeface="Times New Roman" panose="02020603050405020304" pitchFamily="18" charset="0"/>
              </a:rPr>
              <a:t>optimized for low power embedded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hardware and </a:t>
            </a:r>
            <a:r>
              <a:rPr lang="en-US" sz="2000" dirty="0">
                <a:latin typeface="Times New Roman" panose="02020603050405020304" pitchFamily="18" charset="0"/>
                <a:ea typeface="Calibri" panose="020F0502020204030204" pitchFamily="34" charset="0"/>
                <a:cs typeface="Times New Roman" panose="02020603050405020304" pitchFamily="18" charset="0"/>
              </a:rPr>
              <a:t>resource constrained systems(Fang et al., 2024</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gn="just">
              <a:lnSpc>
                <a:spcPct val="150000"/>
              </a:lnSpc>
              <a:spcBef>
                <a:spcPts val="1200"/>
              </a:spcBef>
              <a:spcAft>
                <a:spcPts val="800"/>
              </a:spcAft>
              <a:buFont typeface="Wingdings" panose="05000000000000000000" pitchFamily="2" charset="2"/>
              <a:buChar char="v"/>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While </a:t>
            </a:r>
            <a:r>
              <a:rPr lang="en-US" sz="2000" dirty="0">
                <a:latin typeface="Times New Roman" panose="02020603050405020304" pitchFamily="18" charset="0"/>
                <a:ea typeface="Calibri" panose="020F0502020204030204" pitchFamily="34" charset="0"/>
                <a:cs typeface="Times New Roman" panose="02020603050405020304" pitchFamily="18" charset="0"/>
              </a:rPr>
              <a:t>modular architectures support fault isolation in high power and more complex systems, their translation to micro scale AWS hardware (with cost, size, energy constraints) is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underexplored.</a:t>
            </a:r>
          </a:p>
          <a:p>
            <a:pPr marL="342900" indent="-342900" algn="just">
              <a:lnSpc>
                <a:spcPct val="150000"/>
              </a:lnSpc>
              <a:spcBef>
                <a:spcPts val="1200"/>
              </a:spcBef>
              <a:spcAft>
                <a:spcPts val="800"/>
              </a:spcAft>
              <a:buFont typeface="Wingdings" panose="05000000000000000000" pitchFamily="2" charset="2"/>
              <a:buChar char="v"/>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An AWS System </a:t>
            </a:r>
            <a:r>
              <a:rPr lang="en-US" sz="2000" dirty="0">
                <a:latin typeface="Times New Roman" panose="02020603050405020304" pitchFamily="18" charset="0"/>
                <a:ea typeface="Calibri" panose="020F0502020204030204" pitchFamily="34" charset="0"/>
                <a:cs typeface="Times New Roman" panose="02020603050405020304" pitchFamily="18" charset="0"/>
              </a:rPr>
              <a:t>with hybrid communication protocols</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ea typeface="Calibri" panose="020F0502020204030204" pitchFamily="34" charset="0"/>
                <a:cs typeface="Times New Roman" panose="02020603050405020304" pitchFamily="18" charset="0"/>
              </a:rPr>
              <a:t>and multiple energy sources remains understudied this research aims at providing insights in this design approach</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 xmlns:a16="http://schemas.microsoft.com/office/drawing/2014/main" id="{11002E01-5117-1C60-5F97-229C4879EB6D}"/>
              </a:ext>
            </a:extLst>
          </p:cNvPr>
          <p:cNvSpPr txBox="1"/>
          <p:nvPr/>
        </p:nvSpPr>
        <p:spPr>
          <a:xfrm>
            <a:off x="4763409" y="0"/>
            <a:ext cx="2712803"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Background</a:t>
            </a:r>
          </a:p>
        </p:txBody>
      </p:sp>
      <p:sp>
        <p:nvSpPr>
          <p:cNvPr id="5" name="Slide Number Placeholder 4"/>
          <p:cNvSpPr>
            <a:spLocks noGrp="1"/>
          </p:cNvSpPr>
          <p:nvPr>
            <p:ph type="sldNum" sz="quarter" idx="12"/>
          </p:nvPr>
        </p:nvSpPr>
        <p:spPr/>
        <p:txBody>
          <a:bodyPr/>
          <a:lstStyle/>
          <a:p>
            <a:fld id="{9B87FC41-F35B-458E-AD48-D36E6575979E}" type="slidenum">
              <a:rPr lang="en-US" smtClean="0"/>
              <a:t>5</a:t>
            </a:fld>
            <a:endParaRPr lang="en-US" dirty="0"/>
          </a:p>
        </p:txBody>
      </p:sp>
    </p:spTree>
    <p:extLst>
      <p:ext uri="{BB962C8B-B14F-4D97-AF65-F5344CB8AC3E}">
        <p14:creationId xmlns:p14="http://schemas.microsoft.com/office/powerpoint/2010/main" val="22966094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03142D6-DE8C-7332-2C87-4A776B97F079}"/>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0F1E0A65-9904-E233-73B5-C1A9D03A8E4E}"/>
              </a:ext>
            </a:extLst>
          </p:cNvPr>
          <p:cNvSpPr txBox="1"/>
          <p:nvPr/>
        </p:nvSpPr>
        <p:spPr>
          <a:xfrm>
            <a:off x="4258544" y="63610"/>
            <a:ext cx="4590816"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2" name="Rectangle 1"/>
          <p:cNvSpPr/>
          <p:nvPr/>
        </p:nvSpPr>
        <p:spPr>
          <a:xfrm>
            <a:off x="666749" y="723570"/>
            <a:ext cx="10610852" cy="4708981"/>
          </a:xfrm>
          <a:prstGeom prst="rect">
            <a:avLst/>
          </a:prstGeom>
        </p:spPr>
        <p:txBody>
          <a:bodyPr wrap="square">
            <a:spAutoFit/>
          </a:bodyPr>
          <a:lstStyle/>
          <a:p>
            <a:pPr marL="342900" indent="-342900" algn="just">
              <a:lnSpc>
                <a:spcPct val="150000"/>
              </a:lnSpc>
              <a:buFont typeface="Wingdings" panose="05000000000000000000" pitchFamily="2" charset="2"/>
              <a:buChar char="q"/>
            </a:pPr>
            <a:r>
              <a:rPr lang="en-US" sz="2000" dirty="0" smtClean="0">
                <a:latin typeface="Times New Roman" panose="02020603050405020304" pitchFamily="18" charset="0"/>
                <a:ea typeface="Calibri" panose="020F0502020204030204" pitchFamily="34" charset="0"/>
              </a:rPr>
              <a:t>AWS operation </a:t>
            </a:r>
            <a:r>
              <a:rPr lang="en-US" sz="2000" dirty="0">
                <a:latin typeface="Times New Roman" panose="02020603050405020304" pitchFamily="18" charset="0"/>
                <a:ea typeface="Calibri" panose="020F0502020204030204" pitchFamily="34" charset="0"/>
              </a:rPr>
              <a:t>is mostly in off-grid and energy constrained locations, making </a:t>
            </a:r>
            <a:r>
              <a:rPr lang="en-US" sz="2000" dirty="0" smtClean="0">
                <a:latin typeface="Times New Roman" panose="02020603050405020304" pitchFamily="18" charset="0"/>
                <a:ea typeface="Calibri" panose="020F0502020204030204" pitchFamily="34" charset="0"/>
              </a:rPr>
              <a:t>intermittent renewable </a:t>
            </a:r>
            <a:r>
              <a:rPr lang="en-US" sz="2000" dirty="0">
                <a:latin typeface="Times New Roman" panose="02020603050405020304" pitchFamily="18" charset="0"/>
                <a:ea typeface="Calibri" panose="020F0502020204030204" pitchFamily="34" charset="0"/>
              </a:rPr>
              <a:t>energy resources (RER) the primary source of </a:t>
            </a:r>
            <a:r>
              <a:rPr lang="en-US" sz="2000" dirty="0" smtClean="0">
                <a:latin typeface="Times New Roman" panose="02020603050405020304" pitchFamily="18" charset="0"/>
                <a:ea typeface="Calibri" panose="020F0502020204030204" pitchFamily="34" charset="0"/>
              </a:rPr>
              <a:t>power. The current Monolithic AWS </a:t>
            </a:r>
            <a:r>
              <a:rPr lang="en-US" sz="2000" dirty="0">
                <a:latin typeface="Times New Roman" panose="02020603050405020304" pitchFamily="18" charset="0"/>
                <a:ea typeface="Calibri" panose="020F0502020204030204" pitchFamily="34" charset="0"/>
              </a:rPr>
              <a:t>system </a:t>
            </a:r>
            <a:r>
              <a:rPr lang="en-US" sz="2000" dirty="0" smtClean="0">
                <a:latin typeface="Times New Roman" panose="02020603050405020304" pitchFamily="18" charset="0"/>
                <a:ea typeface="Calibri" panose="020F0502020204030204" pitchFamily="34" charset="0"/>
              </a:rPr>
              <a:t>design is unsuitable </a:t>
            </a:r>
            <a:r>
              <a:rPr lang="en-US" sz="2000" dirty="0">
                <a:latin typeface="Times New Roman" panose="02020603050405020304" pitchFamily="18" charset="0"/>
                <a:ea typeface="Calibri" panose="020F0502020204030204" pitchFamily="34" charset="0"/>
              </a:rPr>
              <a:t>for incorporating the multiple energy </a:t>
            </a:r>
            <a:r>
              <a:rPr lang="en-US" sz="2000" dirty="0" smtClean="0">
                <a:latin typeface="Times New Roman" panose="02020603050405020304" pitchFamily="18" charset="0"/>
                <a:ea typeface="Calibri" panose="020F0502020204030204" pitchFamily="34" charset="0"/>
              </a:rPr>
              <a:t>resources, </a:t>
            </a:r>
            <a:r>
              <a:rPr lang="en-US" sz="2000" dirty="0">
                <a:latin typeface="Times New Roman" panose="02020603050405020304" pitchFamily="18" charset="0"/>
                <a:ea typeface="Calibri" panose="020F0502020204030204" pitchFamily="34" charset="0"/>
              </a:rPr>
              <a:t>and lack hybrid communication for network </a:t>
            </a:r>
            <a:r>
              <a:rPr lang="en-US" sz="2000" dirty="0" smtClean="0">
                <a:latin typeface="Times New Roman" panose="02020603050405020304" pitchFamily="18" charset="0"/>
                <a:ea typeface="Calibri" panose="020F0502020204030204" pitchFamily="34" charset="0"/>
              </a:rPr>
              <a:t>stability. Therefore, AWS systems have low </a:t>
            </a:r>
            <a:r>
              <a:rPr lang="en-US" sz="2000" dirty="0">
                <a:latin typeface="Times New Roman" panose="02020603050405020304" pitchFamily="18" charset="0"/>
                <a:ea typeface="Calibri" panose="020F0502020204030204" pitchFamily="34" charset="0"/>
              </a:rPr>
              <a:t>energy efficiency, limited </a:t>
            </a:r>
            <a:r>
              <a:rPr lang="en-US" sz="2000" dirty="0" smtClean="0">
                <a:latin typeface="Times New Roman" panose="02020603050405020304" pitchFamily="18" charset="0"/>
                <a:ea typeface="Calibri" panose="020F0502020204030204" pitchFamily="34" charset="0"/>
              </a:rPr>
              <a:t>reliability (due to frequent downtime), </a:t>
            </a:r>
            <a:r>
              <a:rPr lang="en-US" sz="2000" dirty="0">
                <a:latin typeface="Times New Roman" panose="02020603050405020304" pitchFamily="18" charset="0"/>
                <a:ea typeface="Calibri" panose="020F0502020204030204" pitchFamily="34" charset="0"/>
              </a:rPr>
              <a:t>and high maintenance </a:t>
            </a:r>
            <a:r>
              <a:rPr lang="en-US" sz="2000" dirty="0" smtClean="0">
                <a:latin typeface="Times New Roman" panose="02020603050405020304" pitchFamily="18" charset="0"/>
                <a:ea typeface="Calibri" panose="020F0502020204030204" pitchFamily="34" charset="0"/>
              </a:rPr>
              <a:t>requirements.</a:t>
            </a:r>
          </a:p>
          <a:p>
            <a:pPr marL="342900" indent="-342900" algn="just">
              <a:lnSpc>
                <a:spcPct val="150000"/>
              </a:lnSpc>
              <a:buFont typeface="Wingdings" panose="05000000000000000000" pitchFamily="2" charset="2"/>
              <a:buChar char="q"/>
            </a:pPr>
            <a:endParaRPr lang="en-US" sz="2000" dirty="0" smtClean="0">
              <a:latin typeface="Times New Roman" panose="02020603050405020304" pitchFamily="18" charset="0"/>
              <a:ea typeface="Calibri" panose="020F0502020204030204" pitchFamily="34" charset="0"/>
            </a:endParaRPr>
          </a:p>
          <a:p>
            <a:pPr marL="342900" indent="-342900" algn="just">
              <a:lnSpc>
                <a:spcPct val="150000"/>
              </a:lnSpc>
              <a:buFont typeface="Wingdings" panose="05000000000000000000" pitchFamily="2" charset="2"/>
              <a:buChar char="q"/>
            </a:pPr>
            <a:r>
              <a:rPr lang="en-US" sz="2000" dirty="0" smtClean="0">
                <a:latin typeface="Times New Roman" panose="02020603050405020304" pitchFamily="18" charset="0"/>
                <a:ea typeface="Calibri" panose="020F0502020204030204" pitchFamily="34" charset="0"/>
              </a:rPr>
              <a:t>By </a:t>
            </a:r>
            <a:r>
              <a:rPr lang="en-US" sz="2000" dirty="0">
                <a:latin typeface="Times New Roman" panose="02020603050405020304" pitchFamily="18" charset="0"/>
                <a:ea typeface="Calibri" panose="020F0502020204030204" pitchFamily="34" charset="0"/>
              </a:rPr>
              <a:t>designing modular and adaptive power electronics system that can dynamically manage energy flow, support scalable integration of </a:t>
            </a:r>
            <a:r>
              <a:rPr lang="en-US" sz="2000" dirty="0" smtClean="0">
                <a:latin typeface="Times New Roman" panose="02020603050405020304" pitchFamily="18" charset="0"/>
                <a:ea typeface="Calibri" panose="020F0502020204030204" pitchFamily="34" charset="0"/>
              </a:rPr>
              <a:t>multiple </a:t>
            </a:r>
            <a:r>
              <a:rPr lang="en-US" sz="2000" dirty="0">
                <a:latin typeface="Times New Roman" panose="02020603050405020304" pitchFamily="18" charset="0"/>
                <a:ea typeface="Calibri" panose="020F0502020204030204" pitchFamily="34" charset="0"/>
              </a:rPr>
              <a:t>energy </a:t>
            </a:r>
            <a:r>
              <a:rPr lang="en-US" sz="2000" dirty="0" smtClean="0">
                <a:latin typeface="Times New Roman" panose="02020603050405020304" pitchFamily="18" charset="0"/>
                <a:ea typeface="Calibri" panose="020F0502020204030204" pitchFamily="34" charset="0"/>
              </a:rPr>
              <a:t>sources, this </a:t>
            </a:r>
            <a:r>
              <a:rPr lang="en-US" sz="2000" dirty="0">
                <a:latin typeface="Times New Roman" panose="02020603050405020304" pitchFamily="18" charset="0"/>
                <a:ea typeface="Calibri" panose="020F0502020204030204" pitchFamily="34" charset="0"/>
              </a:rPr>
              <a:t>will ensure robust operation for autonomous weather monitoring applications AWS current design challenges will be </a:t>
            </a:r>
            <a:r>
              <a:rPr lang="en-US" sz="2000" dirty="0" smtClean="0">
                <a:latin typeface="Times New Roman" panose="02020603050405020304" pitchFamily="18" charset="0"/>
                <a:ea typeface="Calibri" panose="020F0502020204030204" pitchFamily="34" charset="0"/>
              </a:rPr>
              <a:t>reduced, by increasing power availability and system uptime.</a:t>
            </a:r>
            <a:endParaRPr lang="en-US" sz="2000" dirty="0"/>
          </a:p>
        </p:txBody>
      </p:sp>
      <p:sp>
        <p:nvSpPr>
          <p:cNvPr id="6" name="Slide Number Placeholder 5"/>
          <p:cNvSpPr>
            <a:spLocks noGrp="1"/>
          </p:cNvSpPr>
          <p:nvPr>
            <p:ph type="sldNum" sz="quarter" idx="12"/>
          </p:nvPr>
        </p:nvSpPr>
        <p:spPr/>
        <p:txBody>
          <a:bodyPr/>
          <a:lstStyle/>
          <a:p>
            <a:fld id="{9B87FC41-F35B-458E-AD48-D36E6575979E}" type="slidenum">
              <a:rPr lang="en-US" smtClean="0"/>
              <a:t>6</a:t>
            </a:fld>
            <a:endParaRPr lang="en-US" dirty="0"/>
          </a:p>
        </p:txBody>
      </p:sp>
    </p:spTree>
    <p:extLst>
      <p:ext uri="{BB962C8B-B14F-4D97-AF65-F5344CB8AC3E}">
        <p14:creationId xmlns:p14="http://schemas.microsoft.com/office/powerpoint/2010/main" val="33356102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25800A0-A86F-7C93-A338-A958BF86AC38}"/>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CA00DDBA-7CAD-D7EE-FA64-687E9F15EF7A}"/>
              </a:ext>
            </a:extLst>
          </p:cNvPr>
          <p:cNvSpPr txBox="1"/>
          <p:nvPr/>
        </p:nvSpPr>
        <p:spPr>
          <a:xfrm>
            <a:off x="4258544" y="63610"/>
            <a:ext cx="3674911"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Study </a:t>
            </a:r>
            <a:r>
              <a:rPr lang="en-US" sz="3200" b="1" dirty="0" smtClean="0">
                <a:latin typeface="Times New Roman" panose="02020603050405020304" pitchFamily="18" charset="0"/>
                <a:cs typeface="Times New Roman" panose="02020603050405020304" pitchFamily="18" charset="0"/>
              </a:rPr>
              <a:t>Objectives</a:t>
            </a:r>
            <a:endParaRPr lang="en-US"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CAB8F851-2223-6826-0371-82DA4E38B948}"/>
              </a:ext>
            </a:extLst>
          </p:cNvPr>
          <p:cNvSpPr txBox="1"/>
          <p:nvPr/>
        </p:nvSpPr>
        <p:spPr>
          <a:xfrm>
            <a:off x="354300" y="600758"/>
            <a:ext cx="3226241" cy="400110"/>
          </a:xfrm>
          <a:prstGeom prst="rect">
            <a:avLst/>
          </a:prstGeom>
          <a:noFill/>
        </p:spPr>
        <p:txBody>
          <a:bodyPr wrap="square">
            <a:spAutoFit/>
          </a:bodyPr>
          <a:lstStyle/>
          <a:p>
            <a:pPr>
              <a:buSzPct val="109000"/>
            </a:pPr>
            <a:r>
              <a:rPr lang="en-US" sz="2000" b="1" dirty="0">
                <a:latin typeface="Times New Roman" panose="02020603050405020304" pitchFamily="18" charset="0"/>
                <a:cs typeface="Times New Roman" panose="02020603050405020304" pitchFamily="18" charset="0"/>
              </a:rPr>
              <a:t>Main Objective</a:t>
            </a:r>
          </a:p>
        </p:txBody>
      </p:sp>
      <p:sp>
        <p:nvSpPr>
          <p:cNvPr id="6" name="TextBox 5">
            <a:extLst>
              <a:ext uri="{FF2B5EF4-FFF2-40B4-BE49-F238E27FC236}">
                <a16:creationId xmlns="" xmlns:a16="http://schemas.microsoft.com/office/drawing/2014/main" id="{0271E095-A6ED-5389-FDE1-DD6712F49455}"/>
              </a:ext>
            </a:extLst>
          </p:cNvPr>
          <p:cNvSpPr txBox="1"/>
          <p:nvPr/>
        </p:nvSpPr>
        <p:spPr>
          <a:xfrm>
            <a:off x="354300" y="2795823"/>
            <a:ext cx="2959211"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Specific Objectives</a:t>
            </a:r>
          </a:p>
        </p:txBody>
      </p:sp>
      <p:sp>
        <p:nvSpPr>
          <p:cNvPr id="2" name="Rectangle 1"/>
          <p:cNvSpPr/>
          <p:nvPr/>
        </p:nvSpPr>
        <p:spPr>
          <a:xfrm>
            <a:off x="354300" y="1000868"/>
            <a:ext cx="10967777" cy="1754326"/>
          </a:xfrm>
          <a:prstGeom prst="rect">
            <a:avLst/>
          </a:prstGeom>
        </p:spPr>
        <p:txBody>
          <a:bodyPr wrap="square">
            <a:spAutoFit/>
          </a:bodyPr>
          <a:lstStyle/>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To develop a modular and adaptive power electronics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system for </a:t>
            </a:r>
            <a:r>
              <a:rPr lang="en-US" sz="2400" dirty="0">
                <a:latin typeface="Times New Roman" panose="02020603050405020304" pitchFamily="18" charset="0"/>
                <a:ea typeface="Calibri" panose="020F0502020204030204" pitchFamily="34" charset="0"/>
                <a:cs typeface="Times New Roman" panose="02020603050405020304" pitchFamily="18" charset="0"/>
              </a:rPr>
              <a:t>off-grid and energy constrained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AWS with hybrid communication protocols </a:t>
            </a:r>
            <a:r>
              <a:rPr lang="en-US" sz="2400" dirty="0">
                <a:latin typeface="Times New Roman" panose="02020603050405020304" pitchFamily="18" charset="0"/>
                <a:ea typeface="Calibri" panose="020F0502020204030204" pitchFamily="34" charset="0"/>
                <a:cs typeface="Times New Roman" panose="02020603050405020304" pitchFamily="18" charset="0"/>
              </a:rPr>
              <a:t>to subsequently optimize power usage.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354300" y="3231504"/>
            <a:ext cx="10967777" cy="3621504"/>
          </a:xfrm>
          <a:prstGeom prst="rect">
            <a:avLst/>
          </a:prstGeom>
        </p:spPr>
        <p:txBody>
          <a:bodyPr wrap="square">
            <a:spAutoFit/>
          </a:bodyPr>
          <a:lstStyle/>
          <a:p>
            <a:pPr marL="457200" indent="-457200" algn="just">
              <a:lnSpc>
                <a:spcPct val="150000"/>
              </a:lnSpc>
              <a:spcAft>
                <a:spcPts val="800"/>
              </a:spcAft>
              <a:buFont typeface="+mj-lt"/>
              <a:buAutoNum type="arabicPeriod"/>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To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design and simulate </a:t>
            </a:r>
            <a:r>
              <a:rPr lang="en-GB" sz="2400" dirty="0">
                <a:latin typeface="Times New Roman" panose="02020603050405020304" pitchFamily="18" charset="0"/>
                <a:ea typeface="Calibri" panose="020F0502020204030204" pitchFamily="34" charset="0"/>
                <a:cs typeface="Times New Roman" panose="02020603050405020304" pitchFamily="18" charset="0"/>
              </a:rPr>
              <a:t>a modular AWS system that will consist of power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supply, communication subsystem, </a:t>
            </a:r>
            <a:r>
              <a:rPr lang="en-GB" sz="2400" dirty="0">
                <a:latin typeface="Times New Roman" panose="02020603050405020304" pitchFamily="18" charset="0"/>
                <a:ea typeface="Calibri" panose="020F0502020204030204" pitchFamily="34" charset="0"/>
                <a:cs typeface="Times New Roman" panose="02020603050405020304" pitchFamily="18" charset="0"/>
              </a:rPr>
              <a:t>and sensor nodes as subsystems.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800"/>
              </a:spcAft>
              <a:buFont typeface="+mj-lt"/>
              <a:buAutoNum type="arabicPeriod"/>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To </a:t>
            </a:r>
            <a:r>
              <a:rPr lang="en-US" sz="2400" dirty="0">
                <a:latin typeface="Times New Roman" panose="02020603050405020304" pitchFamily="18" charset="0"/>
                <a:ea typeface="Calibri" panose="020F0502020204030204" pitchFamily="34" charset="0"/>
                <a:cs typeface="Times New Roman" panose="02020603050405020304" pitchFamily="18" charset="0"/>
              </a:rPr>
              <a:t>develop an algorithm that will adaptively optimize power efficiency by adjusting input power levels and duty cycle of the system.</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800"/>
              </a:spcAft>
              <a:buFont typeface="+mj-lt"/>
              <a:buAutoNum type="arabicPeriod"/>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To </a:t>
            </a:r>
            <a:r>
              <a:rPr lang="en-US" sz="2400" dirty="0">
                <a:latin typeface="Times New Roman" panose="02020603050405020304" pitchFamily="18" charset="0"/>
                <a:ea typeface="Calibri" panose="020F0502020204030204" pitchFamily="34" charset="0"/>
                <a:cs typeface="Times New Roman" panose="02020603050405020304" pitchFamily="18" charset="0"/>
              </a:rPr>
              <a:t>evaluate the performance 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the developed </a:t>
            </a:r>
            <a:r>
              <a:rPr lang="en-US" sz="2400" dirty="0">
                <a:latin typeface="Times New Roman" panose="02020603050405020304" pitchFamily="18" charset="0"/>
                <a:ea typeface="Calibri" panose="020F0502020204030204" pitchFamily="34" charset="0"/>
                <a:cs typeface="Times New Roman" panose="02020603050405020304" pitchFamily="18" charset="0"/>
              </a:rPr>
              <a:t>AWS system in energy-constrained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applications.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9B87FC41-F35B-458E-AD48-D36E6575979E}" type="slidenum">
              <a:rPr lang="en-US" smtClean="0"/>
              <a:t>7</a:t>
            </a:fld>
            <a:endParaRPr lang="en-US" dirty="0"/>
          </a:p>
        </p:txBody>
      </p:sp>
    </p:spTree>
    <p:extLst>
      <p:ext uri="{BB962C8B-B14F-4D97-AF65-F5344CB8AC3E}">
        <p14:creationId xmlns:p14="http://schemas.microsoft.com/office/powerpoint/2010/main" val="40010682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6DA90C-D6AB-F1B8-7AAC-D696C8EE29FE}"/>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27B2198A-B224-4D4E-AFBE-C937937A7EA1}"/>
              </a:ext>
            </a:extLst>
          </p:cNvPr>
          <p:cNvSpPr txBox="1"/>
          <p:nvPr/>
        </p:nvSpPr>
        <p:spPr>
          <a:xfrm>
            <a:off x="4258543" y="63610"/>
            <a:ext cx="4612187"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Research </a:t>
            </a:r>
            <a:r>
              <a:rPr lang="en-US" sz="3200" b="1" dirty="0" smtClean="0">
                <a:latin typeface="Times New Roman" panose="02020603050405020304" pitchFamily="18" charset="0"/>
                <a:cs typeface="Times New Roman" panose="02020603050405020304" pitchFamily="18" charset="0"/>
              </a:rPr>
              <a:t>Questions</a:t>
            </a:r>
            <a:endParaRPr lang="en-US" sz="3200" b="1" dirty="0">
              <a:latin typeface="Times New Roman" panose="02020603050405020304" pitchFamily="18" charset="0"/>
              <a:cs typeface="Times New Roman" panose="02020603050405020304" pitchFamily="18" charset="0"/>
            </a:endParaRPr>
          </a:p>
        </p:txBody>
      </p:sp>
      <p:sp>
        <p:nvSpPr>
          <p:cNvPr id="2" name="Rectangle 1"/>
          <p:cNvSpPr/>
          <p:nvPr/>
        </p:nvSpPr>
        <p:spPr>
          <a:xfrm>
            <a:off x="457195" y="1303526"/>
            <a:ext cx="11191879" cy="2067233"/>
          </a:xfrm>
          <a:prstGeom prst="rect">
            <a:avLst/>
          </a:prstGeom>
        </p:spPr>
        <p:txBody>
          <a:bodyPr wrap="square">
            <a:spAutoFit/>
          </a:bodyPr>
          <a:lstStyle/>
          <a:p>
            <a:pPr algn="just">
              <a:spcAft>
                <a:spcPts val="800"/>
              </a:spcAft>
            </a:pPr>
            <a:r>
              <a:rPr lang="en-GB" sz="2300" dirty="0">
                <a:latin typeface="Times New Roman" panose="02020603050405020304" pitchFamily="18" charset="0"/>
                <a:ea typeface="Calibri" panose="020F0502020204030204" pitchFamily="34" charset="0"/>
                <a:cs typeface="Times New Roman" panose="02020603050405020304" pitchFamily="18" charset="0"/>
              </a:rPr>
              <a:t>1. What are the design requirements </a:t>
            </a:r>
            <a:r>
              <a:rPr lang="en-GB" sz="2300" dirty="0" smtClean="0">
                <a:latin typeface="Times New Roman" panose="02020603050405020304" pitchFamily="18" charset="0"/>
                <a:ea typeface="Calibri" panose="020F0502020204030204" pitchFamily="34" charset="0"/>
                <a:cs typeface="Times New Roman" panose="02020603050405020304" pitchFamily="18" charset="0"/>
              </a:rPr>
              <a:t>for simulating </a:t>
            </a:r>
            <a:r>
              <a:rPr lang="en-GB" sz="2300" dirty="0">
                <a:latin typeface="Times New Roman" panose="02020603050405020304" pitchFamily="18" charset="0"/>
                <a:ea typeface="Calibri" panose="020F0502020204030204" pitchFamily="34" charset="0"/>
                <a:cs typeface="Times New Roman" panose="02020603050405020304" pitchFamily="18" charset="0"/>
              </a:rPr>
              <a:t>and </a:t>
            </a:r>
            <a:r>
              <a:rPr lang="en-GB" sz="2300" dirty="0" smtClean="0">
                <a:latin typeface="Times New Roman" panose="02020603050405020304" pitchFamily="18" charset="0"/>
                <a:ea typeface="Calibri" panose="020F0502020204030204" pitchFamily="34" charset="0"/>
                <a:cs typeface="Times New Roman" panose="02020603050405020304" pitchFamily="18" charset="0"/>
              </a:rPr>
              <a:t>designing </a:t>
            </a:r>
            <a:r>
              <a:rPr lang="en-GB" sz="2300" dirty="0">
                <a:latin typeface="Times New Roman" panose="02020603050405020304" pitchFamily="18" charset="0"/>
                <a:ea typeface="Calibri" panose="020F0502020204030204" pitchFamily="34" charset="0"/>
                <a:cs typeface="Times New Roman" panose="02020603050405020304" pitchFamily="18" charset="0"/>
              </a:rPr>
              <a:t>a </a:t>
            </a:r>
            <a:r>
              <a:rPr lang="en-GB" sz="2300" dirty="0" smtClean="0">
                <a:latin typeface="Times New Roman" panose="02020603050405020304" pitchFamily="18" charset="0"/>
                <a:ea typeface="Calibri" panose="020F0502020204030204" pitchFamily="34" charset="0"/>
                <a:cs typeface="Times New Roman" panose="02020603050405020304" pitchFamily="18" charset="0"/>
              </a:rPr>
              <a:t>modular, adaptive and hybrid communication </a:t>
            </a:r>
            <a:r>
              <a:rPr lang="en-GB" sz="2300" dirty="0">
                <a:latin typeface="Times New Roman" panose="02020603050405020304" pitchFamily="18" charset="0"/>
                <a:ea typeface="Calibri" panose="020F0502020204030204" pitchFamily="34" charset="0"/>
                <a:cs typeface="Times New Roman" panose="02020603050405020304" pitchFamily="18" charset="0"/>
              </a:rPr>
              <a:t>AWS </a:t>
            </a:r>
            <a:r>
              <a:rPr lang="en-GB" sz="2300" dirty="0" smtClean="0">
                <a:latin typeface="Times New Roman" panose="02020603050405020304" pitchFamily="18" charset="0"/>
                <a:ea typeface="Calibri" panose="020F0502020204030204" pitchFamily="34" charset="0"/>
                <a:cs typeface="Times New Roman" panose="02020603050405020304" pitchFamily="18" charset="0"/>
              </a:rPr>
              <a:t>system?</a:t>
            </a:r>
            <a:endParaRPr lang="en-US" sz="23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pPr>
            <a:r>
              <a:rPr lang="en-GB" sz="2300" dirty="0">
                <a:latin typeface="Times New Roman" panose="02020603050405020304" pitchFamily="18" charset="0"/>
                <a:ea typeface="Calibri" panose="020F0502020204030204" pitchFamily="34" charset="0"/>
                <a:cs typeface="Times New Roman" panose="02020603050405020304" pitchFamily="18" charset="0"/>
              </a:rPr>
              <a:t>2. </a:t>
            </a:r>
            <a:r>
              <a:rPr lang="en-US" sz="2300" dirty="0">
                <a:latin typeface="Times New Roman" panose="02020603050405020304" pitchFamily="18" charset="0"/>
                <a:ea typeface="Calibri" panose="020F0502020204030204" pitchFamily="34" charset="0"/>
                <a:cs typeface="Times New Roman" panose="02020603050405020304" pitchFamily="18" charset="0"/>
              </a:rPr>
              <a:t>What are the necessary </a:t>
            </a:r>
            <a:r>
              <a:rPr lang="en-US" sz="2300" dirty="0" smtClean="0">
                <a:latin typeface="Times New Roman" panose="02020603050405020304" pitchFamily="18" charset="0"/>
                <a:ea typeface="Calibri" panose="020F0502020204030204" pitchFamily="34" charset="0"/>
                <a:cs typeface="Times New Roman" panose="02020603050405020304" pitchFamily="18" charset="0"/>
              </a:rPr>
              <a:t>parameters required </a:t>
            </a:r>
            <a:r>
              <a:rPr lang="en-US" sz="2300" dirty="0">
                <a:latin typeface="Times New Roman" panose="02020603050405020304" pitchFamily="18" charset="0"/>
                <a:ea typeface="Calibri" panose="020F0502020204030204" pitchFamily="34" charset="0"/>
                <a:cs typeface="Times New Roman" panose="02020603050405020304" pitchFamily="18" charset="0"/>
              </a:rPr>
              <a:t>to develop an algorithm that will adaptively optimize power efficiency </a:t>
            </a:r>
            <a:r>
              <a:rPr lang="en-US" sz="2300" dirty="0" smtClean="0">
                <a:latin typeface="Times New Roman" panose="02020603050405020304" pitchFamily="18" charset="0"/>
                <a:ea typeface="Calibri" panose="020F0502020204030204" pitchFamily="34" charset="0"/>
                <a:cs typeface="Times New Roman" panose="02020603050405020304" pitchFamily="18" charset="0"/>
              </a:rPr>
              <a:t>of </a:t>
            </a:r>
            <a:r>
              <a:rPr lang="en-US" sz="2300" dirty="0">
                <a:latin typeface="Times New Roman" panose="02020603050405020304" pitchFamily="18" charset="0"/>
                <a:ea typeface="Calibri" panose="020F0502020204030204" pitchFamily="34" charset="0"/>
                <a:cs typeface="Times New Roman" panose="02020603050405020304" pitchFamily="18" charset="0"/>
              </a:rPr>
              <a:t>the AWS system?</a:t>
            </a:r>
            <a:endParaRPr lang="en-US" sz="23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pPr>
            <a:r>
              <a:rPr lang="en-GB" sz="2300" dirty="0">
                <a:latin typeface="Times New Roman" panose="02020603050405020304" pitchFamily="18" charset="0"/>
                <a:ea typeface="Calibri" panose="020F0502020204030204" pitchFamily="34" charset="0"/>
                <a:cs typeface="Times New Roman" panose="02020603050405020304" pitchFamily="18" charset="0"/>
              </a:rPr>
              <a:t>3. What is the performance </a:t>
            </a:r>
            <a:r>
              <a:rPr lang="en-US" sz="2300" dirty="0">
                <a:latin typeface="Times New Roman" panose="02020603050405020304" pitchFamily="18" charset="0"/>
                <a:ea typeface="Calibri" panose="020F0502020204030204" pitchFamily="34" charset="0"/>
                <a:cs typeface="Times New Roman" panose="02020603050405020304" pitchFamily="18" charset="0"/>
              </a:rPr>
              <a:t>of the </a:t>
            </a:r>
            <a:r>
              <a:rPr lang="en-US" sz="2300" dirty="0" smtClean="0">
                <a:latin typeface="Times New Roman" panose="02020603050405020304" pitchFamily="18" charset="0"/>
                <a:ea typeface="Calibri" panose="020F0502020204030204" pitchFamily="34" charset="0"/>
                <a:cs typeface="Times New Roman" panose="02020603050405020304" pitchFamily="18" charset="0"/>
              </a:rPr>
              <a:t>AWS system </a:t>
            </a:r>
            <a:r>
              <a:rPr lang="en-US" sz="2300" dirty="0">
                <a:latin typeface="Times New Roman" panose="02020603050405020304" pitchFamily="18" charset="0"/>
                <a:ea typeface="Calibri" panose="020F0502020204030204" pitchFamily="34" charset="0"/>
                <a:cs typeface="Times New Roman" panose="02020603050405020304" pitchFamily="18" charset="0"/>
              </a:rPr>
              <a:t>in </a:t>
            </a:r>
            <a:r>
              <a:rPr lang="en-US" sz="2300" dirty="0" smtClean="0">
                <a:latin typeface="Times New Roman" panose="02020603050405020304" pitchFamily="18" charset="0"/>
                <a:ea typeface="Calibri" panose="020F0502020204030204" pitchFamily="34" charset="0"/>
                <a:cs typeface="Times New Roman" panose="02020603050405020304" pitchFamily="18" charset="0"/>
              </a:rPr>
              <a:t>energy-constrained </a:t>
            </a:r>
            <a:r>
              <a:rPr lang="en-US" sz="2300" dirty="0">
                <a:latin typeface="Times New Roman" panose="02020603050405020304" pitchFamily="18" charset="0"/>
                <a:ea typeface="Calibri" panose="020F0502020204030204" pitchFamily="34" charset="0"/>
                <a:cs typeface="Times New Roman" panose="02020603050405020304" pitchFamily="18" charset="0"/>
              </a:rPr>
              <a:t>applications?</a:t>
            </a:r>
            <a:endParaRPr lang="en-US" sz="2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 xmlns:a16="http://schemas.microsoft.com/office/drawing/2014/main" id="{27B2198A-B224-4D4E-AFBE-C937937A7EA1}"/>
              </a:ext>
            </a:extLst>
          </p:cNvPr>
          <p:cNvSpPr txBox="1"/>
          <p:nvPr/>
        </p:nvSpPr>
        <p:spPr>
          <a:xfrm>
            <a:off x="4834896" y="3597275"/>
            <a:ext cx="3211829" cy="584775"/>
          </a:xfrm>
          <a:prstGeom prst="rect">
            <a:avLst/>
          </a:prstGeom>
          <a:noFill/>
        </p:spPr>
        <p:txBody>
          <a:bodyPr wrap="square">
            <a:spAutoFit/>
          </a:bodyPr>
          <a:lstStyle/>
          <a:p>
            <a:r>
              <a:rPr lang="en-GB" sz="3200" b="1" dirty="0" smtClean="0">
                <a:latin typeface="Times New Roman" panose="02020603050405020304" pitchFamily="18" charset="0"/>
                <a:cs typeface="Times New Roman" panose="02020603050405020304" pitchFamily="18" charset="0"/>
              </a:rPr>
              <a:t>Justification</a:t>
            </a:r>
            <a:endParaRPr lang="en-US" sz="4800" b="1" dirty="0">
              <a:latin typeface="Times New Roman" panose="02020603050405020304" pitchFamily="18" charset="0"/>
              <a:cs typeface="Times New Roman" panose="02020603050405020304" pitchFamily="18" charset="0"/>
            </a:endParaRPr>
          </a:p>
        </p:txBody>
      </p:sp>
      <p:sp>
        <p:nvSpPr>
          <p:cNvPr id="5" name="Rectangle 4"/>
          <p:cNvSpPr/>
          <p:nvPr/>
        </p:nvSpPr>
        <p:spPr>
          <a:xfrm>
            <a:off x="571494" y="4182050"/>
            <a:ext cx="10963279" cy="1508105"/>
          </a:xfrm>
          <a:prstGeom prst="rect">
            <a:avLst/>
          </a:prstGeom>
        </p:spPr>
        <p:txBody>
          <a:bodyPr wrap="square">
            <a:spAutoFit/>
          </a:bodyPr>
          <a:lstStyle/>
          <a:p>
            <a:pPr algn="just"/>
            <a:r>
              <a:rPr lang="en-GB" sz="2300" dirty="0">
                <a:latin typeface="Times New Roman" panose="02020603050405020304" pitchFamily="18" charset="0"/>
                <a:ea typeface="Calibri" panose="020F0502020204030204" pitchFamily="34" charset="0"/>
              </a:rPr>
              <a:t>Developing a modular and adaptive power electronics system architecture </a:t>
            </a:r>
            <a:r>
              <a:rPr lang="en-GB" sz="2300" dirty="0" smtClean="0">
                <a:latin typeface="Times New Roman" panose="02020603050405020304" pitchFamily="18" charset="0"/>
                <a:ea typeface="Calibri" panose="020F0502020204030204" pitchFamily="34" charset="0"/>
              </a:rPr>
              <a:t>with hybrid communication is </a:t>
            </a:r>
            <a:r>
              <a:rPr lang="en-GB" sz="2300" dirty="0">
                <a:latin typeface="Times New Roman" panose="02020603050405020304" pitchFamily="18" charset="0"/>
                <a:ea typeface="Calibri" panose="020F0502020204030204" pitchFamily="34" charset="0"/>
              </a:rPr>
              <a:t>essential because existing solutions fail to meet the operational demands of </a:t>
            </a:r>
            <a:r>
              <a:rPr lang="en-GB" sz="2300" dirty="0" smtClean="0">
                <a:latin typeface="Times New Roman" panose="02020603050405020304" pitchFamily="18" charset="0"/>
                <a:ea typeface="Calibri" panose="020F0502020204030204" pitchFamily="34" charset="0"/>
              </a:rPr>
              <a:t>off-grid remote environments and energy constrained applications. Usually with poor network coverage. This design approach will address these underlying problems.</a:t>
            </a:r>
            <a:endParaRPr lang="en-US" sz="2300" dirty="0"/>
          </a:p>
        </p:txBody>
      </p:sp>
      <p:sp>
        <p:nvSpPr>
          <p:cNvPr id="8" name="Slide Number Placeholder 7"/>
          <p:cNvSpPr>
            <a:spLocks noGrp="1"/>
          </p:cNvSpPr>
          <p:nvPr>
            <p:ph type="sldNum" sz="quarter" idx="12"/>
          </p:nvPr>
        </p:nvSpPr>
        <p:spPr/>
        <p:txBody>
          <a:bodyPr/>
          <a:lstStyle/>
          <a:p>
            <a:fld id="{9B87FC41-F35B-458E-AD48-D36E6575979E}" type="slidenum">
              <a:rPr lang="en-US" smtClean="0"/>
              <a:t>8</a:t>
            </a:fld>
            <a:endParaRPr lang="en-US" dirty="0"/>
          </a:p>
        </p:txBody>
      </p:sp>
    </p:spTree>
    <p:extLst>
      <p:ext uri="{BB962C8B-B14F-4D97-AF65-F5344CB8AC3E}">
        <p14:creationId xmlns:p14="http://schemas.microsoft.com/office/powerpoint/2010/main" val="360981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6DA90C-D6AB-F1B8-7AAC-D696C8EE29FE}"/>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27B2198A-B224-4D4E-AFBE-C937937A7EA1}"/>
              </a:ext>
            </a:extLst>
          </p:cNvPr>
          <p:cNvSpPr txBox="1"/>
          <p:nvPr/>
        </p:nvSpPr>
        <p:spPr>
          <a:xfrm>
            <a:off x="4830043" y="125730"/>
            <a:ext cx="3502427" cy="584775"/>
          </a:xfrm>
          <a:prstGeom prst="rect">
            <a:avLst/>
          </a:prstGeom>
          <a:noFill/>
        </p:spPr>
        <p:txBody>
          <a:bodyPr wrap="square">
            <a:spAutoFit/>
          </a:bodyPr>
          <a:lstStyle/>
          <a:p>
            <a:r>
              <a:rPr lang="en-US" sz="3200" b="1" dirty="0" smtClean="0">
                <a:latin typeface="Times New Roman" panose="02020603050405020304" pitchFamily="18" charset="0"/>
                <a:cs typeface="Times New Roman" panose="02020603050405020304" pitchFamily="18" charset="0"/>
              </a:rPr>
              <a:t>Significance</a:t>
            </a:r>
            <a:endParaRPr lang="en-US" sz="3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523875" y="574467"/>
            <a:ext cx="10839449" cy="2308324"/>
          </a:xfrm>
          <a:prstGeom prst="rect">
            <a:avLst/>
          </a:prstGeom>
        </p:spPr>
        <p:txBody>
          <a:bodyPr wrap="square">
            <a:spAutoFit/>
          </a:bodyPr>
          <a:lstStyle/>
          <a:p>
            <a:pPr algn="just">
              <a:lnSpc>
                <a:spcPct val="150000"/>
              </a:lnSpc>
              <a:spcAft>
                <a:spcPts val="800"/>
              </a:spcAft>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The </a:t>
            </a:r>
            <a:r>
              <a:rPr lang="en-GB" sz="2400" dirty="0">
                <a:latin typeface="Times New Roman" panose="02020603050405020304" pitchFamily="18" charset="0"/>
                <a:ea typeface="Calibri" panose="020F0502020204030204" pitchFamily="34" charset="0"/>
                <a:cs typeface="Times New Roman" panose="02020603050405020304" pitchFamily="18" charset="0"/>
              </a:rPr>
              <a:t>outcome of the design will improve the reliability, efficiency, and operational autonomy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for </a:t>
            </a:r>
            <a:r>
              <a:rPr lang="en-GB" sz="2400" dirty="0">
                <a:latin typeface="Times New Roman" panose="02020603050405020304" pitchFamily="18" charset="0"/>
                <a:ea typeface="Calibri" panose="020F0502020204030204" pitchFamily="34" charset="0"/>
                <a:cs typeface="Times New Roman" panose="02020603050405020304" pitchFamily="18" charset="0"/>
              </a:rPr>
              <a:t>remote weather monitoring systems,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thereby enhancing </a:t>
            </a:r>
            <a:r>
              <a:rPr lang="en-GB" sz="2400" dirty="0">
                <a:latin typeface="Times New Roman" panose="02020603050405020304" pitchFamily="18" charset="0"/>
                <a:ea typeface="Calibri" panose="020F0502020204030204" pitchFamily="34" charset="0"/>
                <a:cs typeface="Times New Roman" panose="02020603050405020304" pitchFamily="18" charset="0"/>
              </a:rPr>
              <a:t>the quality and continuity of meteorological data essential for applications in agriculture, public safety, infrastructure planning, and climatic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research.</a:t>
            </a:r>
          </a:p>
        </p:txBody>
      </p:sp>
      <p:sp>
        <p:nvSpPr>
          <p:cNvPr id="12" name="Rectangle 11"/>
          <p:cNvSpPr/>
          <p:nvPr/>
        </p:nvSpPr>
        <p:spPr>
          <a:xfrm>
            <a:off x="523874" y="3210879"/>
            <a:ext cx="10839449" cy="3416320"/>
          </a:xfrm>
          <a:prstGeom prst="rect">
            <a:avLst/>
          </a:prstGeom>
        </p:spPr>
        <p:txBody>
          <a:bodyPr wrap="square">
            <a:spAutoFit/>
          </a:bodyPr>
          <a:lstStyle/>
          <a:p>
            <a:pPr lvl="0" algn="just">
              <a:lnSpc>
                <a:spcPct val="150000"/>
              </a:lnSpc>
              <a:spcAft>
                <a:spcPts val="0"/>
              </a:spcAft>
            </a:pPr>
            <a:r>
              <a:rPr lang="en-GB" sz="2400" b="1" dirty="0" smtClean="0">
                <a:latin typeface="Times New Roman" panose="02020603050405020304" pitchFamily="18" charset="0"/>
                <a:ea typeface="Calibri" panose="020F0502020204030204" pitchFamily="34" charset="0"/>
                <a:cs typeface="Times New Roman" panose="02020603050405020304" pitchFamily="18" charset="0"/>
              </a:rPr>
              <a:t>Design Scope;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Requirement identification </a:t>
            </a:r>
            <a:r>
              <a:rPr lang="en-GB" sz="2400" dirty="0">
                <a:latin typeface="Times New Roman" panose="02020603050405020304" pitchFamily="18" charset="0"/>
                <a:ea typeface="Calibri" panose="020F0502020204030204" pitchFamily="34" charset="0"/>
                <a:cs typeface="Times New Roman" panose="02020603050405020304" pitchFamily="18" charset="0"/>
              </a:rPr>
              <a:t>for the AWS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system, development of two Prototypes, </a:t>
            </a:r>
            <a:r>
              <a:rPr lang="en-GB" sz="2400" dirty="0">
                <a:latin typeface="Times New Roman" panose="02020603050405020304" pitchFamily="18" charset="0"/>
                <a:ea typeface="Calibri" panose="020F0502020204030204" pitchFamily="34" charset="0"/>
                <a:cs typeface="Times New Roman" panose="02020603050405020304" pitchFamily="18" charset="0"/>
              </a:rPr>
              <a:t>a</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daptive control strategy/algorithm development , and firmware development, system simulation </a:t>
            </a:r>
            <a:r>
              <a:rPr lang="en-GB" sz="2400" dirty="0">
                <a:latin typeface="Times New Roman" panose="02020603050405020304" pitchFamily="18" charset="0"/>
                <a:ea typeface="Calibri" panose="020F0502020204030204" pitchFamily="34" charset="0"/>
                <a:cs typeface="Times New Roman" panose="02020603050405020304" pitchFamily="18" charset="0"/>
              </a:rPr>
              <a:t>and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modelling, deployment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and</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GB" sz="2400" dirty="0">
                <a:latin typeface="Times New Roman" panose="02020603050405020304" pitchFamily="18" charset="0"/>
                <a:ea typeface="Calibri" panose="020F0502020204030204" pitchFamily="34" charset="0"/>
                <a:cs typeface="Times New Roman" panose="02020603050405020304" pitchFamily="18" charset="0"/>
              </a:rPr>
              <a:t>evaluation to assess system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performance of  four AWS, will not include development of Web Application.</a:t>
            </a:r>
          </a:p>
          <a:p>
            <a:pPr lvl="0" algn="just">
              <a:lnSpc>
                <a:spcPct val="150000"/>
              </a:lnSpc>
              <a:spcAft>
                <a:spcPts val="0"/>
              </a:spcAft>
            </a:pPr>
            <a:r>
              <a:rPr lang="en-GB" sz="2400" b="1" dirty="0" smtClean="0">
                <a:effectLst/>
                <a:latin typeface="Times New Roman" panose="02020603050405020304" pitchFamily="18" charset="0"/>
                <a:ea typeface="Calibri" panose="020F0502020204030204" pitchFamily="34" charset="0"/>
                <a:cs typeface="Times New Roman" panose="02020603050405020304" pitchFamily="18" charset="0"/>
              </a:rPr>
              <a:t>Geographical Scope; </a:t>
            </a:r>
            <a:r>
              <a:rPr lang="en-GB" sz="2400" dirty="0" smtClean="0">
                <a:effectLst/>
                <a:latin typeface="Times New Roman" panose="02020603050405020304" pitchFamily="18" charset="0"/>
                <a:ea typeface="Calibri" panose="020F0502020204030204" pitchFamily="34" charset="0"/>
                <a:cs typeface="Times New Roman" panose="02020603050405020304" pitchFamily="18" charset="0"/>
              </a:rPr>
              <a:t>The four AWS will be deployed in all regions of Uganda to collect relevant weather data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 xmlns:a16="http://schemas.microsoft.com/office/drawing/2014/main" id="{27B2198A-B224-4D4E-AFBE-C937937A7EA1}"/>
              </a:ext>
            </a:extLst>
          </p:cNvPr>
          <p:cNvSpPr txBox="1"/>
          <p:nvPr/>
        </p:nvSpPr>
        <p:spPr>
          <a:xfrm>
            <a:off x="5571088" y="2746753"/>
            <a:ext cx="1776497" cy="584775"/>
          </a:xfrm>
          <a:prstGeom prst="rect">
            <a:avLst/>
          </a:prstGeom>
          <a:noFill/>
        </p:spPr>
        <p:txBody>
          <a:bodyPr wrap="square">
            <a:spAutoFit/>
          </a:bodyPr>
          <a:lstStyle/>
          <a:p>
            <a:r>
              <a:rPr lang="en-US" sz="3200" b="1" dirty="0" smtClean="0">
                <a:latin typeface="Times New Roman" panose="02020603050405020304" pitchFamily="18" charset="0"/>
                <a:cs typeface="Times New Roman" panose="02020603050405020304" pitchFamily="18" charset="0"/>
              </a:rPr>
              <a:t>Scope</a:t>
            </a:r>
            <a:endParaRPr lang="en-US" sz="32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B87FC41-F35B-458E-AD48-D36E6575979E}" type="slidenum">
              <a:rPr lang="en-US" smtClean="0"/>
              <a:t>9</a:t>
            </a:fld>
            <a:endParaRPr lang="en-US" dirty="0"/>
          </a:p>
        </p:txBody>
      </p:sp>
    </p:spTree>
    <p:extLst>
      <p:ext uri="{BB962C8B-B14F-4D97-AF65-F5344CB8AC3E}">
        <p14:creationId xmlns:p14="http://schemas.microsoft.com/office/powerpoint/2010/main" val="11298040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6DA90C-D6AB-F1B8-7AAC-D696C8EE29FE}"/>
            </a:ext>
          </a:extLst>
        </p:cNvPr>
        <p:cNvGrpSpPr/>
        <p:nvPr/>
      </p:nvGrpSpPr>
      <p:grpSpPr>
        <a:xfrm>
          <a:off x="0" y="0"/>
          <a:ext cx="0" cy="0"/>
          <a:chOff x="0" y="0"/>
          <a:chExt cx="0" cy="0"/>
        </a:xfrm>
      </p:grpSpPr>
      <p:sp>
        <p:nvSpPr>
          <p:cNvPr id="171" name="TextBox 170">
            <a:extLst>
              <a:ext uri="{FF2B5EF4-FFF2-40B4-BE49-F238E27FC236}">
                <a16:creationId xmlns="" xmlns:a16="http://schemas.microsoft.com/office/drawing/2014/main" id="{27B2198A-B224-4D4E-AFBE-C937937A7EA1}"/>
              </a:ext>
            </a:extLst>
          </p:cNvPr>
          <p:cNvSpPr txBox="1"/>
          <p:nvPr/>
        </p:nvSpPr>
        <p:spPr>
          <a:xfrm>
            <a:off x="4042645" y="-38366"/>
            <a:ext cx="4048476" cy="523220"/>
          </a:xfrm>
          <a:prstGeom prst="rect">
            <a:avLst/>
          </a:prstGeom>
          <a:noFill/>
        </p:spPr>
        <p:txBody>
          <a:bodyPr wrap="square">
            <a:spAutoFit/>
          </a:bodyPr>
          <a:lstStyle/>
          <a:p>
            <a:r>
              <a:rPr lang="en-GB" sz="2800" b="1" dirty="0" smtClean="0">
                <a:latin typeface="Times New Roman" panose="02020603050405020304" pitchFamily="18" charset="0"/>
                <a:ea typeface="Calibri" panose="020F0502020204030204" pitchFamily="34" charset="0"/>
                <a:cs typeface="Times New Roman" panose="02020603050405020304" pitchFamily="18" charset="0"/>
              </a:rPr>
              <a:t>Conceptual Framework </a:t>
            </a:r>
            <a:endParaRPr lang="en-US" sz="2800" b="1" dirty="0">
              <a:latin typeface="Times New Roman" panose="02020603050405020304" pitchFamily="18" charset="0"/>
              <a:cs typeface="Times New Roman" panose="02020603050405020304" pitchFamily="18" charset="0"/>
            </a:endParaRPr>
          </a:p>
        </p:txBody>
      </p:sp>
      <p:grpSp>
        <p:nvGrpSpPr>
          <p:cNvPr id="7" name="Group 6"/>
          <p:cNvGrpSpPr/>
          <p:nvPr/>
        </p:nvGrpSpPr>
        <p:grpSpPr>
          <a:xfrm>
            <a:off x="1780424" y="551529"/>
            <a:ext cx="7689533" cy="6092851"/>
            <a:chOff x="304049" y="593252"/>
            <a:chExt cx="7689533" cy="6092851"/>
          </a:xfrm>
        </p:grpSpPr>
        <p:grpSp>
          <p:nvGrpSpPr>
            <p:cNvPr id="138" name="Group 137"/>
            <p:cNvGrpSpPr/>
            <p:nvPr/>
          </p:nvGrpSpPr>
          <p:grpSpPr>
            <a:xfrm>
              <a:off x="304049" y="593252"/>
              <a:ext cx="7689533" cy="6038311"/>
              <a:chOff x="-324913" y="-175229"/>
              <a:chExt cx="7089927" cy="5538164"/>
            </a:xfrm>
          </p:grpSpPr>
          <p:grpSp>
            <p:nvGrpSpPr>
              <p:cNvPr id="139" name="Group 138"/>
              <p:cNvGrpSpPr/>
              <p:nvPr/>
            </p:nvGrpSpPr>
            <p:grpSpPr>
              <a:xfrm>
                <a:off x="-324913" y="-175229"/>
                <a:ext cx="7089927" cy="5538164"/>
                <a:chOff x="-324913" y="-175229"/>
                <a:chExt cx="7089927" cy="5538164"/>
              </a:xfrm>
            </p:grpSpPr>
            <p:sp>
              <p:nvSpPr>
                <p:cNvPr id="143" name="Rounded Rectangle 142"/>
                <p:cNvSpPr/>
                <p:nvPr/>
              </p:nvSpPr>
              <p:spPr>
                <a:xfrm>
                  <a:off x="-324913" y="240736"/>
                  <a:ext cx="2025163" cy="1507710"/>
                </a:xfrm>
                <a:prstGeom prst="roundRect">
                  <a:avLst/>
                </a:prstGeom>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PSU (PI)</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2860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Solar Panel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Sizing &amp;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Wattage (W)</a:t>
                  </a:r>
                  <a:endParaRPr lang="en-GB" sz="1000" dirty="0" smtClean="0">
                    <a:solidFill>
                      <a:srgbClr val="000000"/>
                    </a:solidFill>
                    <a:latin typeface="Times New Roman" panose="02020603050405020304" pitchFamily="18" charset="0"/>
                    <a:ea typeface="Calibri" panose="020F0502020204030204" pitchFamily="34" charset="0"/>
                  </a:endParaRPr>
                </a:p>
                <a:p>
                  <a:pPr marL="228600" indent="-228600">
                    <a:buFont typeface="+mj-lt"/>
                    <a:buAutoNum type="arabicPeriod" startAt="2"/>
                    <a:defRPr/>
                  </a:pPr>
                  <a:r>
                    <a:rPr lang="en-GB" sz="1200" dirty="0" smtClean="0">
                      <a:solidFill>
                        <a:srgbClr val="000000"/>
                      </a:solidFill>
                      <a:latin typeface="Times New Roman" panose="02020603050405020304" pitchFamily="18" charset="0"/>
                      <a:ea typeface="Calibri" panose="020F0502020204030204" pitchFamily="34" charset="0"/>
                    </a:rPr>
                    <a:t>Maximum Power conversion</a:t>
                  </a:r>
                  <a:r>
                    <a:rPr lang="en-US" sz="1200" kern="0" dirty="0" smtClean="0">
                      <a:solidFill>
                        <a:sysClr val="windowText" lastClr="000000"/>
                      </a:solidFill>
                      <a:latin typeface="Times New Roman" panose="02020603050405020304" pitchFamily="18" charset="0"/>
                      <a:ea typeface="Calibri" panose="020F0502020204030204" pitchFamily="34" charset="0"/>
                    </a:rPr>
                    <a:t> </a:t>
                  </a:r>
                  <a:r>
                    <a:rPr lang="en-GB" sz="1200" kern="0" dirty="0" smtClean="0">
                      <a:solidFill>
                        <a:sysClr val="windowText" lastClr="000000"/>
                      </a:solidFill>
                      <a:latin typeface="Times New Roman" panose="02020603050405020304" pitchFamily="18" charset="0"/>
                      <a:ea typeface="Times New Roman" panose="02020603050405020304" pitchFamily="18" charset="0"/>
                    </a:rPr>
                    <a:t>efficiency (%)</a:t>
                  </a:r>
                  <a:endParaRPr kumimoji="0" lang="en-US" sz="1200" b="0" i="0" u="none" strike="noStrike" kern="0" cap="none" spc="0" normalizeH="0" baseline="0" noProof="0" dirty="0" smtClean="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28600" marR="0" lvl="0" indent="-228600" defTabSz="914400" eaLnBrk="1" fontAlgn="auto" latinLnBrk="0" hangingPunct="1">
                    <a:lnSpc>
                      <a:spcPct val="100000"/>
                    </a:lnSpc>
                    <a:spcBef>
                      <a:spcPts val="0"/>
                    </a:spcBef>
                    <a:spcAft>
                      <a:spcPts val="0"/>
                    </a:spcAft>
                    <a:buClrTx/>
                    <a:buSzTx/>
                    <a:buFont typeface="+mj-lt"/>
                    <a:buAutoNum type="arabicPeriod" startAt="2"/>
                    <a:tabLst/>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Battery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Charger </a:t>
                  </a:r>
                  <a:r>
                    <a:rPr lang="en-GB" sz="1000" dirty="0" smtClean="0">
                      <a:solidFill>
                        <a:srgbClr val="000000"/>
                      </a:solidFill>
                      <a:latin typeface="Times New Roman" panose="02020603050405020304" pitchFamily="18" charset="0"/>
                      <a:ea typeface="Calibri" panose="020F0502020204030204" pitchFamily="34" charset="0"/>
                    </a:rPr>
                    <a:t>rating (Ah)</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28600" marR="0" lvl="0" indent="-228600" defTabSz="914400" eaLnBrk="1" fontAlgn="auto" latinLnBrk="0" hangingPunct="1">
                    <a:lnSpc>
                      <a:spcPct val="100000"/>
                    </a:lnSpc>
                    <a:spcBef>
                      <a:spcPts val="0"/>
                    </a:spcBef>
                    <a:spcAft>
                      <a:spcPts val="0"/>
                    </a:spcAft>
                    <a:buClrTx/>
                    <a:buSzTx/>
                    <a:buFont typeface="+mj-lt"/>
                    <a:buAutoNum type="arabicPeriod" startAt="2"/>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Logic Level Shifter </a:t>
                  </a:r>
                  <a:r>
                    <a:rPr lang="en-GB" sz="1000" dirty="0" smtClean="0">
                      <a:solidFill>
                        <a:srgbClr val="000000"/>
                      </a:solidFill>
                      <a:latin typeface="Times New Roman" panose="02020603050405020304" pitchFamily="18" charset="0"/>
                      <a:ea typeface="Calibri" panose="020F0502020204030204" pitchFamily="34" charset="0"/>
                    </a:rPr>
                    <a:t>thresholds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(5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V &amp; 3.3 V)</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28600" marR="0" lvl="0" indent="-228600" defTabSz="914400" eaLnBrk="1" fontAlgn="auto" latinLnBrk="0" hangingPunct="1">
                    <a:lnSpc>
                      <a:spcPct val="100000"/>
                    </a:lnSpc>
                    <a:spcBef>
                      <a:spcPts val="0"/>
                    </a:spcBef>
                    <a:spcAft>
                      <a:spcPts val="0"/>
                    </a:spcAft>
                    <a:buClrTx/>
                    <a:buSzTx/>
                    <a:buFont typeface="+mj-lt"/>
                    <a:buAutoNum type="arabicPeriod" startAt="2"/>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Daily Load profiles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(Wh/day)</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44" name="Rounded Rectangle 143"/>
                <p:cNvSpPr/>
                <p:nvPr/>
              </p:nvSpPr>
              <p:spPr>
                <a:xfrm>
                  <a:off x="-70714" y="1804877"/>
                  <a:ext cx="1903730" cy="1057417"/>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Communication </a:t>
                  </a:r>
                  <a:r>
                    <a:rPr kumimoji="0" lang="en-GB" sz="1000" b="1"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Subsystem (PI)</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2860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Protocol Data size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(bits</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2860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Protocol Data Type (A/D)</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2860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Transmission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power (dBm</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a:t>
                  </a:r>
                </a:p>
                <a:p>
                  <a:pPr marL="228600" lvl="0" indent="-228600">
                    <a:buFont typeface="+mj-lt"/>
                    <a:buAutoNum type="arabicPeriod"/>
                  </a:pPr>
                  <a:r>
                    <a:rPr lang="en-GB" sz="1050" dirty="0" smtClean="0">
                      <a:solidFill>
                        <a:srgbClr val="000000"/>
                      </a:solidFill>
                      <a:latin typeface="Times New Roman" panose="02020603050405020304" pitchFamily="18" charset="0"/>
                      <a:ea typeface="Calibri" panose="020F0502020204030204" pitchFamily="34" charset="0"/>
                    </a:rPr>
                    <a:t>Preferred protocol (LoRa</a:t>
                  </a:r>
                  <a:r>
                    <a:rPr lang="en-GB" sz="1050" dirty="0">
                      <a:solidFill>
                        <a:srgbClr val="000000"/>
                      </a:solidFill>
                      <a:latin typeface="Times New Roman" panose="02020603050405020304" pitchFamily="18" charset="0"/>
                      <a:ea typeface="Calibri" panose="020F0502020204030204" pitchFamily="34" charset="0"/>
                    </a:rPr>
                    <a:t>,</a:t>
                  </a:r>
                  <a:r>
                    <a:rPr lang="en-GB" sz="1050" dirty="0" smtClean="0">
                      <a:solidFill>
                        <a:srgbClr val="000000"/>
                      </a:solidFill>
                      <a:latin typeface="Times New Roman" panose="02020603050405020304" pitchFamily="18" charset="0"/>
                      <a:ea typeface="Calibri" panose="020F0502020204030204" pitchFamily="34" charset="0"/>
                    </a:rPr>
                    <a:t>GSM,WiFi,BLE)</a:t>
                  </a:r>
                  <a:endParaRPr kumimoji="0" lang="en-US" sz="105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endParaRPr>
                </a:p>
              </p:txBody>
            </p:sp>
            <p:sp>
              <p:nvSpPr>
                <p:cNvPr id="145" name="Rounded Rectangle 144"/>
                <p:cNvSpPr/>
                <p:nvPr/>
              </p:nvSpPr>
              <p:spPr>
                <a:xfrm>
                  <a:off x="-245966" y="2962450"/>
                  <a:ext cx="2078119" cy="817144"/>
                </a:xfrm>
                <a:prstGeom prst="roundRect">
                  <a:avLst/>
                </a:prstGeom>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Sensor </a:t>
                  </a:r>
                  <a:r>
                    <a:rPr kumimoji="0" lang="en-GB" sz="1000" b="1"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Subsystem (PI)</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Sensor voltage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input (V)</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Sensor Power </a:t>
                  </a:r>
                  <a:r>
                    <a:rPr lang="en-GB" sz="1000" dirty="0" smtClean="0">
                      <a:solidFill>
                        <a:srgbClr val="000000"/>
                      </a:solidFill>
                      <a:latin typeface="Times New Roman" panose="02020603050405020304" pitchFamily="18" charset="0"/>
                      <a:ea typeface="Calibri" panose="020F0502020204030204" pitchFamily="34" charset="0"/>
                    </a:rPr>
                    <a:t>Consumption (mW)</a:t>
                  </a:r>
                </a:p>
                <a:p>
                  <a:pPr marL="180340" lvl="0" indent="-228600">
                    <a:lnSpc>
                      <a:spcPct val="106000"/>
                    </a:lnSpc>
                    <a:buFont typeface="+mj-lt"/>
                    <a:buAutoNum type="arabicPeriod"/>
                    <a:defRPr/>
                  </a:pPr>
                  <a:r>
                    <a:rPr lang="en-GB" sz="1200" dirty="0">
                      <a:solidFill>
                        <a:srgbClr val="000000"/>
                      </a:solidFill>
                      <a:latin typeface="Times New Roman" panose="02020603050405020304" pitchFamily="18" charset="0"/>
                      <a:ea typeface="Calibri" panose="020F0502020204030204" pitchFamily="34" charset="0"/>
                    </a:rPr>
                    <a:t>Sensor </a:t>
                  </a:r>
                  <a:r>
                    <a:rPr lang="en-GB" sz="1200" dirty="0" smtClean="0">
                      <a:solidFill>
                        <a:srgbClr val="000000"/>
                      </a:solidFill>
                      <a:latin typeface="Times New Roman" panose="02020603050405020304" pitchFamily="18" charset="0"/>
                      <a:ea typeface="Calibri" panose="020F0502020204030204" pitchFamily="34" charset="0"/>
                    </a:rPr>
                    <a:t>sensitivity Level</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46" name="Rounded Rectangle 145"/>
                <p:cNvSpPr/>
                <p:nvPr/>
              </p:nvSpPr>
              <p:spPr>
                <a:xfrm>
                  <a:off x="4907824" y="1643594"/>
                  <a:ext cx="1829674" cy="1352697"/>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975" marR="0" lvl="0" indent="-180975"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Data type &amp; size Transmitted</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975" marR="0" lvl="0" indent="-180975"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Transmit power used (dBm)</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975" marR="0" lvl="0" indent="-180975"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Module Mode/State.</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975" marR="0" lvl="0" indent="-180975"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Transmission Success Rate (RSSI) </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975" marR="0" lvl="0" indent="-180975" defTabSz="914400" eaLnBrk="1" fontAlgn="auto" latinLnBrk="0" hangingPunct="1">
                    <a:lnSpc>
                      <a:spcPct val="106000"/>
                    </a:lnSpc>
                    <a:spcBef>
                      <a:spcPts val="0"/>
                    </a:spcBef>
                    <a:spcAft>
                      <a:spcPts val="800"/>
                    </a:spcAft>
                    <a:buClrTx/>
                    <a:buSzTx/>
                    <a:buFont typeface="+mj-lt"/>
                    <a:buAutoNum type="arabicPeriod"/>
                    <a:tabLst/>
                    <a:defRPr/>
                  </a:pPr>
                  <a:r>
                    <a:rPr kumimoji="0" lang="en-US" sz="11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Network switching Success.</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47" name="Rounded Rectangle 146"/>
                <p:cNvSpPr/>
                <p:nvPr/>
              </p:nvSpPr>
              <p:spPr>
                <a:xfrm>
                  <a:off x="4994769" y="241743"/>
                  <a:ext cx="1686051" cy="1289620"/>
                </a:xfrm>
                <a:prstGeom prst="roundRect">
                  <a:avLst/>
                </a:prstGeom>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975" marR="0" lvl="0" indent="-180975" defTabSz="914400" eaLnBrk="1" fontAlgn="auto" latinLnBrk="0" hangingPunct="1">
                    <a:lnSpc>
                      <a:spcPct val="100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Panel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voltage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output (V)</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975" marR="0" lvl="0" indent="-180975" defTabSz="914400" eaLnBrk="1" fontAlgn="auto" latinLnBrk="0" hangingPunct="1">
                    <a:lnSpc>
                      <a:spcPct val="100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Converter efficiency (%)</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975" marR="0" lvl="0" indent="-180975" defTabSz="914400" eaLnBrk="1" fontAlgn="auto" latinLnBrk="0" hangingPunct="1">
                    <a:lnSpc>
                      <a:spcPct val="100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Battery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life (</a:t>
                  </a:r>
                  <a:r>
                    <a:rPr lang="en-GB" sz="1000" dirty="0" smtClean="0">
                      <a:solidFill>
                        <a:srgbClr val="000000"/>
                      </a:solidFill>
                      <a:latin typeface="Times New Roman" panose="02020603050405020304" pitchFamily="18" charset="0"/>
                      <a:ea typeface="Calibri" panose="020F0502020204030204" pitchFamily="34" charset="0"/>
                    </a:rPr>
                    <a:t>hours/day</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975" marR="0" lvl="0" indent="-180975"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Daily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energy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usage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(Wh)</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975" marR="0" lvl="0" indent="-180975"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System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uptime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hours/day)</a:t>
                  </a:r>
                  <a:r>
                    <a:rPr kumimoji="0" lang="en-US" sz="11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  </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48" name="Rounded Rectangle 147"/>
                <p:cNvSpPr/>
                <p:nvPr/>
              </p:nvSpPr>
              <p:spPr>
                <a:xfrm>
                  <a:off x="2844249" y="1617163"/>
                  <a:ext cx="1811295" cy="1210562"/>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Idle &amp; active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modes scheduling</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34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Adaptive protocol Switching</a:t>
                  </a:r>
                  <a:r>
                    <a:rPr lang="en-US" sz="1200" kern="0" dirty="0">
                      <a:solidFill>
                        <a:sysClr val="windowText" lastClr="000000"/>
                      </a:solidFill>
                      <a:latin typeface="Times New Roman" panose="02020603050405020304" pitchFamily="18" charset="0"/>
                      <a:ea typeface="Calibri" panose="020F0502020204030204" pitchFamily="34" charset="0"/>
                    </a:rPr>
                    <a:t> </a:t>
                  </a:r>
                  <a:r>
                    <a:rPr lang="en-US" sz="1200" kern="0" dirty="0" smtClean="0">
                      <a:solidFill>
                        <a:sysClr val="windowText" lastClr="000000"/>
                      </a:solidFill>
                      <a:latin typeface="Times New Roman" panose="02020603050405020304" pitchFamily="18" charset="0"/>
                      <a:ea typeface="Calibri" panose="020F0502020204030204" pitchFamily="34" charset="0"/>
                    </a:rPr>
                    <a:t>(</a:t>
                  </a:r>
                  <a:r>
                    <a:rPr lang="en-GB" sz="1000" dirty="0" smtClean="0">
                      <a:solidFill>
                        <a:srgbClr val="000000"/>
                      </a:solidFill>
                      <a:latin typeface="Times New Roman" panose="02020603050405020304" pitchFamily="18" charset="0"/>
                      <a:ea typeface="Calibri" panose="020F0502020204030204" pitchFamily="34" charset="0"/>
                    </a:rPr>
                    <a:t>LoRa Primary, GSM/WiFi/BLE Fallback)</a:t>
                  </a:r>
                </a:p>
                <a:p>
                  <a:pPr marL="180340" marR="0" lvl="0" indent="-228600" defTabSz="914400" eaLnBrk="1" fontAlgn="auto" latinLnBrk="0" hangingPunct="1">
                    <a:lnSpc>
                      <a:spcPct val="100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Transmission optimization (RSSI, &amp; energy tradeoff)</a:t>
                  </a:r>
                  <a:r>
                    <a:rPr kumimoji="0" lang="en-US" sz="11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 </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49" name="Rounded Rectangle 148"/>
                <p:cNvSpPr/>
                <p:nvPr/>
              </p:nvSpPr>
              <p:spPr>
                <a:xfrm>
                  <a:off x="3049495" y="240736"/>
                  <a:ext cx="1610827" cy="1271508"/>
                </a:xfrm>
                <a:prstGeom prst="roundRect">
                  <a:avLst/>
                </a:prstGeom>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lang="en-GB" sz="1000" dirty="0" smtClean="0">
                      <a:solidFill>
                        <a:srgbClr val="000000"/>
                      </a:solidFill>
                      <a:latin typeface="Times New Roman" panose="02020603050405020304" pitchFamily="18" charset="0"/>
                      <a:ea typeface="Calibri" panose="020F0502020204030204" pitchFamily="34" charset="0"/>
                    </a:rPr>
                    <a:t>Energy</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 conversion and regulation</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Battery SoC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Stability</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Logic Level Shifter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Performance</a:t>
                  </a:r>
                </a:p>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lang="en-GB" sz="1000" dirty="0" smtClean="0">
                      <a:solidFill>
                        <a:srgbClr val="000000"/>
                      </a:solidFill>
                      <a:latin typeface="Times New Roman" panose="02020603050405020304" pitchFamily="18" charset="0"/>
                      <a:ea typeface="Calibri" panose="020F0502020204030204" pitchFamily="34" charset="0"/>
                    </a:rPr>
                    <a:t>Thermal Management</a:t>
                  </a:r>
                </a:p>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Load prioritization </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cxnSp>
              <p:nvCxnSpPr>
                <p:cNvPr id="150" name="Straight Arrow Connector 149"/>
                <p:cNvCxnSpPr/>
                <p:nvPr/>
              </p:nvCxnSpPr>
              <p:spPr>
                <a:xfrm>
                  <a:off x="4668326" y="824683"/>
                  <a:ext cx="365121"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1" name="Straight Arrow Connector 150"/>
                <p:cNvCxnSpPr/>
                <p:nvPr/>
              </p:nvCxnSpPr>
              <p:spPr>
                <a:xfrm>
                  <a:off x="4671779" y="2197939"/>
                  <a:ext cx="226820"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2" name="Straight Arrow Connector 151"/>
                <p:cNvCxnSpPr/>
                <p:nvPr/>
              </p:nvCxnSpPr>
              <p:spPr>
                <a:xfrm flipV="1">
                  <a:off x="1707518" y="824683"/>
                  <a:ext cx="136090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3" name="Straight Arrow Connector 152"/>
                <p:cNvCxnSpPr/>
                <p:nvPr/>
              </p:nvCxnSpPr>
              <p:spPr>
                <a:xfrm flipV="1">
                  <a:off x="1815414" y="3137710"/>
                  <a:ext cx="1096297"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4" name="Straight Arrow Connector 153"/>
                <p:cNvCxnSpPr/>
                <p:nvPr/>
              </p:nvCxnSpPr>
              <p:spPr>
                <a:xfrm>
                  <a:off x="1832162" y="1986283"/>
                  <a:ext cx="1020690"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5" name="Elbow Connector 154"/>
                <p:cNvCxnSpPr/>
                <p:nvPr/>
              </p:nvCxnSpPr>
              <p:spPr>
                <a:xfrm flipV="1">
                  <a:off x="1836420" y="969463"/>
                  <a:ext cx="1228135" cy="1168400"/>
                </a:xfrm>
                <a:prstGeom prst="bentConnector3">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6" name="Elbow Connector 155"/>
                <p:cNvCxnSpPr/>
                <p:nvPr/>
              </p:nvCxnSpPr>
              <p:spPr>
                <a:xfrm flipV="1">
                  <a:off x="1841068" y="1253839"/>
                  <a:ext cx="1228136" cy="2036445"/>
                </a:xfrm>
                <a:prstGeom prst="bentConnector3">
                  <a:avLst>
                    <a:gd name="adj1" fmla="val 69809"/>
                  </a:avLst>
                </a:prstGeom>
                <a:noFill/>
                <a:ln w="19050" cap="flat" cmpd="sng" algn="ctr">
                  <a:solidFill>
                    <a:srgbClr val="70AD47"/>
                  </a:solidFill>
                  <a:prstDash val="solid"/>
                  <a:miter lim="800000"/>
                  <a:tailEnd type="triangle"/>
                </a:ln>
                <a:effectLst/>
              </p:spPr>
            </p:cxnSp>
            <p:cxnSp>
              <p:nvCxnSpPr>
                <p:cNvPr id="157" name="Elbow Connector 156"/>
                <p:cNvCxnSpPr/>
                <p:nvPr/>
              </p:nvCxnSpPr>
              <p:spPr>
                <a:xfrm flipH="1">
                  <a:off x="4557521" y="3486679"/>
                  <a:ext cx="2091149" cy="882650"/>
                </a:xfrm>
                <a:prstGeom prst="bentConnector3">
                  <a:avLst>
                    <a:gd name="adj1" fmla="val -4384"/>
                  </a:avLst>
                </a:prstGeom>
                <a:noFill/>
                <a:ln w="19050" cap="flat" cmpd="sng" algn="ctr">
                  <a:solidFill>
                    <a:srgbClr val="70AD47"/>
                  </a:solidFill>
                  <a:prstDash val="solid"/>
                  <a:miter lim="800000"/>
                  <a:tailEnd type="triangle"/>
                </a:ln>
                <a:effectLst/>
              </p:spPr>
            </p:cxnSp>
            <p:cxnSp>
              <p:nvCxnSpPr>
                <p:cNvPr id="158" name="Elbow Connector 157"/>
                <p:cNvCxnSpPr/>
                <p:nvPr/>
              </p:nvCxnSpPr>
              <p:spPr>
                <a:xfrm flipH="1">
                  <a:off x="4541094" y="2399581"/>
                  <a:ext cx="2223920" cy="2228850"/>
                </a:xfrm>
                <a:prstGeom prst="bentConnector3">
                  <a:avLst>
                    <a:gd name="adj1" fmla="val -6234"/>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9" name="Elbow Connector 158"/>
                <p:cNvCxnSpPr/>
                <p:nvPr/>
              </p:nvCxnSpPr>
              <p:spPr>
                <a:xfrm flipH="1">
                  <a:off x="4556479" y="1167045"/>
                  <a:ext cx="2124342" cy="3689350"/>
                </a:xfrm>
                <a:prstGeom prst="bentConnector3">
                  <a:avLst>
                    <a:gd name="adj1" fmla="val -16958"/>
                  </a:avLst>
                </a:prstGeom>
                <a:noFill/>
                <a:ln w="19050" cap="flat" cmpd="sng" algn="ctr">
                  <a:solidFill>
                    <a:srgbClr val="ED7D31"/>
                  </a:solidFill>
                  <a:prstDash val="solid"/>
                  <a:miter lim="800000"/>
                  <a:tailEnd type="triangle"/>
                </a:ln>
                <a:effectLst/>
              </p:spPr>
            </p:cxnSp>
            <p:cxnSp>
              <p:nvCxnSpPr>
                <p:cNvPr id="160" name="Elbow Connector 159"/>
                <p:cNvCxnSpPr/>
                <p:nvPr/>
              </p:nvCxnSpPr>
              <p:spPr>
                <a:xfrm>
                  <a:off x="1814720" y="3519064"/>
                  <a:ext cx="1095364" cy="850900"/>
                </a:xfrm>
                <a:prstGeom prst="bentConnector3">
                  <a:avLst/>
                </a:prstGeom>
                <a:noFill/>
                <a:ln w="19050" cap="flat" cmpd="sng" algn="ctr">
                  <a:solidFill>
                    <a:srgbClr val="70AD47"/>
                  </a:solidFill>
                  <a:prstDash val="solid"/>
                  <a:miter lim="800000"/>
                </a:ln>
                <a:effectLst/>
              </p:spPr>
            </p:cxnSp>
            <p:cxnSp>
              <p:nvCxnSpPr>
                <p:cNvPr id="161" name="Elbow Connector 160"/>
                <p:cNvCxnSpPr/>
                <p:nvPr/>
              </p:nvCxnSpPr>
              <p:spPr>
                <a:xfrm>
                  <a:off x="1827639" y="2319581"/>
                  <a:ext cx="1294520" cy="2209800"/>
                </a:xfrm>
                <a:prstGeom prst="bentConnector3">
                  <a:avLst/>
                </a:prstGeom>
                <a:ln/>
              </p:spPr>
              <p:style>
                <a:lnRef idx="3">
                  <a:schemeClr val="accent3"/>
                </a:lnRef>
                <a:fillRef idx="0">
                  <a:schemeClr val="accent3"/>
                </a:fillRef>
                <a:effectRef idx="2">
                  <a:schemeClr val="accent3"/>
                </a:effectRef>
                <a:fontRef idx="minor">
                  <a:schemeClr val="tx1"/>
                </a:fontRef>
              </p:style>
            </p:cxnSp>
            <p:cxnSp>
              <p:nvCxnSpPr>
                <p:cNvPr id="162" name="Elbow Connector 161"/>
                <p:cNvCxnSpPr/>
                <p:nvPr/>
              </p:nvCxnSpPr>
              <p:spPr>
                <a:xfrm>
                  <a:off x="1718384" y="1439986"/>
                  <a:ext cx="1759224" cy="3352800"/>
                </a:xfrm>
                <a:prstGeom prst="bentConnector3">
                  <a:avLst>
                    <a:gd name="adj1" fmla="val 50629"/>
                  </a:avLst>
                </a:prstGeom>
                <a:noFill/>
                <a:ln w="19050" cap="flat" cmpd="sng" algn="ctr">
                  <a:solidFill>
                    <a:srgbClr val="ED7D31"/>
                  </a:solidFill>
                  <a:prstDash val="solid"/>
                  <a:miter lim="800000"/>
                </a:ln>
                <a:effectLst/>
              </p:spPr>
            </p:cxnSp>
            <p:sp>
              <p:nvSpPr>
                <p:cNvPr id="163" name="Rounded Rectangle 162"/>
                <p:cNvSpPr/>
                <p:nvPr/>
              </p:nvSpPr>
              <p:spPr>
                <a:xfrm>
                  <a:off x="4803109" y="3057158"/>
                  <a:ext cx="1824319" cy="1066800"/>
                </a:xfrm>
                <a:prstGeom prst="roundRect">
                  <a:avLst/>
                </a:prstGeom>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051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Sensor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Sensitivity &amp; resolution</a:t>
                  </a:r>
                  <a:endParaRPr kumimoji="0" lang="en-US" sz="10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7051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Sensor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SoC contribution</a:t>
                  </a:r>
                  <a:endParaRPr kumimoji="0" lang="en-US" sz="10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7051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Accuracy of Sensor Measurements</a:t>
                  </a:r>
                  <a:endParaRPr kumimoji="0" lang="en-US" sz="10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270510" lvl="0" indent="-228600">
                    <a:lnSpc>
                      <a:spcPct val="106000"/>
                    </a:lnSpc>
                    <a:buFont typeface="+mj-lt"/>
                    <a:buAutoNum type="arabicPeriod"/>
                    <a:defRPr/>
                  </a:pP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Sensor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Uptime (</a:t>
                  </a:r>
                  <a:r>
                    <a:rPr lang="en-US" sz="1100" dirty="0" smtClean="0">
                      <a:solidFill>
                        <a:srgbClr val="000000"/>
                      </a:solidFill>
                      <a:latin typeface="Times New Roman" panose="02020603050405020304" pitchFamily="18" charset="0"/>
                      <a:ea typeface="Calibri" panose="020F0502020204030204" pitchFamily="34" charset="0"/>
                    </a:rPr>
                    <a:t>T</a:t>
                  </a:r>
                  <a:r>
                    <a:rPr lang="en-US" sz="800" dirty="0" smtClean="0">
                      <a:solidFill>
                        <a:srgbClr val="000000"/>
                      </a:solidFill>
                      <a:latin typeface="Times New Roman" panose="02020603050405020304" pitchFamily="18" charset="0"/>
                      <a:ea typeface="Calibri" panose="020F0502020204030204" pitchFamily="34" charset="0"/>
                    </a:rPr>
                    <a:t>active</a:t>
                  </a:r>
                  <a:r>
                    <a:rPr kumimoji="0" lang="en-US"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 </a:t>
                  </a:r>
                  <a:r>
                    <a:rPr kumimoji="0" lang="en-US"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)(h)</a:t>
                  </a:r>
                  <a:endParaRPr kumimoji="0" lang="en-US" sz="10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cxnSp>
              <p:nvCxnSpPr>
                <p:cNvPr id="164" name="Straight Arrow Connector 163"/>
                <p:cNvCxnSpPr/>
                <p:nvPr/>
              </p:nvCxnSpPr>
              <p:spPr>
                <a:xfrm>
                  <a:off x="4537566" y="3498571"/>
                  <a:ext cx="265543"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65" name="Rounded Rectangle 164"/>
                <p:cNvSpPr/>
                <p:nvPr/>
              </p:nvSpPr>
              <p:spPr>
                <a:xfrm>
                  <a:off x="2917476" y="2882088"/>
                  <a:ext cx="1616225" cy="1066800"/>
                </a:xfrm>
                <a:prstGeom prst="roundRect">
                  <a:avLst/>
                </a:prstGeom>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lang="en-GB" sz="1000" dirty="0" smtClean="0">
                      <a:solidFill>
                        <a:srgbClr val="000000"/>
                      </a:solidFill>
                      <a:latin typeface="Times New Roman" panose="02020603050405020304" pitchFamily="18" charset="0"/>
                      <a:ea typeface="Calibri" panose="020F0502020204030204" pitchFamily="34" charset="0"/>
                    </a:rPr>
                    <a:t>Automatic</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 sensor mode</a:t>
                  </a:r>
                  <a:r>
                    <a:rPr lang="en-US" sz="1200" kern="0" dirty="0" smtClean="0">
                      <a:solidFill>
                        <a:sysClr val="windowText" lastClr="000000"/>
                      </a:solidFill>
                      <a:latin typeface="Times New Roman" panose="02020603050405020304" pitchFamily="18" charset="0"/>
                      <a:ea typeface="Calibri" panose="020F0502020204030204" pitchFamily="34" charset="0"/>
                    </a:rPr>
                    <a:t> </a:t>
                  </a: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(idle </a:t>
                  </a:r>
                  <a:r>
                    <a:rPr kumimoji="0" lang="en-GB" sz="1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&amp; active)</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340" lvl="0" indent="-228600">
                    <a:lnSpc>
                      <a:spcPct val="106000"/>
                    </a:lnSpc>
                    <a:buFont typeface="+mj-lt"/>
                    <a:buAutoNum type="arabicPeriod"/>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Calibration &amp; Sensor sensitivity </a:t>
                  </a:r>
                  <a:r>
                    <a:rPr lang="en-GB" sz="1200" noProof="0" dirty="0" smtClean="0">
                      <a:solidFill>
                        <a:srgbClr val="000000"/>
                      </a:solidFill>
                      <a:latin typeface="Times New Roman" panose="02020603050405020304" pitchFamily="18" charset="0"/>
                      <a:ea typeface="Calibri" panose="020F0502020204030204" pitchFamily="34" charset="0"/>
                    </a:rPr>
                    <a:t>a</a:t>
                  </a:r>
                  <a:r>
                    <a:rPr lang="en-GB" sz="1200" dirty="0" smtClean="0">
                      <a:solidFill>
                        <a:srgbClr val="000000"/>
                      </a:solidFill>
                      <a:latin typeface="Times New Roman" panose="02020603050405020304" pitchFamily="18" charset="0"/>
                      <a:ea typeface="Calibri" panose="020F0502020204030204" pitchFamily="34" charset="0"/>
                    </a:rPr>
                    <a:t>djustment </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180340" marR="0" lvl="0" indent="-2286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Bus/interface selection (I2C, SPI, UART)</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66" name="Rounded Rectangle 165"/>
                <p:cNvSpPr/>
                <p:nvPr/>
              </p:nvSpPr>
              <p:spPr>
                <a:xfrm>
                  <a:off x="-80130" y="3849396"/>
                  <a:ext cx="1886762" cy="1513539"/>
                </a:xfrm>
                <a:prstGeom prst="roundRect">
                  <a:avLst/>
                </a:prstGeom>
                <a:ln w="38100"/>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GB" sz="1000" b="1"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Firmware (PI)</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a:p>
                  <a:pPr marL="342900" marR="0" lvl="0" indent="-342900" defTabSz="914400" eaLnBrk="1" fontAlgn="auto" latinLnBrk="0" hangingPunct="1">
                    <a:lnSpc>
                      <a:spcPct val="106000"/>
                    </a:lnSpc>
                    <a:spcBef>
                      <a:spcPts val="0"/>
                    </a:spcBef>
                    <a:spcAft>
                      <a:spcPts val="0"/>
                    </a:spcAft>
                    <a:buClrTx/>
                    <a:buSzTx/>
                    <a:buFont typeface="+mj-lt"/>
                    <a:buAutoNum type="arabicPeriod"/>
                    <a:tabLst/>
                    <a:defRPr/>
                  </a:pPr>
                  <a:r>
                    <a:rPr kumimoji="0" lang="en-GB" sz="1000" b="1" i="0" u="none" strike="noStrike" kern="1200" cap="none" spc="0" normalizeH="0" baseline="0" noProof="0" dirty="0" smtClean="0">
                      <a:ln>
                        <a:noFill/>
                      </a:ln>
                      <a:solidFill>
                        <a:schemeClr val="accent6"/>
                      </a:solidFill>
                      <a:effectLst/>
                      <a:uLnTx/>
                      <a:uFillTx/>
                      <a:latin typeface="Times New Roman" panose="02020603050405020304" pitchFamily="18" charset="0"/>
                      <a:ea typeface="Calibri" panose="020F0502020204030204" pitchFamily="34" charset="0"/>
                      <a:cs typeface="+mn-cs"/>
                    </a:rPr>
                    <a:t>Sensor mode selection (idle &amp; active)</a:t>
                  </a:r>
                </a:p>
                <a:p>
                  <a:pPr marL="342900" marR="0" lvl="0" indent="-3429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chemeClr val="accent1"/>
                      </a:solidFill>
                      <a:effectLst/>
                      <a:uLnTx/>
                      <a:uFillTx/>
                      <a:latin typeface="Times New Roman" panose="02020603050405020304" pitchFamily="18" charset="0"/>
                      <a:ea typeface="Calibri" panose="020F0502020204030204" pitchFamily="34" charset="0"/>
                      <a:cs typeface="+mn-cs"/>
                    </a:rPr>
                    <a:t>Transmit scheduling based on data </a:t>
                  </a:r>
                  <a:r>
                    <a:rPr kumimoji="0" lang="en-GB" sz="1000" b="0" i="0" u="none" strike="noStrike" kern="1200" cap="none" spc="0" normalizeH="0" baseline="0" noProof="0" dirty="0">
                      <a:ln>
                        <a:noFill/>
                      </a:ln>
                      <a:solidFill>
                        <a:schemeClr val="accent1"/>
                      </a:solidFill>
                      <a:effectLst/>
                      <a:uLnTx/>
                      <a:uFillTx/>
                      <a:latin typeface="Times New Roman" panose="02020603050405020304" pitchFamily="18" charset="0"/>
                      <a:ea typeface="Calibri" panose="020F0502020204030204" pitchFamily="34" charset="0"/>
                      <a:cs typeface="+mn-cs"/>
                    </a:rPr>
                    <a:t>type &amp; </a:t>
                  </a:r>
                  <a:r>
                    <a:rPr kumimoji="0" lang="en-GB" sz="1000" b="0" i="0" u="none" strike="noStrike" kern="1200" cap="none" spc="0" normalizeH="0" baseline="0" noProof="0" dirty="0" smtClean="0">
                      <a:ln>
                        <a:noFill/>
                      </a:ln>
                      <a:solidFill>
                        <a:schemeClr val="accent1"/>
                      </a:solidFill>
                      <a:effectLst/>
                      <a:uLnTx/>
                      <a:uFillTx/>
                      <a:latin typeface="Times New Roman" panose="02020603050405020304" pitchFamily="18" charset="0"/>
                      <a:ea typeface="Calibri" panose="020F0502020204030204" pitchFamily="34" charset="0"/>
                      <a:cs typeface="+mn-cs"/>
                    </a:rPr>
                    <a:t>packet</a:t>
                  </a:r>
                  <a:r>
                    <a:rPr kumimoji="0" lang="en-GB" sz="1000" b="0" i="0" u="none" strike="noStrike" kern="1200" cap="none" spc="0" normalizeH="0" noProof="0" dirty="0" smtClean="0">
                      <a:ln>
                        <a:noFill/>
                      </a:ln>
                      <a:solidFill>
                        <a:schemeClr val="accent1"/>
                      </a:solidFill>
                      <a:effectLst/>
                      <a:uLnTx/>
                      <a:uFillTx/>
                      <a:latin typeface="Times New Roman" panose="02020603050405020304" pitchFamily="18" charset="0"/>
                      <a:ea typeface="Calibri" panose="020F0502020204030204" pitchFamily="34" charset="0"/>
                      <a:cs typeface="+mn-cs"/>
                    </a:rPr>
                    <a:t> </a:t>
                  </a:r>
                  <a:r>
                    <a:rPr kumimoji="0" lang="en-GB" sz="1000" b="0" i="0" u="none" strike="noStrike" kern="1200" cap="none" spc="0" normalizeH="0" baseline="0" noProof="0" dirty="0" smtClean="0">
                      <a:ln>
                        <a:noFill/>
                      </a:ln>
                      <a:solidFill>
                        <a:schemeClr val="accent1"/>
                      </a:solidFill>
                      <a:effectLst/>
                      <a:uLnTx/>
                      <a:uFillTx/>
                      <a:latin typeface="Times New Roman" panose="02020603050405020304" pitchFamily="18" charset="0"/>
                      <a:ea typeface="Calibri" panose="020F0502020204030204" pitchFamily="34" charset="0"/>
                      <a:cs typeface="+mn-cs"/>
                    </a:rPr>
                    <a:t>Size </a:t>
                  </a:r>
                  <a:r>
                    <a:rPr kumimoji="0" lang="en-GB" sz="1000" b="0" i="0" u="none" strike="noStrike" kern="1200" cap="none" spc="0" normalizeH="0" baseline="0" noProof="0" dirty="0">
                      <a:ln>
                        <a:noFill/>
                      </a:ln>
                      <a:solidFill>
                        <a:schemeClr val="accent1"/>
                      </a:solidFill>
                      <a:effectLst/>
                      <a:uLnTx/>
                      <a:uFillTx/>
                      <a:latin typeface="Times New Roman" panose="02020603050405020304" pitchFamily="18" charset="0"/>
                      <a:ea typeface="Calibri" panose="020F0502020204030204" pitchFamily="34" charset="0"/>
                      <a:cs typeface="+mn-cs"/>
                    </a:rPr>
                    <a:t>(A/D, Bits)</a:t>
                  </a:r>
                  <a:endParaRPr kumimoji="0" lang="en-US" sz="1200" b="0" i="0" u="none" strike="noStrike" kern="0" cap="none" spc="0" normalizeH="0" baseline="0" noProof="0" dirty="0">
                    <a:ln>
                      <a:noFill/>
                    </a:ln>
                    <a:solidFill>
                      <a:schemeClr val="accent1"/>
                    </a:solidFill>
                    <a:effectLst/>
                    <a:uLnTx/>
                    <a:uFillTx/>
                    <a:latin typeface="Times New Roman" panose="02020603050405020304" pitchFamily="18" charset="0"/>
                    <a:ea typeface="Times New Roman" panose="02020603050405020304" pitchFamily="18" charset="0"/>
                    <a:cs typeface="+mn-cs"/>
                  </a:endParaRPr>
                </a:p>
                <a:p>
                  <a:pPr marL="342900" indent="-342900">
                    <a:lnSpc>
                      <a:spcPct val="106000"/>
                    </a:lnSpc>
                    <a:buFont typeface="+mj-lt"/>
                    <a:buAutoNum type="arabicPeriod"/>
                    <a:defRPr/>
                  </a:pPr>
                  <a:r>
                    <a:rPr lang="en-GB" sz="1000" dirty="0">
                      <a:solidFill>
                        <a:schemeClr val="accent1"/>
                      </a:solidFill>
                      <a:latin typeface="Times New Roman" panose="02020603050405020304" pitchFamily="18" charset="0"/>
                      <a:ea typeface="Calibri" panose="020F0502020204030204" pitchFamily="34" charset="0"/>
                    </a:rPr>
                    <a:t>Adaptive Protocol Switching (dBm)</a:t>
                  </a:r>
                  <a:endParaRPr lang="en-US" sz="1200" kern="0" dirty="0">
                    <a:solidFill>
                      <a:schemeClr val="accent1"/>
                    </a:solidFill>
                    <a:latin typeface="Times New Roman" panose="02020603050405020304" pitchFamily="18" charset="0"/>
                    <a:ea typeface="Times New Roman" panose="02020603050405020304" pitchFamily="18" charset="0"/>
                  </a:endParaRPr>
                </a:p>
                <a:p>
                  <a:pPr marL="342900" indent="-342900">
                    <a:lnSpc>
                      <a:spcPct val="106000"/>
                    </a:lnSpc>
                    <a:buFont typeface="+mj-lt"/>
                    <a:buAutoNum type="arabicPeriod"/>
                    <a:defRPr/>
                  </a:pPr>
                  <a:r>
                    <a:rPr lang="en-GB" sz="1000" dirty="0" smtClean="0">
                      <a:solidFill>
                        <a:schemeClr val="accent2">
                          <a:lumMod val="75000"/>
                        </a:schemeClr>
                      </a:solidFill>
                      <a:latin typeface="Times New Roman" panose="02020603050405020304" pitchFamily="18" charset="0"/>
                      <a:ea typeface="Calibri" panose="020F0502020204030204" pitchFamily="34" charset="0"/>
                    </a:rPr>
                    <a:t>SoC </a:t>
                  </a:r>
                  <a:r>
                    <a:rPr lang="en-GB" sz="1000" dirty="0">
                      <a:solidFill>
                        <a:schemeClr val="accent2">
                          <a:lumMod val="75000"/>
                        </a:schemeClr>
                      </a:solidFill>
                      <a:latin typeface="Times New Roman" panose="02020603050405020304" pitchFamily="18" charset="0"/>
                      <a:ea typeface="Calibri" panose="020F0502020204030204" pitchFamily="34" charset="0"/>
                    </a:rPr>
                    <a:t>Adaptation algorithm </a:t>
                  </a:r>
                  <a:endParaRPr lang="en-US" sz="1200" kern="0" dirty="0">
                    <a:solidFill>
                      <a:schemeClr val="accent2">
                        <a:lumMod val="75000"/>
                      </a:schemeClr>
                    </a:solidFill>
                    <a:latin typeface="Times New Roman" panose="02020603050405020304" pitchFamily="18" charset="0"/>
                    <a:ea typeface="Times New Roman" panose="02020603050405020304" pitchFamily="18" charset="0"/>
                  </a:endParaRPr>
                </a:p>
                <a:p>
                  <a:pPr marL="0" marR="0" lvl="0" indent="0" algn="ctr" defTabSz="914400" eaLnBrk="1" fontAlgn="auto" latinLnBrk="0" hangingPunct="1">
                    <a:lnSpc>
                      <a:spcPct val="106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 </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67" name="Rounded Rectangle 166"/>
                <p:cNvSpPr/>
                <p:nvPr/>
              </p:nvSpPr>
              <p:spPr>
                <a:xfrm>
                  <a:off x="24354" y="-84861"/>
                  <a:ext cx="1545590" cy="304575"/>
                </a:xfrm>
                <a:prstGeom prst="roundRect">
                  <a:avLst/>
                </a:prstGeom>
                <a:solidFill>
                  <a:sysClr val="window" lastClr="FFFFFF"/>
                </a:solidFill>
                <a:ln w="12700" cap="flat" cmpd="sng" algn="ctr">
                  <a:solidFill>
                    <a:sysClr val="window" lastClr="FFFFFF"/>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INPUTS</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68" name="Rounded Rectangle 167"/>
                <p:cNvSpPr/>
                <p:nvPr/>
              </p:nvSpPr>
              <p:spPr>
                <a:xfrm>
                  <a:off x="2963826" y="-134359"/>
                  <a:ext cx="1663323" cy="332182"/>
                </a:xfrm>
                <a:prstGeom prst="roundRect">
                  <a:avLst/>
                </a:prstGeom>
                <a:solidFill>
                  <a:sysClr val="window" lastClr="FFFFFF"/>
                </a:solidFill>
                <a:ln w="12700" cap="flat" cmpd="sng" algn="ctr">
                  <a:solidFill>
                    <a:sysClr val="window" lastClr="FFFFFF"/>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PROCESSES</a:t>
                  </a:r>
                  <a:r>
                    <a:rPr kumimoji="0" 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 </a:t>
                  </a:r>
                  <a:r>
                    <a:rPr kumimoji="0" lang="en-US" sz="1400" b="0" i="0" u="none" strike="noStrike" kern="120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mn-cs"/>
                    </a:rPr>
                    <a:t>  </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169" name="Rounded Rectangle 168"/>
                <p:cNvSpPr/>
                <p:nvPr/>
              </p:nvSpPr>
              <p:spPr>
                <a:xfrm>
                  <a:off x="4908489" y="-175229"/>
                  <a:ext cx="1545590" cy="390525"/>
                </a:xfrm>
                <a:prstGeom prst="roundRect">
                  <a:avLst/>
                </a:prstGeom>
                <a:solidFill>
                  <a:sysClr val="window" lastClr="FFFFFF"/>
                </a:solidFill>
                <a:ln w="12700" cap="flat" cmpd="sng" algn="ctr">
                  <a:solidFill>
                    <a:sysClr val="window" lastClr="FFFFFF"/>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rPr>
                    <a:t>OUTPUTS</a:t>
                  </a:r>
                  <a:endPar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grpSp>
          <p:cxnSp>
            <p:nvCxnSpPr>
              <p:cNvPr id="140" name="Straight Arrow Connector 139"/>
              <p:cNvCxnSpPr/>
              <p:nvPr/>
            </p:nvCxnSpPr>
            <p:spPr>
              <a:xfrm rot="5400000">
                <a:off x="2466706" y="4637233"/>
                <a:ext cx="281305" cy="0"/>
              </a:xfrm>
              <a:prstGeom prst="straightConnector1">
                <a:avLst/>
              </a:prstGeom>
              <a:noFill/>
              <a:ln w="19050" cap="flat" cmpd="sng" algn="ctr">
                <a:solidFill>
                  <a:srgbClr val="ED7D31"/>
                </a:solidFill>
                <a:prstDash val="solid"/>
                <a:miter lim="800000"/>
                <a:tailEnd type="triangle"/>
              </a:ln>
              <a:effectLst/>
            </p:spPr>
          </p:cxnSp>
          <p:cxnSp>
            <p:nvCxnSpPr>
              <p:cNvPr id="141" name="Straight Arrow Connector 140"/>
              <p:cNvCxnSpPr/>
              <p:nvPr/>
            </p:nvCxnSpPr>
            <p:spPr>
              <a:xfrm rot="5400000">
                <a:off x="2335429" y="4378815"/>
                <a:ext cx="281305"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42" name="Straight Arrow Connector 141"/>
              <p:cNvCxnSpPr/>
              <p:nvPr/>
            </p:nvCxnSpPr>
            <p:spPr>
              <a:xfrm rot="5400000">
                <a:off x="2222674" y="4229320"/>
                <a:ext cx="281305" cy="0"/>
              </a:xfrm>
              <a:prstGeom prst="straightConnector1">
                <a:avLst/>
              </a:prstGeom>
              <a:noFill/>
              <a:ln w="19050" cap="flat" cmpd="sng" algn="ctr">
                <a:solidFill>
                  <a:srgbClr val="70AD47"/>
                </a:solidFill>
                <a:prstDash val="solid"/>
                <a:miter lim="800000"/>
                <a:tailEnd type="triangle"/>
              </a:ln>
              <a:effectLst/>
            </p:spPr>
          </p:cxnSp>
        </p:grpSp>
        <p:sp>
          <p:nvSpPr>
            <p:cNvPr id="48" name="Rounded Rectangle 47"/>
            <p:cNvSpPr/>
            <p:nvPr/>
          </p:nvSpPr>
          <p:spPr>
            <a:xfrm>
              <a:off x="3820114" y="5179294"/>
              <a:ext cx="1768911" cy="1506809"/>
            </a:xfrm>
            <a:prstGeom prst="roundRect">
              <a:avLst/>
            </a:prstGeom>
            <a:ln w="38100"/>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6000"/>
                </a:lnSpc>
                <a:buFont typeface="+mj-lt"/>
                <a:buAutoNum type="arabicPeriod"/>
                <a:defRPr/>
              </a:pPr>
              <a:r>
                <a:rPr lang="en-GB" sz="1000" b="1" kern="0" dirty="0" smtClean="0">
                  <a:solidFill>
                    <a:schemeClr val="accent6"/>
                  </a:solidFill>
                  <a:latin typeface="Times New Roman" panose="02020603050405020304" pitchFamily="18" charset="0"/>
                  <a:ea typeface="Calibri" panose="020F0502020204030204" pitchFamily="34" charset="0"/>
                </a:rPr>
                <a:t>Sensor Sensitivity </a:t>
              </a:r>
              <a:r>
                <a:rPr lang="en-GB" sz="1000" b="1" kern="0" dirty="0">
                  <a:solidFill>
                    <a:schemeClr val="accent6"/>
                  </a:solidFill>
                  <a:latin typeface="Times New Roman" panose="02020603050405020304" pitchFamily="18" charset="0"/>
                  <a:ea typeface="Calibri" panose="020F0502020204030204" pitchFamily="34" charset="0"/>
                </a:rPr>
                <a:t>Adjustment</a:t>
              </a:r>
            </a:p>
            <a:p>
              <a:pPr marL="342900" indent="-342900">
                <a:lnSpc>
                  <a:spcPct val="106000"/>
                </a:lnSpc>
                <a:buFont typeface="+mj-lt"/>
                <a:buAutoNum type="arabicPeriod"/>
                <a:defRPr/>
              </a:pPr>
              <a:r>
                <a:rPr lang="en-GB" sz="1000" dirty="0">
                  <a:solidFill>
                    <a:schemeClr val="accent1"/>
                  </a:solidFill>
                  <a:latin typeface="Times New Roman" panose="02020603050405020304" pitchFamily="18" charset="0"/>
                  <a:ea typeface="Calibri" panose="020F0502020204030204" pitchFamily="34" charset="0"/>
                </a:rPr>
                <a:t>Network protocol Adaptation</a:t>
              </a:r>
            </a:p>
            <a:p>
              <a:pPr marL="342900" marR="0" lvl="0" indent="-342900" defTabSz="914400" eaLnBrk="1" fontAlgn="auto" latinLnBrk="0" hangingPunct="1">
                <a:lnSpc>
                  <a:spcPct val="106000"/>
                </a:lnSpc>
                <a:spcBef>
                  <a:spcPts val="0"/>
                </a:spcBef>
                <a:spcAft>
                  <a:spcPts val="0"/>
                </a:spcAft>
                <a:buClrTx/>
                <a:buSzTx/>
                <a:buFont typeface="+mj-lt"/>
                <a:buAutoNum type="arabicPeriod"/>
                <a:tabLst/>
                <a:defRPr/>
              </a:pPr>
              <a:r>
                <a:rPr kumimoji="0" lang="en-GB" sz="1000" b="0" i="0" u="none" strike="noStrike" kern="1200" cap="none" spc="0" normalizeH="0" baseline="0" noProof="0" dirty="0" smtClean="0">
                  <a:ln>
                    <a:noFill/>
                  </a:ln>
                  <a:solidFill>
                    <a:schemeClr val="accent2">
                      <a:lumMod val="75000"/>
                    </a:schemeClr>
                  </a:solidFill>
                  <a:effectLst/>
                  <a:uLnTx/>
                  <a:uFillTx/>
                  <a:latin typeface="Times New Roman" panose="02020603050405020304" pitchFamily="18" charset="0"/>
                  <a:ea typeface="Calibri" panose="020F0502020204030204" pitchFamily="34" charset="0"/>
                  <a:cs typeface="+mn-cs"/>
                </a:rPr>
                <a:t>Dynamic adjustment of SoC </a:t>
              </a:r>
              <a:r>
                <a:rPr lang="en-GB" sz="1000" dirty="0" smtClean="0">
                  <a:solidFill>
                    <a:schemeClr val="accent2">
                      <a:lumMod val="75000"/>
                    </a:schemeClr>
                  </a:solidFill>
                  <a:latin typeface="Times New Roman" panose="02020603050405020304" pitchFamily="18" charset="0"/>
                  <a:ea typeface="Calibri" panose="020F0502020204030204" pitchFamily="34" charset="0"/>
                </a:rPr>
                <a:t>Thresholds</a:t>
              </a:r>
            </a:p>
          </p:txBody>
        </p:sp>
        <p:cxnSp>
          <p:nvCxnSpPr>
            <p:cNvPr id="49" name="Straight Arrow Connector 48"/>
            <p:cNvCxnSpPr/>
            <p:nvPr/>
          </p:nvCxnSpPr>
          <p:spPr>
            <a:xfrm>
              <a:off x="3545566" y="5548224"/>
              <a:ext cx="25200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50" name="Straight Arrow Connector 49"/>
            <p:cNvCxnSpPr/>
            <p:nvPr/>
          </p:nvCxnSpPr>
          <p:spPr>
            <a:xfrm>
              <a:off x="3509921" y="5722730"/>
              <a:ext cx="288000"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51" name="Straight Arrow Connector 50"/>
            <p:cNvCxnSpPr/>
            <p:nvPr/>
          </p:nvCxnSpPr>
          <p:spPr>
            <a:xfrm>
              <a:off x="2618392" y="6017654"/>
              <a:ext cx="11880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cxnSp>
        <p:nvCxnSpPr>
          <p:cNvPr id="9" name="Straight Connector 8"/>
          <p:cNvCxnSpPr/>
          <p:nvPr/>
        </p:nvCxnSpPr>
        <p:spPr>
          <a:xfrm flipV="1">
            <a:off x="4305519" y="5439826"/>
            <a:ext cx="613673"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57" name="Straight Connector 56"/>
          <p:cNvCxnSpPr/>
          <p:nvPr/>
        </p:nvCxnSpPr>
        <p:spPr>
          <a:xfrm flipV="1">
            <a:off x="4288723" y="5613050"/>
            <a:ext cx="864000" cy="0"/>
          </a:xfrm>
          <a:prstGeom prst="line">
            <a:avLst/>
          </a:prstGeom>
        </p:spPr>
        <p:style>
          <a:lnRef idx="3">
            <a:schemeClr val="accent3"/>
          </a:lnRef>
          <a:fillRef idx="0">
            <a:schemeClr val="accent3"/>
          </a:fillRef>
          <a:effectRef idx="2">
            <a:schemeClr val="accent3"/>
          </a:effectRef>
          <a:fontRef idx="minor">
            <a:schemeClr val="tx1"/>
          </a:fontRef>
        </p:style>
      </p:cxnSp>
      <p:sp>
        <p:nvSpPr>
          <p:cNvPr id="46" name="Rectangle 45"/>
          <p:cNvSpPr/>
          <p:nvPr/>
        </p:nvSpPr>
        <p:spPr>
          <a:xfrm>
            <a:off x="8025932" y="6428598"/>
            <a:ext cx="3198311" cy="369332"/>
          </a:xfrm>
          <a:prstGeom prst="rect">
            <a:avLst/>
          </a:prstGeom>
        </p:spPr>
        <p:txBody>
          <a:bodyPr wrap="none">
            <a:spAutoFit/>
          </a:bodyPr>
          <a:lstStyle/>
          <a:p>
            <a:r>
              <a:rPr lang="en-GB" dirty="0">
                <a:latin typeface="Times New Roman" panose="02020603050405020304" pitchFamily="18" charset="0"/>
                <a:ea typeface="Calibri" panose="020F0502020204030204" pitchFamily="34" charset="0"/>
                <a:cs typeface="Times New Roman" panose="02020603050405020304" pitchFamily="18" charset="0"/>
              </a:rPr>
              <a:t>Figure </a:t>
            </a:r>
            <a:r>
              <a:rPr lang="en-GB" dirty="0" smtClean="0">
                <a:latin typeface="Times New Roman" panose="02020603050405020304" pitchFamily="18" charset="0"/>
                <a:ea typeface="Calibri" panose="020F0502020204030204" pitchFamily="34" charset="0"/>
                <a:cs typeface="Times New Roman" panose="02020603050405020304" pitchFamily="18" charset="0"/>
              </a:rPr>
              <a:t>2. </a:t>
            </a:r>
            <a:r>
              <a:rPr lang="en-GB" dirty="0" smtClean="0">
                <a:latin typeface="Times New Roman" panose="02020603050405020304" pitchFamily="18" charset="0"/>
                <a:cs typeface="Times New Roman" panose="02020603050405020304" pitchFamily="18" charset="0"/>
              </a:rPr>
              <a:t>Conceptual framework</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B87FC41-F35B-458E-AD48-D36E6575979E}" type="slidenum">
              <a:rPr lang="en-US" smtClean="0"/>
              <a:t>10</a:t>
            </a:fld>
            <a:endParaRPr lang="en-US" dirty="0"/>
          </a:p>
        </p:txBody>
      </p:sp>
    </p:spTree>
    <p:extLst>
      <p:ext uri="{BB962C8B-B14F-4D97-AF65-F5344CB8AC3E}">
        <p14:creationId xmlns:p14="http://schemas.microsoft.com/office/powerpoint/2010/main" val="31000676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44E00F3-35C1-1487-EF53-4D7B2FFC0E06}"/>
            </a:ext>
          </a:extLst>
        </p:cNvPr>
        <p:cNvGrpSpPr/>
        <p:nvPr/>
      </p:nvGrpSpPr>
      <p:grpSpPr>
        <a:xfrm>
          <a:off x="0" y="0"/>
          <a:ext cx="0" cy="0"/>
          <a:chOff x="0" y="0"/>
          <a:chExt cx="0" cy="0"/>
        </a:xfrm>
      </p:grpSpPr>
      <p:sp>
        <p:nvSpPr>
          <p:cNvPr id="53" name="TextBox 52">
            <a:extLst>
              <a:ext uri="{FF2B5EF4-FFF2-40B4-BE49-F238E27FC236}">
                <a16:creationId xmlns="" xmlns:a16="http://schemas.microsoft.com/office/drawing/2014/main" id="{A273858E-A100-3E2B-C74D-80D581835B23}"/>
              </a:ext>
            </a:extLst>
          </p:cNvPr>
          <p:cNvSpPr txBox="1"/>
          <p:nvPr/>
        </p:nvSpPr>
        <p:spPr>
          <a:xfrm>
            <a:off x="4900022" y="80761"/>
            <a:ext cx="2549108" cy="584775"/>
          </a:xfrm>
          <a:prstGeom prst="rect">
            <a:avLst/>
          </a:prstGeom>
          <a:noFill/>
        </p:spPr>
        <p:txBody>
          <a:bodyPr wrap="square">
            <a:spAutoFit/>
          </a:bodyPr>
          <a:lstStyle/>
          <a:p>
            <a:r>
              <a:rPr lang="en-US" sz="3200" b="1" dirty="0" smtClean="0">
                <a:latin typeface="Times New Roman" panose="02020603050405020304" pitchFamily="18" charset="0"/>
                <a:cs typeface="Times New Roman" panose="02020603050405020304" pitchFamily="18" charset="0"/>
              </a:rPr>
              <a:t>Methodology</a:t>
            </a:r>
            <a:endParaRPr lang="en-US" sz="3200" b="1" dirty="0">
              <a:latin typeface="Times New Roman" panose="02020603050405020304" pitchFamily="18" charset="0"/>
              <a:cs typeface="Times New Roman" panose="02020603050405020304" pitchFamily="18" charset="0"/>
            </a:endParaRPr>
          </a:p>
        </p:txBody>
      </p:sp>
      <p:sp>
        <p:nvSpPr>
          <p:cNvPr id="54" name="Rectangle 53"/>
          <p:cNvSpPr/>
          <p:nvPr/>
        </p:nvSpPr>
        <p:spPr>
          <a:xfrm>
            <a:off x="1030147" y="1107172"/>
            <a:ext cx="10126315" cy="1477328"/>
          </a:xfrm>
          <a:prstGeom prst="rect">
            <a:avLst/>
          </a:prstGeom>
        </p:spPr>
        <p:txBody>
          <a:bodyPr wrap="square">
            <a:spAutoFit/>
          </a:bodyPr>
          <a:lstStyle/>
          <a:p>
            <a:pPr lvl="0" algn="just">
              <a:lnSpc>
                <a:spcPct val="150000"/>
              </a:lnSpc>
              <a:spcAft>
                <a:spcPts val="0"/>
              </a:spcAft>
            </a:pPr>
            <a:r>
              <a:rPr lang="en-GB" sz="2000" dirty="0" smtClean="0">
                <a:latin typeface="Times New Roman" panose="02020603050405020304" pitchFamily="18" charset="0"/>
                <a:ea typeface="Calibri" panose="020F0502020204030204" pitchFamily="34" charset="0"/>
                <a:cs typeface="Times New Roman" panose="02020603050405020304" pitchFamily="18" charset="0"/>
              </a:rPr>
              <a:t>To develop the proposed AWS system, this </a:t>
            </a:r>
            <a:r>
              <a:rPr lang="en-GB" sz="2000" dirty="0">
                <a:latin typeface="Times New Roman" panose="02020603050405020304" pitchFamily="18" charset="0"/>
                <a:ea typeface="Calibri" panose="020F0502020204030204" pitchFamily="34" charset="0"/>
                <a:cs typeface="Times New Roman" panose="02020603050405020304" pitchFamily="18" charset="0"/>
              </a:rPr>
              <a:t>study </a:t>
            </a:r>
            <a:r>
              <a:rPr lang="en-GB" sz="2000" dirty="0" smtClean="0">
                <a:latin typeface="Times New Roman" panose="02020603050405020304" pitchFamily="18" charset="0"/>
                <a:ea typeface="Calibri" panose="020F0502020204030204" pitchFamily="34" charset="0"/>
                <a:cs typeface="Times New Roman" panose="02020603050405020304" pitchFamily="18" charset="0"/>
              </a:rPr>
              <a:t>will adopt mixed methods of scientific research  including, case studies, comparative, simulation-based, analytical, experimental </a:t>
            </a:r>
            <a:r>
              <a:rPr lang="en-GB" sz="2000" dirty="0">
                <a:latin typeface="Times New Roman" panose="02020603050405020304" pitchFamily="18" charset="0"/>
                <a:ea typeface="Calibri" panose="020F0502020204030204" pitchFamily="34" charset="0"/>
                <a:cs typeface="Times New Roman" panose="02020603050405020304" pitchFamily="18" charset="0"/>
              </a:rPr>
              <a:t>research design </a:t>
            </a:r>
            <a:r>
              <a:rPr lang="en-GB" sz="2000" dirty="0" smtClean="0">
                <a:latin typeface="Times New Roman" panose="02020603050405020304" pitchFamily="18" charset="0"/>
                <a:ea typeface="Calibri" panose="020F0502020204030204" pitchFamily="34" charset="0"/>
                <a:cs typeface="Times New Roman" panose="02020603050405020304" pitchFamily="18" charset="0"/>
              </a:rPr>
              <a:t>and quantitative approach. </a:t>
            </a: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1030147" y="3739793"/>
            <a:ext cx="10725149" cy="2169825"/>
          </a:xfrm>
          <a:prstGeom prst="rect">
            <a:avLst/>
          </a:prstGeom>
        </p:spPr>
        <p:txBody>
          <a:bodyPr wrap="square">
            <a:spAutoFit/>
          </a:bodyPr>
          <a:lstStyle/>
          <a:p>
            <a:pPr marL="285750" lvl="0" indent="-285750" algn="just">
              <a:lnSpc>
                <a:spcPct val="150000"/>
              </a:lnSpc>
              <a:spcAft>
                <a:spcPts val="0"/>
              </a:spcAft>
              <a:buFont typeface="Wingdings" panose="05000000000000000000" pitchFamily="2" charset="2"/>
              <a:buChar char="v"/>
            </a:pPr>
            <a:r>
              <a:rPr lang="en-GB" dirty="0" smtClean="0">
                <a:latin typeface="Times New Roman" panose="02020603050405020304" pitchFamily="18" charset="0"/>
                <a:ea typeface="Calibri" panose="020F0502020204030204" pitchFamily="34" charset="0"/>
                <a:cs typeface="Times New Roman" panose="02020603050405020304" pitchFamily="18" charset="0"/>
              </a:rPr>
              <a:t>System requirements and specifications identification, </a:t>
            </a:r>
            <a:r>
              <a:rPr lang="en-GB" dirty="0" smtClean="0">
                <a:latin typeface="Times New Roman" panose="02020603050405020304" pitchFamily="18" charset="0"/>
                <a:ea typeface="Calibri" panose="020F0502020204030204" pitchFamily="34" charset="0"/>
                <a:cs typeface="Times New Roman" panose="02020603050405020304" pitchFamily="18" charset="0"/>
              </a:rPr>
              <a:t>(analytical</a:t>
            </a:r>
            <a:r>
              <a:rPr lang="en-GB" dirty="0" smtClean="0">
                <a:latin typeface="Times New Roman" panose="02020603050405020304" pitchFamily="18" charset="0"/>
                <a:ea typeface="Calibri" panose="020F0502020204030204" pitchFamily="34" charset="0"/>
                <a:cs typeface="Times New Roman" panose="02020603050405020304" pitchFamily="18" charset="0"/>
              </a:rPr>
              <a:t>, </a:t>
            </a:r>
            <a:r>
              <a:rPr lang="en-GB" dirty="0" smtClean="0">
                <a:latin typeface="Times New Roman" panose="02020603050405020304" pitchFamily="18" charset="0"/>
                <a:ea typeface="Calibri" panose="020F0502020204030204" pitchFamily="34" charset="0"/>
                <a:cs typeface="Times New Roman" panose="02020603050405020304" pitchFamily="18" charset="0"/>
              </a:rPr>
              <a:t>exploratory</a:t>
            </a:r>
            <a:r>
              <a:rPr lang="en-GB" dirty="0" smtClean="0">
                <a:latin typeface="Times New Roman" panose="02020603050405020304" pitchFamily="18" charset="0"/>
                <a:ea typeface="Calibri" panose="020F0502020204030204" pitchFamily="34" charset="0"/>
                <a:cs typeface="Times New Roman" panose="02020603050405020304" pitchFamily="18" charset="0"/>
              </a:rPr>
              <a:t>, case study)</a:t>
            </a:r>
          </a:p>
          <a:p>
            <a:pPr marL="285750" lvl="0" indent="-285750" algn="just">
              <a:lnSpc>
                <a:spcPct val="150000"/>
              </a:lnSpc>
              <a:spcAft>
                <a:spcPts val="0"/>
              </a:spcAft>
              <a:buFont typeface="Wingdings" panose="05000000000000000000" pitchFamily="2" charset="2"/>
              <a:buChar char="v"/>
            </a:pPr>
            <a:r>
              <a:rPr lang="en-GB" dirty="0" smtClean="0">
                <a:latin typeface="Times New Roman" panose="02020603050405020304" pitchFamily="18" charset="0"/>
                <a:ea typeface="Calibri" panose="020F0502020204030204" pitchFamily="34" charset="0"/>
                <a:cs typeface="Times New Roman" panose="02020603050405020304" pitchFamily="18" charset="0"/>
              </a:rPr>
              <a:t>Prototype development, </a:t>
            </a:r>
            <a:r>
              <a:rPr lang="en-GB" dirty="0" smtClean="0">
                <a:latin typeface="Times New Roman" panose="02020603050405020304" pitchFamily="18" charset="0"/>
                <a:ea typeface="Calibri" panose="020F0502020204030204" pitchFamily="34" charset="0"/>
                <a:cs typeface="Times New Roman" panose="02020603050405020304" pitchFamily="18" charset="0"/>
              </a:rPr>
              <a:t>(design</a:t>
            </a:r>
            <a:r>
              <a:rPr lang="en-GB" dirty="0" smtClean="0">
                <a:latin typeface="Times New Roman" panose="02020603050405020304" pitchFamily="18" charset="0"/>
                <a:ea typeface="Calibri" panose="020F0502020204030204" pitchFamily="34" charset="0"/>
                <a:cs typeface="Times New Roman" panose="02020603050405020304" pitchFamily="18" charset="0"/>
              </a:rPr>
              <a:t>, </a:t>
            </a:r>
            <a:r>
              <a:rPr lang="en-GB" dirty="0" smtClean="0">
                <a:latin typeface="Times New Roman" panose="02020603050405020304" pitchFamily="18" charset="0"/>
                <a:ea typeface="Calibri" panose="020F0502020204030204" pitchFamily="34" charset="0"/>
                <a:cs typeface="Times New Roman" panose="02020603050405020304" pitchFamily="18" charset="0"/>
              </a:rPr>
              <a:t>prototyping</a:t>
            </a:r>
            <a:r>
              <a:rPr lang="en-GB" dirty="0" smtClean="0">
                <a:latin typeface="Times New Roman" panose="02020603050405020304" pitchFamily="18" charset="0"/>
                <a:ea typeface="Calibri" panose="020F0502020204030204" pitchFamily="34" charset="0"/>
                <a:cs typeface="Times New Roman" panose="02020603050405020304" pitchFamily="18" charset="0"/>
              </a:rPr>
              <a:t>, </a:t>
            </a:r>
            <a:r>
              <a:rPr lang="en-GB" dirty="0" smtClean="0">
                <a:latin typeface="Times New Roman" panose="02020603050405020304" pitchFamily="18" charset="0"/>
                <a:ea typeface="Calibri" panose="020F0502020204030204" pitchFamily="34" charset="0"/>
                <a:cs typeface="Times New Roman" panose="02020603050405020304" pitchFamily="18" charset="0"/>
              </a:rPr>
              <a:t>simulations</a:t>
            </a:r>
            <a:r>
              <a:rPr lang="en-GB" dirty="0" smtClean="0">
                <a:latin typeface="Times New Roman" panose="02020603050405020304" pitchFamily="18" charset="0"/>
                <a:ea typeface="Calibri" panose="020F0502020204030204" pitchFamily="34" charset="0"/>
                <a:cs typeface="Times New Roman" panose="02020603050405020304" pitchFamily="18" charset="0"/>
              </a:rPr>
              <a:t>, HIL analysis-simulator/actuator)</a:t>
            </a:r>
          </a:p>
          <a:p>
            <a:pPr marL="285750" lvl="0" indent="-285750" algn="just">
              <a:lnSpc>
                <a:spcPct val="150000"/>
              </a:lnSpc>
              <a:spcAft>
                <a:spcPts val="0"/>
              </a:spcAft>
              <a:buFont typeface="Wingdings" panose="05000000000000000000" pitchFamily="2" charset="2"/>
              <a:buChar char="v"/>
            </a:pPr>
            <a:r>
              <a:rPr lang="en-GB" dirty="0" smtClean="0">
                <a:latin typeface="Times New Roman" panose="02020603050405020304" pitchFamily="18" charset="0"/>
                <a:ea typeface="Calibri" panose="020F0502020204030204" pitchFamily="34" charset="0"/>
                <a:cs typeface="Times New Roman" panose="02020603050405020304" pitchFamily="18" charset="0"/>
              </a:rPr>
              <a:t>Firmware development, </a:t>
            </a:r>
            <a:r>
              <a:rPr lang="en-GB" dirty="0" smtClean="0">
                <a:latin typeface="Times New Roman" panose="02020603050405020304" pitchFamily="18" charset="0"/>
                <a:ea typeface="Calibri" panose="020F0502020204030204" pitchFamily="34" charset="0"/>
                <a:cs typeface="Times New Roman" panose="02020603050405020304" pitchFamily="18" charset="0"/>
              </a:rPr>
              <a:t>(parameter </a:t>
            </a:r>
            <a:r>
              <a:rPr lang="en-GB" dirty="0" smtClean="0">
                <a:latin typeface="Times New Roman" panose="02020603050405020304" pitchFamily="18" charset="0"/>
                <a:ea typeface="Calibri" panose="020F0502020204030204" pitchFamily="34" charset="0"/>
                <a:cs typeface="Times New Roman" panose="02020603050405020304" pitchFamily="18" charset="0"/>
              </a:rPr>
              <a:t>modelling, iterative approach)</a:t>
            </a:r>
          </a:p>
          <a:p>
            <a:pPr marL="285750" lvl="0" indent="-285750" algn="just">
              <a:lnSpc>
                <a:spcPct val="150000"/>
              </a:lnSpc>
              <a:spcAft>
                <a:spcPts val="0"/>
              </a:spcAft>
              <a:buFont typeface="Wingdings" panose="05000000000000000000" pitchFamily="2" charset="2"/>
              <a:buChar char="v"/>
            </a:pPr>
            <a:r>
              <a:rPr lang="en-GB" dirty="0" smtClean="0">
                <a:latin typeface="Times New Roman" panose="02020603050405020304" pitchFamily="18" charset="0"/>
                <a:ea typeface="Calibri" panose="020F0502020204030204" pitchFamily="34" charset="0"/>
                <a:cs typeface="Times New Roman" panose="02020603050405020304" pitchFamily="18" charset="0"/>
              </a:rPr>
              <a:t>System modelling and simulation, </a:t>
            </a:r>
            <a:r>
              <a:rPr lang="en-GB" dirty="0" smtClean="0">
                <a:latin typeface="Times New Roman" panose="02020603050405020304" pitchFamily="18" charset="0"/>
                <a:ea typeface="Calibri" panose="020F0502020204030204" pitchFamily="34" charset="0"/>
                <a:cs typeface="Times New Roman" panose="02020603050405020304" pitchFamily="18" charset="0"/>
              </a:rPr>
              <a:t>(predictive </a:t>
            </a:r>
            <a:r>
              <a:rPr lang="en-GB" dirty="0" smtClean="0">
                <a:latin typeface="Times New Roman" panose="02020603050405020304" pitchFamily="18" charset="0"/>
                <a:ea typeface="Calibri" panose="020F0502020204030204" pitchFamily="34" charset="0"/>
                <a:cs typeface="Times New Roman" panose="02020603050405020304" pitchFamily="18" charset="0"/>
              </a:rPr>
              <a:t>and </a:t>
            </a:r>
            <a:r>
              <a:rPr lang="en-GB" dirty="0" smtClean="0">
                <a:latin typeface="Times New Roman" panose="02020603050405020304" pitchFamily="18" charset="0"/>
                <a:ea typeface="Calibri" panose="020F0502020204030204" pitchFamily="34" charset="0"/>
                <a:cs typeface="Times New Roman" panose="02020603050405020304" pitchFamily="18" charset="0"/>
              </a:rPr>
              <a:t>simulations</a:t>
            </a:r>
            <a:r>
              <a:rPr lang="en-GB" dirty="0" smtClean="0">
                <a:latin typeface="Times New Roman" panose="02020603050405020304" pitchFamily="18" charset="0"/>
                <a:ea typeface="Calibri" panose="020F0502020204030204" pitchFamily="34" charset="0"/>
                <a:cs typeface="Times New Roman" panose="02020603050405020304" pitchFamily="18" charset="0"/>
              </a:rPr>
              <a:t>, behavioural complexity, comparative studies)</a:t>
            </a:r>
          </a:p>
          <a:p>
            <a:pPr marL="285750" lvl="0" indent="-285750" algn="just">
              <a:lnSpc>
                <a:spcPct val="150000"/>
              </a:lnSpc>
              <a:spcAft>
                <a:spcPts val="0"/>
              </a:spcAft>
              <a:buFont typeface="Wingdings" panose="05000000000000000000" pitchFamily="2" charset="2"/>
              <a:buChar char="v"/>
            </a:pPr>
            <a:r>
              <a:rPr lang="en-GB" dirty="0" smtClean="0">
                <a:latin typeface="Times New Roman" panose="02020603050405020304" pitchFamily="18" charset="0"/>
                <a:ea typeface="Calibri" panose="020F0502020204030204" pitchFamily="34" charset="0"/>
                <a:cs typeface="Times New Roman" panose="02020603050405020304" pitchFamily="18" charset="0"/>
              </a:rPr>
              <a:t>Field </a:t>
            </a:r>
            <a:r>
              <a:rPr lang="en-GB" dirty="0">
                <a:latin typeface="Times New Roman" panose="02020603050405020304" pitchFamily="18" charset="0"/>
                <a:ea typeface="Calibri" panose="020F0502020204030204" pitchFamily="34" charset="0"/>
                <a:cs typeface="Times New Roman" panose="02020603050405020304" pitchFamily="18" charset="0"/>
              </a:rPr>
              <a:t>deployment and evaluation</a:t>
            </a:r>
            <a:r>
              <a:rPr lang="en-GB" dirty="0" smtClean="0">
                <a:latin typeface="Times New Roman" panose="02020603050405020304" pitchFamily="18" charset="0"/>
                <a:ea typeface="Calibri" panose="020F0502020204030204" pitchFamily="34" charset="0"/>
                <a:cs typeface="Times New Roman" panose="02020603050405020304" pitchFamily="18" charset="0"/>
              </a:rPr>
              <a:t>. </a:t>
            </a:r>
            <a:r>
              <a:rPr lang="en-GB" dirty="0" smtClean="0">
                <a:latin typeface="Times New Roman" panose="02020603050405020304" pitchFamily="18" charset="0"/>
                <a:ea typeface="Calibri" panose="020F0502020204030204" pitchFamily="34" charset="0"/>
                <a:cs typeface="Times New Roman" panose="02020603050405020304" pitchFamily="18" charset="0"/>
              </a:rPr>
              <a:t>(observation</a:t>
            </a:r>
            <a:r>
              <a:rPr lang="en-GB" dirty="0" smtClean="0">
                <a:latin typeface="Times New Roman" panose="02020603050405020304" pitchFamily="18" charset="0"/>
                <a:ea typeface="Calibri" panose="020F0502020204030204" pitchFamily="34" charset="0"/>
                <a:cs typeface="Times New Roman" panose="02020603050405020304" pitchFamily="18" charset="0"/>
              </a:rPr>
              <a:t>, benchmarking, </a:t>
            </a:r>
            <a:r>
              <a:rPr lang="en-GB" dirty="0" smtClean="0">
                <a:latin typeface="Times New Roman" panose="02020603050405020304" pitchFamily="18" charset="0"/>
                <a:ea typeface="Calibri" panose="020F0502020204030204" pitchFamily="34" charset="0"/>
                <a:cs typeface="Times New Roman" panose="02020603050405020304" pitchFamily="18" charset="0"/>
              </a:rPr>
              <a:t>mitigation </a:t>
            </a:r>
            <a:r>
              <a:rPr lang="en-GB" dirty="0" smtClean="0">
                <a:latin typeface="Times New Roman" panose="02020603050405020304" pitchFamily="18" charset="0"/>
                <a:ea typeface="Calibri" panose="020F0502020204030204" pitchFamily="34" charset="0"/>
                <a:cs typeface="Times New Roman" panose="02020603050405020304" pitchFamily="18" charset="0"/>
              </a:rPr>
              <a:t>strategies, KPIs analysis)</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5063119" y="777243"/>
            <a:ext cx="2060372" cy="400110"/>
          </a:xfrm>
          <a:prstGeom prst="rect">
            <a:avLst/>
          </a:prstGeom>
        </p:spPr>
        <p:txBody>
          <a:bodyPr wrap="none">
            <a:spAutoFit/>
          </a:bodyPr>
          <a:lstStyle/>
          <a:p>
            <a:r>
              <a:rPr lang="en-GB" sz="2000" b="1" dirty="0" smtClean="0">
                <a:latin typeface="Times New Roman" panose="02020603050405020304" pitchFamily="18" charset="0"/>
                <a:ea typeface="Calibri" panose="020F0502020204030204" pitchFamily="34" charset="0"/>
                <a:cs typeface="Times New Roman" panose="02020603050405020304" pitchFamily="18" charset="0"/>
              </a:rPr>
              <a:t>Research Design </a:t>
            </a:r>
            <a:endParaRPr lang="en-US" sz="2000" b="1" dirty="0"/>
          </a:p>
        </p:txBody>
      </p:sp>
      <p:sp>
        <p:nvSpPr>
          <p:cNvPr id="10" name="Rectangle 9"/>
          <p:cNvSpPr/>
          <p:nvPr/>
        </p:nvSpPr>
        <p:spPr>
          <a:xfrm>
            <a:off x="3557000" y="3026136"/>
            <a:ext cx="5072607" cy="553998"/>
          </a:xfrm>
          <a:prstGeom prst="rect">
            <a:avLst/>
          </a:prstGeom>
        </p:spPr>
        <p:txBody>
          <a:bodyPr wrap="none">
            <a:spAutoFit/>
          </a:bodyPr>
          <a:lstStyle/>
          <a:p>
            <a:pPr lvl="0" algn="just">
              <a:lnSpc>
                <a:spcPct val="150000"/>
              </a:lnSpc>
              <a:spcAft>
                <a:spcPts val="0"/>
              </a:spcAft>
            </a:pPr>
            <a:r>
              <a:rPr lang="en-GB" sz="2000" b="1" dirty="0">
                <a:latin typeface="Times New Roman" panose="02020603050405020304" pitchFamily="18" charset="0"/>
                <a:ea typeface="Calibri" panose="020F0502020204030204" pitchFamily="34" charset="0"/>
                <a:cs typeface="Times New Roman" panose="02020603050405020304" pitchFamily="18" charset="0"/>
              </a:rPr>
              <a:t>Methodology processes </a:t>
            </a:r>
            <a:r>
              <a:rPr lang="en-GB" sz="2000" b="1" dirty="0">
                <a:latin typeface="Times New Roman" panose="02020603050405020304" pitchFamily="18" charset="0"/>
                <a:ea typeface="Calibri" panose="020F0502020204030204" pitchFamily="34" charset="0"/>
                <a:cs typeface="Times New Roman" panose="02020603050405020304" pitchFamily="18" charset="0"/>
              </a:rPr>
              <a:t>&amp;</a:t>
            </a:r>
            <a:r>
              <a:rPr lang="en-GB" sz="2000" b="1" dirty="0" smtClean="0">
                <a:latin typeface="Times New Roman" panose="02020603050405020304" pitchFamily="18" charset="0"/>
                <a:ea typeface="Calibri" panose="020F0502020204030204" pitchFamily="34" charset="0"/>
                <a:cs typeface="Times New Roman" panose="02020603050405020304" pitchFamily="18" charset="0"/>
              </a:rPr>
              <a:t> </a:t>
            </a:r>
            <a:r>
              <a:rPr lang="en-GB" sz="2000" b="1" dirty="0">
                <a:latin typeface="Times New Roman" panose="02020603050405020304" pitchFamily="18" charset="0"/>
                <a:ea typeface="Calibri" panose="020F0502020204030204" pitchFamily="34" charset="0"/>
                <a:cs typeface="Times New Roman" panose="02020603050405020304" pitchFamily="18" charset="0"/>
              </a:rPr>
              <a:t>Research Methods</a:t>
            </a:r>
          </a:p>
        </p:txBody>
      </p:sp>
      <p:sp>
        <p:nvSpPr>
          <p:cNvPr id="4" name="Slide Number Placeholder 3"/>
          <p:cNvSpPr>
            <a:spLocks noGrp="1"/>
          </p:cNvSpPr>
          <p:nvPr>
            <p:ph type="sldNum" sz="quarter" idx="12"/>
          </p:nvPr>
        </p:nvSpPr>
        <p:spPr/>
        <p:txBody>
          <a:bodyPr/>
          <a:lstStyle/>
          <a:p>
            <a:fld id="{9B87FC41-F35B-458E-AD48-D36E6575979E}" type="slidenum">
              <a:rPr lang="en-US" smtClean="0"/>
              <a:t>11</a:t>
            </a:fld>
            <a:endParaRPr lang="en-US" dirty="0"/>
          </a:p>
        </p:txBody>
      </p:sp>
    </p:spTree>
    <p:extLst>
      <p:ext uri="{BB962C8B-B14F-4D97-AF65-F5344CB8AC3E}">
        <p14:creationId xmlns:p14="http://schemas.microsoft.com/office/powerpoint/2010/main" val="27392397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7B5E82D-98A5-7B63-51CC-5429FB6DD5A6}"/>
            </a:ext>
          </a:extLst>
        </p:cNvPr>
        <p:cNvGrpSpPr/>
        <p:nvPr/>
      </p:nvGrpSpPr>
      <p:grpSpPr>
        <a:xfrm>
          <a:off x="0" y="0"/>
          <a:ext cx="0" cy="0"/>
          <a:chOff x="0" y="0"/>
          <a:chExt cx="0" cy="0"/>
        </a:xfrm>
      </p:grpSpPr>
      <p:sp>
        <p:nvSpPr>
          <p:cNvPr id="7" name="Rectangle 6"/>
          <p:cNvSpPr/>
          <p:nvPr/>
        </p:nvSpPr>
        <p:spPr>
          <a:xfrm>
            <a:off x="3866512" y="1179353"/>
            <a:ext cx="4849341" cy="369332"/>
          </a:xfrm>
          <a:prstGeom prst="rect">
            <a:avLst/>
          </a:prstGeom>
        </p:spPr>
        <p:txBody>
          <a:bodyPr wrap="none">
            <a:spAutoFit/>
          </a:bodyPr>
          <a:lstStyle/>
          <a:p>
            <a:pPr algn="ctr">
              <a:spcAft>
                <a:spcPts val="1000"/>
              </a:spcAft>
            </a:pPr>
            <a:r>
              <a:rPr lang="en-GB" dirty="0">
                <a:latin typeface="Times New Roman" panose="02020603050405020304" pitchFamily="18" charset="0"/>
                <a:ea typeface="Calibri" panose="020F0502020204030204" pitchFamily="34" charset="0"/>
                <a:cs typeface="Times New Roman" panose="02020603050405020304" pitchFamily="18" charset="0"/>
              </a:rPr>
              <a:t>Table </a:t>
            </a:r>
            <a:r>
              <a:rPr lang="en-GB" dirty="0" smtClean="0">
                <a:latin typeface="Times New Roman" panose="02020603050405020304" pitchFamily="18" charset="0"/>
                <a:ea typeface="Calibri" panose="020F0502020204030204" pitchFamily="34" charset="0"/>
                <a:cs typeface="Times New Roman" panose="02020603050405020304" pitchFamily="18" charset="0"/>
              </a:rPr>
              <a:t>1. </a:t>
            </a:r>
            <a:r>
              <a:rPr lang="en-GB" dirty="0">
                <a:latin typeface="Times New Roman" panose="02020603050405020304" pitchFamily="18" charset="0"/>
                <a:ea typeface="Calibri" panose="020F0502020204030204" pitchFamily="34" charset="0"/>
                <a:cs typeface="Times New Roman" panose="02020603050405020304" pitchFamily="18" charset="0"/>
              </a:rPr>
              <a:t>List of </a:t>
            </a:r>
            <a:r>
              <a:rPr lang="en-GB" dirty="0" smtClean="0">
                <a:latin typeface="Times New Roman" panose="02020603050405020304" pitchFamily="18" charset="0"/>
                <a:ea typeface="Calibri" panose="020F0502020204030204" pitchFamily="34" charset="0"/>
                <a:cs typeface="Times New Roman" panose="02020603050405020304" pitchFamily="18" charset="0"/>
              </a:rPr>
              <a:t>development tools </a:t>
            </a:r>
            <a:r>
              <a:rPr lang="en-GB" dirty="0">
                <a:latin typeface="Times New Roman" panose="02020603050405020304" pitchFamily="18" charset="0"/>
                <a:ea typeface="Calibri" panose="020F0502020204030204" pitchFamily="34" charset="0"/>
                <a:cs typeface="Times New Roman" panose="02020603050405020304" pitchFamily="18" charset="0"/>
              </a:rPr>
              <a:t>&amp;</a:t>
            </a:r>
            <a:r>
              <a:rPr lang="en-GB" dirty="0" smtClean="0">
                <a:latin typeface="Times New Roman" panose="02020603050405020304" pitchFamily="18" charset="0"/>
                <a:ea typeface="Calibri" panose="020F0502020204030204" pitchFamily="34" charset="0"/>
                <a:cs typeface="Times New Roman" panose="02020603050405020304" pitchFamily="18" charset="0"/>
              </a:rPr>
              <a:t> </a:t>
            </a:r>
            <a:r>
              <a:rPr lang="en-GB" dirty="0">
                <a:latin typeface="Times New Roman" panose="02020603050405020304" pitchFamily="18" charset="0"/>
                <a:ea typeface="Calibri" panose="020F0502020204030204" pitchFamily="34" charset="0"/>
                <a:cs typeface="Times New Roman" panose="02020603050405020304" pitchFamily="18" charset="0"/>
              </a:rPr>
              <a:t>requirements</a:t>
            </a:r>
            <a:endParaRPr lang="en-US" sz="1100" i="1"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758274747"/>
              </p:ext>
            </p:extLst>
          </p:nvPr>
        </p:nvGraphicFramePr>
        <p:xfrm>
          <a:off x="695325" y="1739424"/>
          <a:ext cx="10687050" cy="4232751"/>
        </p:xfrm>
        <a:graphic>
          <a:graphicData uri="http://schemas.openxmlformats.org/drawingml/2006/table">
            <a:tbl>
              <a:tblPr firstRow="1" firstCol="1" bandRow="1">
                <a:tableStyleId>{5940675A-B579-460E-94D1-54222C63F5DA}</a:tableStyleId>
              </a:tblPr>
              <a:tblGrid>
                <a:gridCol w="703751"/>
                <a:gridCol w="1753699"/>
                <a:gridCol w="4857750"/>
                <a:gridCol w="3371850"/>
              </a:tblGrid>
              <a:tr h="312240">
                <a:tc>
                  <a:txBody>
                    <a:bodyPr/>
                    <a:lstStyle/>
                    <a:p>
                      <a:pPr algn="ctr">
                        <a:lnSpc>
                          <a:spcPct val="150000"/>
                        </a:lnSpc>
                        <a:spcAft>
                          <a:spcPts val="800"/>
                        </a:spcAft>
                      </a:pPr>
                      <a:r>
                        <a:rPr lang="en-US" sz="1600" b="1" dirty="0">
                          <a:effectLst/>
                          <a:latin typeface="Times New Roman" panose="02020603050405020304" pitchFamily="18" charset="0"/>
                          <a:cs typeface="Times New Roman" panose="02020603050405020304" pitchFamily="18" charset="0"/>
                        </a:rPr>
                        <a:t>S/N</a:t>
                      </a:r>
                      <a:endParaRPr lang="en-US"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marL="21590" algn="ctr">
                        <a:lnSpc>
                          <a:spcPct val="150000"/>
                        </a:lnSpc>
                        <a:spcAft>
                          <a:spcPts val="800"/>
                        </a:spcAft>
                      </a:pPr>
                      <a:r>
                        <a:rPr lang="en-US" sz="1600" b="1" dirty="0">
                          <a:effectLst/>
                          <a:latin typeface="Times New Roman" panose="02020603050405020304" pitchFamily="18" charset="0"/>
                          <a:cs typeface="Times New Roman" panose="02020603050405020304" pitchFamily="18" charset="0"/>
                        </a:rPr>
                        <a:t>Category</a:t>
                      </a:r>
                      <a:endParaRPr lang="en-US"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a:txBody>
                    <a:bodyPr/>
                    <a:lstStyle/>
                    <a:p>
                      <a:pPr marL="21590" algn="ctr">
                        <a:lnSpc>
                          <a:spcPct val="150000"/>
                        </a:lnSpc>
                        <a:spcAft>
                          <a:spcPts val="800"/>
                        </a:spcAft>
                      </a:pPr>
                      <a:r>
                        <a:rPr lang="en-US" sz="1600" b="1" dirty="0">
                          <a:effectLst/>
                          <a:latin typeface="Times New Roman" panose="02020603050405020304" pitchFamily="18" charset="0"/>
                          <a:cs typeface="Times New Roman" panose="02020603050405020304" pitchFamily="18" charset="0"/>
                        </a:rPr>
                        <a:t>Tools/Software</a:t>
                      </a:r>
                      <a:endParaRPr lang="en-US"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marL="111760" algn="ctr">
                        <a:lnSpc>
                          <a:spcPct val="150000"/>
                        </a:lnSpc>
                        <a:spcAft>
                          <a:spcPts val="800"/>
                        </a:spcAft>
                      </a:pPr>
                      <a:r>
                        <a:rPr lang="en-US" sz="1600" b="1" dirty="0">
                          <a:effectLst/>
                          <a:latin typeface="Times New Roman" panose="02020603050405020304" pitchFamily="18" charset="0"/>
                          <a:cs typeface="Times New Roman" panose="02020603050405020304" pitchFamily="18" charset="0"/>
                        </a:rPr>
                        <a:t>Purpose</a:t>
                      </a:r>
                      <a:endParaRPr lang="en-US"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r>
              <a:tr h="657046">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1</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Simulation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21590" algn="just">
                        <a:lnSpc>
                          <a:spcPct val="150000"/>
                        </a:lnSpc>
                        <a:spcAft>
                          <a:spcPts val="800"/>
                        </a:spcAft>
                      </a:pPr>
                      <a:r>
                        <a:rPr lang="en-US" sz="1600" dirty="0" smtClean="0">
                          <a:effectLst/>
                          <a:latin typeface="Times New Roman" panose="02020603050405020304" pitchFamily="18" charset="0"/>
                          <a:cs typeface="Times New Roman" panose="02020603050405020304" pitchFamily="18" charset="0"/>
                        </a:rPr>
                        <a:t>Altium Power Analyzer (PDN), ngSpice (Circuit Simulator)</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11176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Power electronics simulation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r>
              <a:tr h="312879">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2</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Design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21590" algn="just">
                        <a:lnSpc>
                          <a:spcPct val="150000"/>
                        </a:lnSpc>
                        <a:spcAft>
                          <a:spcPts val="800"/>
                        </a:spcAft>
                      </a:pPr>
                      <a:r>
                        <a:rPr lang="en-US" sz="1600" dirty="0" smtClean="0">
                          <a:effectLst/>
                          <a:latin typeface="Times New Roman" panose="02020603050405020304" pitchFamily="18" charset="0"/>
                          <a:cs typeface="Times New Roman" panose="02020603050405020304" pitchFamily="18" charset="0"/>
                        </a:rPr>
                        <a:t>KiCAD (</a:t>
                      </a:r>
                      <a:r>
                        <a:rPr lang="en-GB" sz="1600" dirty="0" smtClean="0">
                          <a:effectLst/>
                          <a:latin typeface="Times New Roman" panose="02020603050405020304" pitchFamily="18" charset="0"/>
                          <a:cs typeface="Times New Roman" panose="02020603050405020304" pitchFamily="18" charset="0"/>
                        </a:rPr>
                        <a:t>intermediate</a:t>
                      </a:r>
                      <a:r>
                        <a:rPr lang="en-US" sz="1600" dirty="0" smtClean="0">
                          <a:effectLst/>
                          <a:latin typeface="Times New Roman" panose="02020603050405020304" pitchFamily="18" charset="0"/>
                          <a:cs typeface="Times New Roman" panose="02020603050405020304" pitchFamily="18" charset="0"/>
                        </a:rPr>
                        <a:t>)</a:t>
                      </a:r>
                      <a:r>
                        <a:rPr lang="en-US" sz="1400" dirty="0" smtClean="0">
                          <a:effectLst/>
                          <a:latin typeface="Times New Roman" panose="02020603050405020304" pitchFamily="18" charset="0"/>
                          <a:cs typeface="Times New Roman" panose="02020603050405020304" pitchFamily="18" charset="0"/>
                        </a:rPr>
                        <a:t> and Altium (Advanced)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11176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PCB design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r>
              <a:tr h="312879">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3</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Programming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ESP-IDF, Arduino IDE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11176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Firmware development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r>
              <a:tr h="432276">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4</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21590" algn="just">
                        <a:lnSpc>
                          <a:spcPct val="150000"/>
                        </a:lnSpc>
                        <a:spcAft>
                          <a:spcPts val="800"/>
                        </a:spcAft>
                      </a:pPr>
                      <a:r>
                        <a:rPr lang="en-GB" sz="1600" dirty="0" smtClean="0">
                          <a:effectLst/>
                          <a:latin typeface="Times New Roman" panose="02020603050405020304" pitchFamily="18" charset="0"/>
                          <a:ea typeface="+mn-ea"/>
                          <a:cs typeface="Times New Roman" panose="02020603050405020304" pitchFamily="18" charset="0"/>
                        </a:rPr>
                        <a:t>Adaptive</a:t>
                      </a:r>
                      <a:r>
                        <a:rPr lang="en-GB" sz="1600" baseline="0" dirty="0" smtClean="0">
                          <a:effectLst/>
                          <a:latin typeface="Times New Roman" panose="02020603050405020304" pitchFamily="18" charset="0"/>
                          <a:ea typeface="+mn-ea"/>
                          <a:cs typeface="Times New Roman" panose="02020603050405020304" pitchFamily="18" charset="0"/>
                        </a:rPr>
                        <a:t> controller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21590" algn="just">
                        <a:lnSpc>
                          <a:spcPct val="150000"/>
                        </a:lnSpc>
                        <a:spcAft>
                          <a:spcPts val="800"/>
                        </a:spcAft>
                      </a:pPr>
                      <a:r>
                        <a:rPr lang="en-US" sz="1600" dirty="0" smtClean="0">
                          <a:effectLst/>
                          <a:latin typeface="Times New Roman" panose="02020603050405020304" pitchFamily="18" charset="0"/>
                          <a:cs typeface="Times New Roman" panose="02020603050405020304" pitchFamily="18" charset="0"/>
                        </a:rPr>
                        <a:t>MATLAB</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111760" algn="just">
                        <a:lnSpc>
                          <a:spcPct val="150000"/>
                        </a:lnSpc>
                        <a:spcAft>
                          <a:spcPts val="800"/>
                        </a:spcAft>
                      </a:pPr>
                      <a:r>
                        <a:rPr lang="en-GB" sz="1600" dirty="0" smtClean="0">
                          <a:effectLst/>
                          <a:latin typeface="Times New Roman" panose="02020603050405020304" pitchFamily="18" charset="0"/>
                          <a:ea typeface="+mn-ea"/>
                          <a:cs typeface="Times New Roman" panose="02020603050405020304" pitchFamily="18" charset="0"/>
                        </a:rPr>
                        <a:t>Adaptability</a:t>
                      </a:r>
                      <a:r>
                        <a:rPr lang="en-GB" sz="1600" baseline="0" dirty="0" smtClean="0">
                          <a:effectLst/>
                          <a:latin typeface="Times New Roman" panose="02020603050405020304" pitchFamily="18" charset="0"/>
                          <a:ea typeface="+mn-ea"/>
                          <a:cs typeface="Times New Roman" panose="02020603050405020304" pitchFamily="18" charset="0"/>
                        </a:rPr>
                        <a:t> Algorithm</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r>
              <a:tr h="657046">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21590" algn="just">
                        <a:lnSpc>
                          <a:spcPct val="150000"/>
                        </a:lnSpc>
                        <a:spcAft>
                          <a:spcPts val="800"/>
                        </a:spcAft>
                      </a:pPr>
                      <a:r>
                        <a:rPr lang="en-US" sz="1600" dirty="0" smtClean="0">
                          <a:effectLst/>
                          <a:latin typeface="Times New Roman" panose="02020603050405020304" pitchFamily="18" charset="0"/>
                          <a:cs typeface="Times New Roman" panose="02020603050405020304" pitchFamily="18" charset="0"/>
                        </a:rPr>
                        <a:t>Hardware</a:t>
                      </a:r>
                      <a:r>
                        <a:rPr lang="en-US" sz="1600" baseline="0" dirty="0" smtClean="0">
                          <a:effectLst/>
                          <a:latin typeface="Times New Roman" panose="02020603050405020304" pitchFamily="18" charset="0"/>
                          <a:cs typeface="Times New Roman" panose="02020603050405020304" pitchFamily="18" charset="0"/>
                        </a:rPr>
                        <a:t> </a:t>
                      </a:r>
                      <a:r>
                        <a:rPr lang="en-US" sz="1600" dirty="0" smtClean="0">
                          <a:effectLst/>
                          <a:latin typeface="Times New Roman" panose="02020603050405020304" pitchFamily="18" charset="0"/>
                          <a:cs typeface="Times New Roman" panose="02020603050405020304" pitchFamily="18" charset="0"/>
                        </a:rPr>
                        <a:t>assembling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21590" marR="0" lvl="0" indent="0" algn="just" defTabSz="914400" rtl="0" eaLnBrk="1" fontAlgn="auto" latinLnBrk="0" hangingPunct="1">
                        <a:lnSpc>
                          <a:spcPct val="150000"/>
                        </a:lnSpc>
                        <a:spcBef>
                          <a:spcPts val="0"/>
                        </a:spcBef>
                        <a:spcAft>
                          <a:spcPts val="800"/>
                        </a:spcAft>
                        <a:buClrTx/>
                        <a:buSzTx/>
                        <a:buFontTx/>
                        <a:buNone/>
                        <a:tabLst/>
                        <a:defRPr/>
                      </a:pPr>
                      <a:r>
                        <a:rPr lang="en-US" sz="1600" dirty="0" smtClean="0">
                          <a:effectLst/>
                          <a:latin typeface="Times New Roman" panose="02020603050405020304" pitchFamily="18" charset="0"/>
                          <a:cs typeface="Times New Roman" panose="02020603050405020304" pitchFamily="18" charset="0"/>
                        </a:rPr>
                        <a:t>ESP32-S3 (MCU), </a:t>
                      </a:r>
                      <a:r>
                        <a:rPr lang="en-GB" sz="1600" kern="1200" dirty="0" smtClean="0">
                          <a:solidFill>
                            <a:schemeClr val="tx1"/>
                          </a:solidFill>
                          <a:effectLst/>
                          <a:latin typeface="Times New Roman" panose="02020603050405020304" pitchFamily="18" charset="0"/>
                          <a:ea typeface="+mn-ea"/>
                          <a:cs typeface="Times New Roman" panose="02020603050405020304" pitchFamily="18" charset="0"/>
                        </a:rPr>
                        <a:t>BSS138 (Logic</a:t>
                      </a:r>
                      <a:r>
                        <a:rPr lang="en-GB" sz="1600" kern="1200" baseline="0" dirty="0" smtClean="0">
                          <a:solidFill>
                            <a:schemeClr val="tx1"/>
                          </a:solidFill>
                          <a:effectLst/>
                          <a:latin typeface="Times New Roman" panose="02020603050405020304" pitchFamily="18" charset="0"/>
                          <a:ea typeface="+mn-ea"/>
                          <a:cs typeface="Times New Roman" panose="02020603050405020304" pitchFamily="18" charset="0"/>
                        </a:rPr>
                        <a:t> Level Shifter</a:t>
                      </a:r>
                      <a:r>
                        <a:rPr lang="en-GB" sz="1600" kern="1200" dirty="0" smtClean="0">
                          <a:solidFill>
                            <a:schemeClr val="tx1"/>
                          </a:solidFill>
                          <a:effectLst/>
                          <a:latin typeface="Times New Roman" panose="02020603050405020304" pitchFamily="18" charset="0"/>
                          <a:ea typeface="+mn-ea"/>
                          <a:cs typeface="Times New Roman" panose="02020603050405020304" pitchFamily="18" charset="0"/>
                        </a:rPr>
                        <a:t>)</a:t>
                      </a:r>
                      <a:r>
                        <a:rPr lang="en-US" sz="1600" dirty="0" smtClean="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INA219, </a:t>
                      </a:r>
                      <a:r>
                        <a:rPr lang="en-US" sz="1600" dirty="0" smtClean="0">
                          <a:effectLst/>
                          <a:latin typeface="Times New Roman" panose="02020603050405020304" pitchFamily="18" charset="0"/>
                          <a:cs typeface="Times New Roman" panose="02020603050405020304" pitchFamily="18" charset="0"/>
                        </a:rPr>
                        <a:t>GSM, LoRa modules, </a:t>
                      </a:r>
                      <a:r>
                        <a:rPr lang="en-US" sz="1400" baseline="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effectLst/>
                          <a:latin typeface="Times New Roman" panose="02020603050405020304" pitchFamily="18" charset="0"/>
                          <a:cs typeface="Times New Roman" panose="02020603050405020304" pitchFamily="18" charset="0"/>
                        </a:rPr>
                        <a:t>Environmental</a:t>
                      </a:r>
                      <a:r>
                        <a:rPr lang="en-US" sz="1600" baseline="0" dirty="0" smtClean="0">
                          <a:effectLst/>
                          <a:latin typeface="Times New Roman" panose="02020603050405020304" pitchFamily="18" charset="0"/>
                          <a:cs typeface="Times New Roman" panose="02020603050405020304" pitchFamily="18" charset="0"/>
                        </a:rPr>
                        <a:t> </a:t>
                      </a:r>
                      <a:r>
                        <a:rPr lang="en-US" sz="1600" dirty="0" smtClean="0">
                          <a:effectLst/>
                          <a:latin typeface="Times New Roman" panose="02020603050405020304" pitchFamily="18" charset="0"/>
                          <a:cs typeface="Times New Roman" panose="02020603050405020304" pitchFamily="18" charset="0"/>
                        </a:rPr>
                        <a:t>Sensors,</a:t>
                      </a:r>
                      <a:r>
                        <a:rPr lang="en-US" sz="1600" baseline="0" dirty="0" smtClean="0">
                          <a:effectLst/>
                          <a:latin typeface="Times New Roman" panose="02020603050405020304" pitchFamily="18" charset="0"/>
                          <a:cs typeface="Times New Roman" panose="02020603050405020304" pitchFamily="18" charset="0"/>
                        </a:rPr>
                        <a:t> 12 V/100W Solar </a:t>
                      </a:r>
                      <a:r>
                        <a:rPr lang="en-GB" sz="1600" baseline="0" dirty="0" smtClean="0">
                          <a:effectLst/>
                          <a:latin typeface="Times New Roman" panose="02020603050405020304" pitchFamily="18" charset="0"/>
                          <a:cs typeface="Times New Roman" panose="02020603050405020304" pitchFamily="18" charset="0"/>
                        </a:rPr>
                        <a:t>panel, Power converters, Lithium batteries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111760" algn="just">
                        <a:lnSpc>
                          <a:spcPct val="150000"/>
                        </a:lnSpc>
                        <a:spcAft>
                          <a:spcPts val="800"/>
                        </a:spcAft>
                      </a:pPr>
                      <a:r>
                        <a:rPr lang="en-US" sz="1600" dirty="0" smtClean="0">
                          <a:effectLst/>
                          <a:latin typeface="Times New Roman" panose="02020603050405020304" pitchFamily="18" charset="0"/>
                          <a:cs typeface="Times New Roman" panose="02020603050405020304" pitchFamily="18" charset="0"/>
                        </a:rPr>
                        <a:t>PSU, Sensor </a:t>
                      </a:r>
                      <a:r>
                        <a:rPr lang="en-US" sz="1600" dirty="0">
                          <a:effectLst/>
                          <a:latin typeface="Times New Roman" panose="02020603050405020304" pitchFamily="18" charset="0"/>
                          <a:cs typeface="Times New Roman" panose="02020603050405020304" pitchFamily="18" charset="0"/>
                        </a:rPr>
                        <a:t>and communication </a:t>
                      </a:r>
                      <a:r>
                        <a:rPr lang="en-US" sz="1600" dirty="0" smtClean="0">
                          <a:effectLst/>
                          <a:latin typeface="Times New Roman" panose="02020603050405020304" pitchFamily="18" charset="0"/>
                          <a:cs typeface="Times New Roman" panose="02020603050405020304" pitchFamily="18" charset="0"/>
                        </a:rPr>
                        <a:t>subsystem development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r>
              <a:tr h="461010">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Storage &amp; Logging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2159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SD </a:t>
                      </a:r>
                      <a:r>
                        <a:rPr lang="en-US" sz="1600" dirty="0" smtClean="0">
                          <a:effectLst/>
                          <a:latin typeface="Times New Roman" panose="02020603050405020304" pitchFamily="18" charset="0"/>
                          <a:cs typeface="Times New Roman" panose="02020603050405020304" pitchFamily="18" charset="0"/>
                        </a:rPr>
                        <a:t>card, and RTC </a:t>
                      </a:r>
                      <a:r>
                        <a:rPr lang="en-US" sz="1400" dirty="0" smtClean="0">
                          <a:effectLst/>
                          <a:latin typeface="Times New Roman" panose="02020603050405020304" pitchFamily="18" charset="0"/>
                          <a:cs typeface="Times New Roman" panose="02020603050405020304" pitchFamily="18" charset="0"/>
                        </a:rPr>
                        <a:t>modules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c>
                  <a:txBody>
                    <a:bodyPr/>
                    <a:lstStyle/>
                    <a:p>
                      <a:pPr marL="111760" algn="just">
                        <a:lnSpc>
                          <a:spcPct val="150000"/>
                        </a:lnSpc>
                        <a:spcAft>
                          <a:spcPts val="800"/>
                        </a:spcAft>
                      </a:pPr>
                      <a:r>
                        <a:rPr lang="en-US" sz="1600" dirty="0">
                          <a:effectLst/>
                          <a:latin typeface="Times New Roman" panose="02020603050405020304" pitchFamily="18" charset="0"/>
                          <a:cs typeface="Times New Roman" panose="02020603050405020304" pitchFamily="18" charset="0"/>
                        </a:rPr>
                        <a:t>Data logging and timestamping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tc>
              </a:tr>
            </a:tbl>
          </a:graphicData>
        </a:graphic>
      </p:graphicFrame>
      <p:sp>
        <p:nvSpPr>
          <p:cNvPr id="10" name="TextBox 9">
            <a:extLst>
              <a:ext uri="{FF2B5EF4-FFF2-40B4-BE49-F238E27FC236}">
                <a16:creationId xmlns="" xmlns:a16="http://schemas.microsoft.com/office/drawing/2014/main" id="{A273858E-A100-3E2B-C74D-80D581835B23}"/>
              </a:ext>
            </a:extLst>
          </p:cNvPr>
          <p:cNvSpPr txBox="1"/>
          <p:nvPr/>
        </p:nvSpPr>
        <p:spPr>
          <a:xfrm>
            <a:off x="4563697" y="146664"/>
            <a:ext cx="42291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Methodology Cont.</a:t>
            </a:r>
          </a:p>
        </p:txBody>
      </p:sp>
      <p:sp>
        <p:nvSpPr>
          <p:cNvPr id="4" name="Slide Number Placeholder 3"/>
          <p:cNvSpPr>
            <a:spLocks noGrp="1"/>
          </p:cNvSpPr>
          <p:nvPr>
            <p:ph type="sldNum" sz="quarter" idx="12"/>
          </p:nvPr>
        </p:nvSpPr>
        <p:spPr/>
        <p:txBody>
          <a:bodyPr/>
          <a:lstStyle/>
          <a:p>
            <a:fld id="{9B87FC41-F35B-458E-AD48-D36E6575979E}" type="slidenum">
              <a:rPr lang="en-US" smtClean="0"/>
              <a:t>12</a:t>
            </a:fld>
            <a:endParaRPr lang="en-US" dirty="0"/>
          </a:p>
        </p:txBody>
      </p:sp>
    </p:spTree>
    <p:extLst>
      <p:ext uri="{BB962C8B-B14F-4D97-AF65-F5344CB8AC3E}">
        <p14:creationId xmlns:p14="http://schemas.microsoft.com/office/powerpoint/2010/main" val="5970467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44E00F3-35C1-1487-EF53-4D7B2FFC0E06}"/>
            </a:ext>
          </a:extLst>
        </p:cNvPr>
        <p:cNvGrpSpPr/>
        <p:nvPr/>
      </p:nvGrpSpPr>
      <p:grpSpPr>
        <a:xfrm>
          <a:off x="0" y="0"/>
          <a:ext cx="0" cy="0"/>
          <a:chOff x="0" y="0"/>
          <a:chExt cx="0" cy="0"/>
        </a:xfrm>
      </p:grpSpPr>
      <p:sp>
        <p:nvSpPr>
          <p:cNvPr id="2" name="Rectangle 1"/>
          <p:cNvSpPr/>
          <p:nvPr/>
        </p:nvSpPr>
        <p:spPr>
          <a:xfrm>
            <a:off x="7846230" y="5987012"/>
            <a:ext cx="3545394" cy="369332"/>
          </a:xfrm>
          <a:prstGeom prst="rect">
            <a:avLst/>
          </a:prstGeom>
        </p:spPr>
        <p:txBody>
          <a:bodyPr wrap="none">
            <a:spAutoFit/>
          </a:bodyPr>
          <a:lstStyle/>
          <a:p>
            <a:r>
              <a:rPr lang="en-GB" dirty="0">
                <a:latin typeface="Times New Roman" panose="02020603050405020304" pitchFamily="18" charset="0"/>
                <a:ea typeface="Calibri" panose="020F0502020204030204" pitchFamily="34" charset="0"/>
                <a:cs typeface="Times New Roman" panose="02020603050405020304" pitchFamily="18" charset="0"/>
              </a:rPr>
              <a:t>Figure 3</a:t>
            </a:r>
            <a:r>
              <a:rPr lang="en-GB" dirty="0" smtClean="0">
                <a:latin typeface="Times New Roman" panose="02020603050405020304" pitchFamily="18" charset="0"/>
                <a:ea typeface="Calibri" panose="020F0502020204030204" pitchFamily="34" charset="0"/>
                <a:cs typeface="Times New Roman" panose="02020603050405020304" pitchFamily="18" charset="0"/>
              </a:rPr>
              <a:t>. Detailed </a:t>
            </a:r>
            <a:r>
              <a:rPr lang="en-GB" dirty="0" smtClean="0">
                <a:latin typeface="Times New Roman" panose="02020603050405020304" pitchFamily="18" charset="0"/>
                <a:cs typeface="Times New Roman" panose="02020603050405020304" pitchFamily="18" charset="0"/>
              </a:rPr>
              <a:t>AWS Subsystems</a:t>
            </a: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a:off x="6484686" y="2777970"/>
            <a:ext cx="3884974" cy="338554"/>
          </a:xfrm>
          <a:prstGeom prst="rect">
            <a:avLst/>
          </a:prstGeom>
        </p:spPr>
        <p:txBody>
          <a:bodyPr wrap="none">
            <a:spAutoFit/>
          </a:bodyPr>
          <a:lstStyle/>
          <a:p>
            <a:r>
              <a:rPr lang="en-GB" sz="1600" b="1" dirty="0">
                <a:latin typeface="Times New Roman" panose="02020603050405020304" pitchFamily="18" charset="0"/>
                <a:ea typeface="Calibri" panose="020F0502020204030204" pitchFamily="34" charset="0"/>
              </a:rPr>
              <a:t>Power subsystem (Converter and Storage)</a:t>
            </a:r>
            <a:endParaRPr lang="en-US" sz="1600" dirty="0"/>
          </a:p>
        </p:txBody>
      </p:sp>
      <p:sp>
        <p:nvSpPr>
          <p:cNvPr id="4" name="Rectangle 3"/>
          <p:cNvSpPr/>
          <p:nvPr/>
        </p:nvSpPr>
        <p:spPr>
          <a:xfrm>
            <a:off x="2519460" y="1434131"/>
            <a:ext cx="4340740" cy="355803"/>
          </a:xfrm>
          <a:prstGeom prst="rect">
            <a:avLst/>
          </a:prstGeom>
        </p:spPr>
        <p:txBody>
          <a:bodyPr wrap="none">
            <a:spAutoFit/>
          </a:bodyPr>
          <a:lstStyle/>
          <a:p>
            <a:pPr lvl="2">
              <a:lnSpc>
                <a:spcPct val="107000"/>
              </a:lnSpc>
              <a:spcBef>
                <a:spcPts val="200"/>
              </a:spcBef>
              <a:spcAft>
                <a:spcPts val="1200"/>
              </a:spcAft>
              <a:buClr>
                <a:srgbClr val="000000"/>
              </a:buClr>
            </a:pPr>
            <a:r>
              <a:rPr lang="en-GB" sz="1600" b="1" dirty="0">
                <a:latin typeface="Times New Roman" panose="02020603050405020304" pitchFamily="18" charset="0"/>
                <a:ea typeface="Times New Roman" panose="02020603050405020304" pitchFamily="18" charset="0"/>
                <a:cs typeface="Times New Roman" panose="02020603050405020304" pitchFamily="18" charset="0"/>
              </a:rPr>
              <a:t>Sensor &amp;</a:t>
            </a:r>
            <a:r>
              <a:rPr lang="en-GB" sz="1600" b="1"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GB" sz="1600" b="1" dirty="0">
                <a:latin typeface="Times New Roman" panose="02020603050405020304" pitchFamily="18" charset="0"/>
                <a:ea typeface="Times New Roman" panose="02020603050405020304" pitchFamily="18" charset="0"/>
                <a:cs typeface="Times New Roman" panose="02020603050405020304" pitchFamily="18" charset="0"/>
              </a:rPr>
              <a:t>C</a:t>
            </a:r>
            <a:r>
              <a:rPr lang="en-GB" sz="1600" b="1" dirty="0" smtClean="0">
                <a:latin typeface="Times New Roman" panose="02020603050405020304" pitchFamily="18" charset="0"/>
                <a:ea typeface="Times New Roman" panose="02020603050405020304" pitchFamily="18" charset="0"/>
                <a:cs typeface="Times New Roman" panose="02020603050405020304" pitchFamily="18" charset="0"/>
              </a:rPr>
              <a:t>ommunication </a:t>
            </a:r>
            <a:r>
              <a:rPr lang="en-GB" sz="1600" b="1" dirty="0">
                <a:latin typeface="Times New Roman" panose="02020603050405020304" pitchFamily="18" charset="0"/>
                <a:ea typeface="Times New Roman" panose="02020603050405020304" pitchFamily="18" charset="0"/>
                <a:cs typeface="Times New Roman" panose="02020603050405020304" pitchFamily="18" charset="0"/>
              </a:rPr>
              <a:t>subsystem</a:t>
            </a:r>
            <a:endParaRPr lang="en-US" sz="1600" b="1" dirty="0">
              <a:latin typeface="Calibri Light" panose="020F0302020204030204" pitchFamily="34" charset="0"/>
              <a:ea typeface="Times New Roman" panose="02020603050405020304" pitchFamily="18" charset="0"/>
              <a:cs typeface="Times New Roman" panose="02020603050405020304" pitchFamily="18" charset="0"/>
            </a:endParaRPr>
          </a:p>
        </p:txBody>
      </p:sp>
      <p:grpSp>
        <p:nvGrpSpPr>
          <p:cNvPr id="5" name="Group 4"/>
          <p:cNvGrpSpPr/>
          <p:nvPr/>
        </p:nvGrpSpPr>
        <p:grpSpPr>
          <a:xfrm>
            <a:off x="1080606" y="1323975"/>
            <a:ext cx="9454044" cy="4159250"/>
            <a:chOff x="347181" y="2514600"/>
            <a:chExt cx="9454044" cy="4159250"/>
          </a:xfrm>
        </p:grpSpPr>
        <p:grpSp>
          <p:nvGrpSpPr>
            <p:cNvPr id="30" name="Group 29"/>
            <p:cNvGrpSpPr/>
            <p:nvPr/>
          </p:nvGrpSpPr>
          <p:grpSpPr>
            <a:xfrm>
              <a:off x="1152525" y="2514600"/>
              <a:ext cx="8648700" cy="4159250"/>
              <a:chOff x="0" y="0"/>
              <a:chExt cx="6711084" cy="2653549"/>
            </a:xfrm>
          </p:grpSpPr>
          <p:sp>
            <p:nvSpPr>
              <p:cNvPr id="31" name="Rounded Rectangle 30"/>
              <p:cNvSpPr/>
              <p:nvPr/>
            </p:nvSpPr>
            <p:spPr>
              <a:xfrm>
                <a:off x="990600" y="284018"/>
                <a:ext cx="2449830" cy="152019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2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Gateway Board</a:t>
                </a:r>
                <a:endParaRPr lang="en-US" sz="1100" dirty="0">
                  <a:effectLst/>
                  <a:ea typeface="Calibri" panose="020F0502020204030204" pitchFamily="34" charset="0"/>
                  <a:cs typeface="Times New Roman" panose="02020603050405020304" pitchFamily="18" charset="0"/>
                </a:endParaRPr>
              </a:p>
            </p:txBody>
          </p:sp>
          <p:sp>
            <p:nvSpPr>
              <p:cNvPr id="32" name="Rounded Rectangle 31"/>
              <p:cNvSpPr/>
              <p:nvPr/>
            </p:nvSpPr>
            <p:spPr>
              <a:xfrm>
                <a:off x="1136073" y="1219200"/>
                <a:ext cx="1207770" cy="483870"/>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200" b="1" dirty="0">
                    <a:ln>
                      <a:noFill/>
                    </a:ln>
                    <a:solidFill>
                      <a:schemeClr val="bg1"/>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Microcontroller</a:t>
                </a:r>
                <a:endParaRPr lang="en-US" sz="1100" b="1" dirty="0">
                  <a:solidFill>
                    <a:schemeClr val="bg1"/>
                  </a:solidFill>
                  <a:effectLst/>
                  <a:ea typeface="Calibri" panose="020F0502020204030204" pitchFamily="34" charset="0"/>
                  <a:cs typeface="Times New Roman" panose="02020603050405020304" pitchFamily="18" charset="0"/>
                </a:endParaRPr>
              </a:p>
            </p:txBody>
          </p:sp>
          <p:sp>
            <p:nvSpPr>
              <p:cNvPr id="33" name="Rounded Rectangle 32"/>
              <p:cNvSpPr/>
              <p:nvPr/>
            </p:nvSpPr>
            <p:spPr>
              <a:xfrm>
                <a:off x="0" y="20781"/>
                <a:ext cx="1202690" cy="615950"/>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200" b="1" dirty="0">
                    <a:ln>
                      <a:noFill/>
                    </a:ln>
                    <a:solidFill>
                      <a:schemeClr val="bg1"/>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Sensor Nodes</a:t>
                </a:r>
                <a:endParaRPr lang="en-US" sz="1100" b="1" dirty="0">
                  <a:solidFill>
                    <a:schemeClr val="bg1"/>
                  </a:solidFill>
                  <a:effectLst/>
                  <a:ea typeface="Calibri" panose="020F0502020204030204" pitchFamily="34" charset="0"/>
                  <a:cs typeface="Times New Roman" panose="02020603050405020304" pitchFamily="18" charset="0"/>
                </a:endParaRPr>
              </a:p>
            </p:txBody>
          </p:sp>
          <p:sp>
            <p:nvSpPr>
              <p:cNvPr id="34" name="Rounded Rectangle 33"/>
              <p:cNvSpPr/>
              <p:nvPr/>
            </p:nvSpPr>
            <p:spPr>
              <a:xfrm>
                <a:off x="4087091" y="1198418"/>
                <a:ext cx="968375" cy="5657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0"/>
                  </a:spcAft>
                </a:pPr>
                <a:r>
                  <a:rPr lang="en-GB" sz="12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DC – DC</a:t>
                </a:r>
                <a:endParaRPr lang="en-US" sz="1100" dirty="0">
                  <a:effectLst/>
                  <a:ea typeface="Calibri" panose="020F0502020204030204" pitchFamily="34" charset="0"/>
                  <a:cs typeface="Times New Roman" panose="02020603050405020304" pitchFamily="18" charset="0"/>
                </a:endParaRPr>
              </a:p>
              <a:p>
                <a:pPr algn="ctr">
                  <a:lnSpc>
                    <a:spcPct val="115000"/>
                  </a:lnSpc>
                  <a:spcAft>
                    <a:spcPts val="0"/>
                  </a:spcAft>
                </a:pPr>
                <a:r>
                  <a:rPr lang="en-GB" sz="12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Converter</a:t>
                </a:r>
                <a:endParaRPr lang="en-US" sz="1100" dirty="0">
                  <a:effectLst/>
                  <a:ea typeface="Calibri" panose="020F0502020204030204" pitchFamily="34" charset="0"/>
                  <a:cs typeface="Times New Roman" panose="02020603050405020304" pitchFamily="18" charset="0"/>
                </a:endParaRPr>
              </a:p>
            </p:txBody>
          </p:sp>
          <p:sp>
            <p:nvSpPr>
              <p:cNvPr id="35" name="Rounded Rectangle 34"/>
              <p:cNvSpPr/>
              <p:nvPr/>
            </p:nvSpPr>
            <p:spPr>
              <a:xfrm>
                <a:off x="2521528" y="1205345"/>
                <a:ext cx="772795" cy="49466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0"/>
                  </a:spcAft>
                </a:pPr>
                <a:r>
                  <a:rPr lang="en-GB" sz="12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LDO</a:t>
                </a:r>
                <a:endParaRPr lang="en-US" sz="1100" dirty="0">
                  <a:effectLst/>
                  <a:ea typeface="Calibri" panose="020F0502020204030204" pitchFamily="34" charset="0"/>
                  <a:cs typeface="Times New Roman" panose="02020603050405020304" pitchFamily="18" charset="0"/>
                </a:endParaRPr>
              </a:p>
            </p:txBody>
          </p:sp>
          <p:sp>
            <p:nvSpPr>
              <p:cNvPr id="36" name="Rounded Rectangle 35"/>
              <p:cNvSpPr/>
              <p:nvPr/>
            </p:nvSpPr>
            <p:spPr>
              <a:xfrm>
                <a:off x="1503219" y="332509"/>
                <a:ext cx="1306195" cy="554990"/>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0"/>
                  </a:spcAft>
                </a:pPr>
                <a:r>
                  <a:rPr lang="en-GB" sz="1200" b="1" dirty="0">
                    <a:ln>
                      <a:noFill/>
                    </a:ln>
                    <a:solidFill>
                      <a:schemeClr val="bg1"/>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GSM + LoRa</a:t>
                </a:r>
                <a:endParaRPr lang="en-US" sz="1100" b="1" dirty="0">
                  <a:solidFill>
                    <a:schemeClr val="bg1"/>
                  </a:solidFill>
                  <a:effectLst/>
                  <a:ea typeface="Calibri" panose="020F0502020204030204" pitchFamily="34" charset="0"/>
                  <a:cs typeface="Times New Roman" panose="02020603050405020304" pitchFamily="18" charset="0"/>
                </a:endParaRPr>
              </a:p>
              <a:p>
                <a:pPr algn="ctr">
                  <a:lnSpc>
                    <a:spcPct val="107000"/>
                  </a:lnSpc>
                  <a:spcAft>
                    <a:spcPts val="0"/>
                  </a:spcAft>
                </a:pPr>
                <a:r>
                  <a:rPr lang="en-GB" sz="1200" b="1" dirty="0">
                    <a:ln>
                      <a:noFill/>
                    </a:ln>
                    <a:solidFill>
                      <a:schemeClr val="bg1"/>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Modules</a:t>
                </a:r>
                <a:endParaRPr lang="en-US" sz="1100" b="1" dirty="0">
                  <a:solidFill>
                    <a:schemeClr val="bg1"/>
                  </a:solidFill>
                  <a:effectLst/>
                  <a:ea typeface="Calibri" panose="020F0502020204030204" pitchFamily="34" charset="0"/>
                  <a:cs typeface="Times New Roman" panose="02020603050405020304" pitchFamily="18" charset="0"/>
                </a:endParaRPr>
              </a:p>
            </p:txBody>
          </p:sp>
          <p:sp>
            <p:nvSpPr>
              <p:cNvPr id="37" name="Rounded Rectangle 36"/>
              <p:cNvSpPr/>
              <p:nvPr/>
            </p:nvSpPr>
            <p:spPr>
              <a:xfrm>
                <a:off x="5444837" y="1198418"/>
                <a:ext cx="1104900" cy="5657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0"/>
                  </a:spcAft>
                </a:pPr>
                <a:r>
                  <a:rPr lang="en-GB" sz="12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Solar </a:t>
                </a:r>
                <a:r>
                  <a:rPr lang="en-GB" sz="1200" dirty="0" smtClean="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Panel</a:t>
                </a:r>
              </a:p>
            </p:txBody>
          </p:sp>
          <p:sp>
            <p:nvSpPr>
              <p:cNvPr id="38" name="Rounded Rectangle 37"/>
              <p:cNvSpPr/>
              <p:nvPr/>
            </p:nvSpPr>
            <p:spPr>
              <a:xfrm>
                <a:off x="4094019" y="2029691"/>
                <a:ext cx="968375" cy="5657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0"/>
                  </a:spcAft>
                </a:pPr>
                <a:r>
                  <a:rPr lang="en-GB" sz="12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Battery</a:t>
                </a:r>
                <a:endParaRPr lang="en-US" sz="1100" dirty="0">
                  <a:effectLst/>
                  <a:ea typeface="Calibri" panose="020F0502020204030204" pitchFamily="34" charset="0"/>
                  <a:cs typeface="Times New Roman" panose="02020603050405020304" pitchFamily="18" charset="0"/>
                </a:endParaRPr>
              </a:p>
              <a:p>
                <a:pPr algn="ctr">
                  <a:lnSpc>
                    <a:spcPct val="115000"/>
                  </a:lnSpc>
                  <a:spcAft>
                    <a:spcPts val="0"/>
                  </a:spcAft>
                </a:pPr>
                <a:r>
                  <a:rPr lang="en-GB" sz="12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Charger</a:t>
                </a:r>
                <a:endParaRPr lang="en-US" sz="1100" dirty="0">
                  <a:effectLst/>
                  <a:ea typeface="Calibri" panose="020F0502020204030204" pitchFamily="34" charset="0"/>
                  <a:cs typeface="Times New Roman" panose="02020603050405020304" pitchFamily="18" charset="0"/>
                </a:endParaRPr>
              </a:p>
            </p:txBody>
          </p:sp>
          <p:sp>
            <p:nvSpPr>
              <p:cNvPr id="39" name="Cloud 38"/>
              <p:cNvSpPr/>
              <p:nvPr/>
            </p:nvSpPr>
            <p:spPr>
              <a:xfrm>
                <a:off x="4315691" y="137820"/>
                <a:ext cx="1071880" cy="5715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dirty="0">
                    <a:effectLst/>
                    <a:latin typeface="Times New Roman" panose="02020603050405020304" pitchFamily="18" charset="0"/>
                    <a:ea typeface="Calibri" panose="020F0502020204030204" pitchFamily="34" charset="0"/>
                    <a:cs typeface="Times New Roman" panose="02020603050405020304" pitchFamily="18" charset="0"/>
                  </a:rPr>
                  <a:t>Internet</a:t>
                </a:r>
                <a:endParaRPr lang="en-US" sz="1100" dirty="0">
                  <a:effectLst/>
                  <a:ea typeface="Calibri" panose="020F0502020204030204" pitchFamily="34" charset="0"/>
                  <a:cs typeface="Times New Roman" panose="02020603050405020304" pitchFamily="18" charset="0"/>
                </a:endParaRPr>
              </a:p>
            </p:txBody>
          </p:sp>
          <p:sp>
            <p:nvSpPr>
              <p:cNvPr id="40" name="Can 39"/>
              <p:cNvSpPr/>
              <p:nvPr/>
            </p:nvSpPr>
            <p:spPr>
              <a:xfrm>
                <a:off x="5825837" y="0"/>
                <a:ext cx="848995" cy="756285"/>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dirty="0">
                    <a:effectLst/>
                    <a:latin typeface="Times New Roman" panose="02020603050405020304" pitchFamily="18" charset="0"/>
                    <a:ea typeface="Calibri" panose="020F0502020204030204" pitchFamily="34" charset="0"/>
                    <a:cs typeface="Times New Roman" panose="02020603050405020304" pitchFamily="18" charset="0"/>
                  </a:rPr>
                  <a:t>Repository</a:t>
                </a:r>
                <a:endParaRPr lang="en-US" sz="1100" dirty="0">
                  <a:effectLst/>
                  <a:ea typeface="Calibri" panose="020F0502020204030204" pitchFamily="34" charset="0"/>
                  <a:cs typeface="Times New Roman" panose="02020603050405020304" pitchFamily="18" charset="0"/>
                </a:endParaRPr>
              </a:p>
            </p:txBody>
          </p:sp>
          <p:sp>
            <p:nvSpPr>
              <p:cNvPr id="41" name="Left-Right Arrow 40"/>
              <p:cNvSpPr/>
              <p:nvPr/>
            </p:nvSpPr>
            <p:spPr>
              <a:xfrm>
                <a:off x="3740727" y="376624"/>
                <a:ext cx="353291" cy="14193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2" name="Right Arrow 41"/>
              <p:cNvSpPr/>
              <p:nvPr/>
            </p:nvSpPr>
            <p:spPr>
              <a:xfrm rot="5400000">
                <a:off x="4464628" y="1825336"/>
                <a:ext cx="201295" cy="119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3" name="Right Arrow 42"/>
              <p:cNvSpPr/>
              <p:nvPr/>
            </p:nvSpPr>
            <p:spPr>
              <a:xfrm rot="10800000">
                <a:off x="3664528" y="1399309"/>
                <a:ext cx="201295" cy="119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4" name="Right Arrow 43"/>
              <p:cNvSpPr/>
              <p:nvPr/>
            </p:nvSpPr>
            <p:spPr>
              <a:xfrm rot="10800000">
                <a:off x="5153891" y="1420091"/>
                <a:ext cx="201295" cy="119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5" name="Right Arrow 44"/>
              <p:cNvSpPr/>
              <p:nvPr/>
            </p:nvSpPr>
            <p:spPr>
              <a:xfrm rot="10800000" flipH="1">
                <a:off x="5534891" y="374323"/>
                <a:ext cx="201295" cy="119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6" name="Right Arrow 45"/>
              <p:cNvSpPr/>
              <p:nvPr/>
            </p:nvSpPr>
            <p:spPr>
              <a:xfrm rot="3288561">
                <a:off x="741218" y="727364"/>
                <a:ext cx="201295" cy="119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7" name="Rounded Rectangle 46"/>
              <p:cNvSpPr/>
              <p:nvPr/>
            </p:nvSpPr>
            <p:spPr>
              <a:xfrm>
                <a:off x="1039091" y="865909"/>
                <a:ext cx="451485" cy="299085"/>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0"/>
                  </a:spcAft>
                </a:pPr>
                <a:r>
                  <a:rPr lang="en-GB" sz="1200" b="1" dirty="0">
                    <a:ln>
                      <a:noFill/>
                    </a:ln>
                    <a:solidFill>
                      <a:schemeClr val="bg1"/>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SD</a:t>
                </a:r>
                <a:endParaRPr lang="en-US" sz="1100" b="1" dirty="0">
                  <a:solidFill>
                    <a:schemeClr val="bg1"/>
                  </a:solidFill>
                  <a:effectLst/>
                  <a:ea typeface="Calibri" panose="020F0502020204030204" pitchFamily="34" charset="0"/>
                  <a:cs typeface="Times New Roman" panose="02020603050405020304" pitchFamily="18" charset="0"/>
                </a:endParaRPr>
              </a:p>
            </p:txBody>
          </p:sp>
          <p:sp>
            <p:nvSpPr>
              <p:cNvPr id="48" name="Rounded Rectangle 47"/>
              <p:cNvSpPr/>
              <p:nvPr/>
            </p:nvSpPr>
            <p:spPr>
              <a:xfrm>
                <a:off x="2854037" y="706581"/>
                <a:ext cx="533400" cy="337185"/>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0"/>
                  </a:spcAft>
                </a:pPr>
                <a:r>
                  <a:rPr lang="en-GB" sz="1200" b="1" dirty="0">
                    <a:ln>
                      <a:noFill/>
                    </a:ln>
                    <a:solidFill>
                      <a:schemeClr val="bg1"/>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RTC</a:t>
                </a:r>
                <a:endParaRPr lang="en-US" sz="1100" b="1" dirty="0">
                  <a:solidFill>
                    <a:schemeClr val="bg1"/>
                  </a:solidFill>
                  <a:effectLst/>
                  <a:ea typeface="Calibri" panose="020F0502020204030204" pitchFamily="34" charset="0"/>
                  <a:cs typeface="Times New Roman" panose="02020603050405020304" pitchFamily="18" charset="0"/>
                </a:endParaRPr>
              </a:p>
            </p:txBody>
          </p:sp>
          <p:sp>
            <p:nvSpPr>
              <p:cNvPr id="49" name="Rounded Rectangle 48"/>
              <p:cNvSpPr/>
              <p:nvPr/>
            </p:nvSpPr>
            <p:spPr>
              <a:xfrm>
                <a:off x="2590800" y="2154381"/>
                <a:ext cx="968375" cy="40195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0"/>
                  </a:spcAft>
                </a:pPr>
                <a:r>
                  <a:rPr lang="en-GB" sz="12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Battery</a:t>
                </a:r>
                <a:endParaRPr lang="en-US" sz="1100" dirty="0">
                  <a:effectLst/>
                  <a:ea typeface="Calibri" panose="020F0502020204030204" pitchFamily="34" charset="0"/>
                  <a:cs typeface="Times New Roman" panose="02020603050405020304" pitchFamily="18" charset="0"/>
                </a:endParaRPr>
              </a:p>
            </p:txBody>
          </p:sp>
          <p:sp>
            <p:nvSpPr>
              <p:cNvPr id="50" name="Right Arrow 49"/>
              <p:cNvSpPr/>
              <p:nvPr/>
            </p:nvSpPr>
            <p:spPr>
              <a:xfrm rot="10800000">
                <a:off x="3622964" y="2265218"/>
                <a:ext cx="201295" cy="119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51" name="Right Arrow 50"/>
              <p:cNvSpPr/>
              <p:nvPr/>
            </p:nvSpPr>
            <p:spPr>
              <a:xfrm rot="16200000" flipV="1">
                <a:off x="2795155" y="1922318"/>
                <a:ext cx="201295" cy="119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52" name="Rounded Rectangle 51"/>
              <p:cNvSpPr/>
              <p:nvPr/>
            </p:nvSpPr>
            <p:spPr>
              <a:xfrm>
                <a:off x="2389909" y="1156854"/>
                <a:ext cx="4321175" cy="14966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55" name="Rounded Rectangle 54"/>
            <p:cNvSpPr/>
            <p:nvPr/>
          </p:nvSpPr>
          <p:spPr>
            <a:xfrm>
              <a:off x="347181" y="3241655"/>
              <a:ext cx="1342386" cy="775352"/>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0"/>
                </a:spcAft>
              </a:pPr>
              <a:r>
                <a:rPr lang="en-GB" sz="1200" dirty="0" smtClean="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Logic Level</a:t>
              </a:r>
            </a:p>
            <a:p>
              <a:pPr algn="ctr">
                <a:lnSpc>
                  <a:spcPct val="115000"/>
                </a:lnSpc>
                <a:spcAft>
                  <a:spcPts val="0"/>
                </a:spcAft>
              </a:pPr>
              <a:r>
                <a:rPr lang="en-GB" sz="1200" dirty="0" smtClean="0">
                  <a:solidFill>
                    <a:srgbClr val="000000"/>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Shifter</a:t>
              </a:r>
              <a:endParaRPr lang="en-US" sz="1100" dirty="0">
                <a:effectLst/>
                <a:ea typeface="Calibri" panose="020F0502020204030204" pitchFamily="34" charset="0"/>
                <a:cs typeface="Times New Roman" panose="02020603050405020304" pitchFamily="18" charset="0"/>
              </a:endParaRPr>
            </a:p>
          </p:txBody>
        </p:sp>
      </p:grpSp>
      <p:sp>
        <p:nvSpPr>
          <p:cNvPr id="56" name="TextBox 55">
            <a:extLst>
              <a:ext uri="{FF2B5EF4-FFF2-40B4-BE49-F238E27FC236}">
                <a16:creationId xmlns="" xmlns:a16="http://schemas.microsoft.com/office/drawing/2014/main" id="{A273858E-A100-3E2B-C74D-80D581835B23}"/>
              </a:ext>
            </a:extLst>
          </p:cNvPr>
          <p:cNvSpPr txBox="1"/>
          <p:nvPr/>
        </p:nvSpPr>
        <p:spPr>
          <a:xfrm>
            <a:off x="4563697" y="146664"/>
            <a:ext cx="42291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Methodology Cont.</a:t>
            </a:r>
          </a:p>
        </p:txBody>
      </p:sp>
      <p:sp>
        <p:nvSpPr>
          <p:cNvPr id="8" name="Slide Number Placeholder 7"/>
          <p:cNvSpPr>
            <a:spLocks noGrp="1"/>
          </p:cNvSpPr>
          <p:nvPr>
            <p:ph type="sldNum" sz="quarter" idx="12"/>
          </p:nvPr>
        </p:nvSpPr>
        <p:spPr/>
        <p:txBody>
          <a:bodyPr/>
          <a:lstStyle/>
          <a:p>
            <a:fld id="{9B87FC41-F35B-458E-AD48-D36E6575979E}" type="slidenum">
              <a:rPr lang="en-US" smtClean="0"/>
              <a:t>13</a:t>
            </a:fld>
            <a:endParaRPr lang="en-US" dirty="0"/>
          </a:p>
        </p:txBody>
      </p:sp>
    </p:spTree>
    <p:extLst>
      <p:ext uri="{BB962C8B-B14F-4D97-AF65-F5344CB8AC3E}">
        <p14:creationId xmlns:p14="http://schemas.microsoft.com/office/powerpoint/2010/main" val="22429986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44E00F3-35C1-1487-EF53-4D7B2FFC0E06}"/>
            </a:ext>
          </a:extLst>
        </p:cNvPr>
        <p:cNvGrpSpPr/>
        <p:nvPr/>
      </p:nvGrpSpPr>
      <p:grpSpPr>
        <a:xfrm>
          <a:off x="0" y="0"/>
          <a:ext cx="0" cy="0"/>
          <a:chOff x="0" y="0"/>
          <a:chExt cx="0" cy="0"/>
        </a:xfrm>
      </p:grpSpPr>
      <p:sp>
        <p:nvSpPr>
          <p:cNvPr id="8" name="Rectangle 7"/>
          <p:cNvSpPr/>
          <p:nvPr/>
        </p:nvSpPr>
        <p:spPr>
          <a:xfrm>
            <a:off x="281479" y="1073816"/>
            <a:ext cx="7710588" cy="5386090"/>
          </a:xfrm>
          <a:prstGeom prst="rect">
            <a:avLst/>
          </a:prstGeom>
        </p:spPr>
        <p:txBody>
          <a:bodyPr wrap="square">
            <a:spAutoFit/>
          </a:bodyPr>
          <a:lstStyle/>
          <a:p>
            <a:pPr marL="285750" indent="-285750" algn="just">
              <a:lnSpc>
                <a:spcPct val="150000"/>
              </a:lnSpc>
              <a:spcAft>
                <a:spcPts val="800"/>
              </a:spcAft>
              <a:buFont typeface="Wingdings" panose="05000000000000000000" pitchFamily="2" charset="2"/>
              <a:buChar char="q"/>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Control </a:t>
            </a:r>
            <a:r>
              <a:rPr lang="en-GB" sz="2400" dirty="0">
                <a:latin typeface="Times New Roman" panose="02020603050405020304" pitchFamily="18" charset="0"/>
                <a:ea typeface="Calibri" panose="020F0502020204030204" pitchFamily="34" charset="0"/>
                <a:cs typeface="Times New Roman" panose="02020603050405020304" pitchFamily="18" charset="0"/>
              </a:rPr>
              <a:t>strategy will include Gain scheduled adaptive control, Model Reference Adaptive Control MRAC,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or GS to be developed using MATLAB</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Firmware will be developed using ESP-IDF, Arduino IDE</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Wingdings" panose="05000000000000000000" pitchFamily="2" charset="2"/>
              <a:buChar char="q"/>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Simulation </a:t>
            </a:r>
            <a:r>
              <a:rPr lang="en-GB" sz="2400" dirty="0">
                <a:latin typeface="Times New Roman" panose="02020603050405020304" pitchFamily="18" charset="0"/>
                <a:ea typeface="Calibri" panose="020F0502020204030204" pitchFamily="34" charset="0"/>
                <a:cs typeface="Times New Roman" panose="02020603050405020304" pitchFamily="18" charset="0"/>
              </a:rPr>
              <a:t>tasks will include; evaluating algorithm response to fluctuating solar input, implementing duty cycle adjustments based on SoC and load variation, and finally, modelling power management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modes (active, &amp; sleep).</a:t>
            </a:r>
          </a:p>
        </p:txBody>
      </p:sp>
      <p:sp>
        <p:nvSpPr>
          <p:cNvPr id="2" name="Rectangle 1"/>
          <p:cNvSpPr/>
          <p:nvPr/>
        </p:nvSpPr>
        <p:spPr>
          <a:xfrm>
            <a:off x="4136773" y="602853"/>
            <a:ext cx="4547976" cy="522259"/>
          </a:xfrm>
          <a:prstGeom prst="rect">
            <a:avLst/>
          </a:prstGeom>
        </p:spPr>
        <p:txBody>
          <a:bodyPr wrap="none">
            <a:spAutoFit/>
          </a:bodyPr>
          <a:lstStyle/>
          <a:p>
            <a:pPr marL="0" lvl="1">
              <a:lnSpc>
                <a:spcPct val="107000"/>
              </a:lnSpc>
              <a:spcBef>
                <a:spcPts val="200"/>
              </a:spcBef>
              <a:spcAft>
                <a:spcPts val="0"/>
              </a:spcAft>
            </a:pPr>
            <a:r>
              <a:rPr lang="en-GB" sz="2800" b="1" dirty="0">
                <a:latin typeface="Times New Roman" panose="02020603050405020304" pitchFamily="18" charset="0"/>
                <a:ea typeface="Times New Roman" panose="02020603050405020304" pitchFamily="18" charset="0"/>
                <a:cs typeface="Times New Roman" panose="02020603050405020304" pitchFamily="18" charset="0"/>
              </a:rPr>
              <a:t>Adaptive control algorithm  </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Rectangle 2"/>
          <p:cNvSpPr/>
          <p:nvPr/>
        </p:nvSpPr>
        <p:spPr>
          <a:xfrm>
            <a:off x="8172450" y="1232696"/>
            <a:ext cx="3382598" cy="5227210"/>
          </a:xfrm>
          <a:prstGeom prst="rect">
            <a:avLst/>
          </a:prstGeom>
          <a:solidFill>
            <a:srgbClr val="31875A"/>
          </a:solidFill>
          <a:ln w="76200">
            <a:solidFill>
              <a:schemeClr val="tx2">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spcAft>
                <a:spcPts val="800"/>
              </a:spcAft>
            </a:pPr>
            <a:r>
              <a:rPr lang="en-GB" b="1"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Sample Logic</a:t>
            </a:r>
          </a:p>
          <a:p>
            <a:pPr algn="ctr">
              <a:spcAft>
                <a:spcPts val="800"/>
              </a:spcAft>
            </a:pP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a:t>
            </a:r>
            <a:endPar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pP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If </a:t>
            </a: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SoC ˃ SoC</a:t>
            </a:r>
            <a:r>
              <a:rPr lang="en-GB" baseline="-25000"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high</a:t>
            </a: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 implies all sensors &amp; frequent </a:t>
            </a: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transmissions</a:t>
            </a:r>
          </a:p>
          <a:p>
            <a:pPr algn="ctr">
              <a:spcAft>
                <a:spcPts val="800"/>
              </a:spcAft>
            </a:pPr>
            <a:r>
              <a:rPr lang="en-GB" sz="1000" dirty="0" smtClean="0">
                <a:solidFill>
                  <a:srgbClr val="FFFF00"/>
                </a:solidFill>
                <a:latin typeface="Calibri" panose="020F0502020204030204" pitchFamily="34" charset="0"/>
                <a:ea typeface="Calibri" panose="020F0502020204030204" pitchFamily="34" charset="0"/>
                <a:cs typeface="Times New Roman" panose="02020603050405020304" pitchFamily="18" charset="0"/>
              </a:rPr>
              <a:t> </a:t>
            </a: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a:t>
            </a:r>
          </a:p>
          <a:p>
            <a:pPr algn="just">
              <a:spcAft>
                <a:spcPts val="800"/>
              </a:spcAft>
            </a:pP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If </a:t>
            </a: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SoC</a:t>
            </a:r>
            <a:r>
              <a:rPr lang="en-GB" baseline="-25000"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low</a:t>
            </a: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 ≤ SoC ≤  SoC</a:t>
            </a:r>
            <a:r>
              <a:rPr lang="en-GB" baseline="-25000"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high</a:t>
            </a: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 implies less frequent </a:t>
            </a: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transmissions</a:t>
            </a:r>
          </a:p>
          <a:p>
            <a:pPr algn="ctr">
              <a:spcAft>
                <a:spcPts val="800"/>
              </a:spcAft>
            </a:pPr>
            <a:r>
              <a:rPr lang="en-GB" sz="1000" dirty="0" smtClean="0">
                <a:solidFill>
                  <a:srgbClr val="FFFF00"/>
                </a:solidFill>
                <a:latin typeface="Calibri" panose="020F0502020204030204" pitchFamily="34" charset="0"/>
                <a:ea typeface="Calibri" panose="020F0502020204030204" pitchFamily="34" charset="0"/>
                <a:cs typeface="Times New Roman" panose="02020603050405020304" pitchFamily="18" charset="0"/>
              </a:rPr>
              <a:t>  </a:t>
            </a: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a:t>
            </a:r>
          </a:p>
          <a:p>
            <a:pPr algn="just">
              <a:spcAft>
                <a:spcPts val="800"/>
              </a:spcAft>
            </a:pP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If </a:t>
            </a: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SoC ˂ SoC</a:t>
            </a:r>
            <a:r>
              <a:rPr lang="en-GB" baseline="-25000"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low</a:t>
            </a: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 implies minimal safe mode, essential sensors, local data storage no or minimal </a:t>
            </a: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transmission</a:t>
            </a:r>
          </a:p>
          <a:p>
            <a:pPr algn="ctr">
              <a:spcAft>
                <a:spcPts val="800"/>
              </a:spcAft>
            </a:pPr>
            <a:r>
              <a:rPr lang="en-GB" sz="1050" dirty="0" smtClean="0">
                <a:solidFill>
                  <a:srgbClr val="FFFF00"/>
                </a:solidFill>
                <a:latin typeface="Calibri" panose="020F0502020204030204" pitchFamily="34" charset="0"/>
                <a:ea typeface="Calibri" panose="020F0502020204030204" pitchFamily="34" charset="0"/>
                <a:cs typeface="Times New Roman" panose="02020603050405020304" pitchFamily="18" charset="0"/>
              </a:rPr>
              <a:t>    </a:t>
            </a:r>
            <a:r>
              <a:rPr lang="en-GB"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a:t>
            </a:r>
            <a:endPar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endParaRPr>
          </a:p>
          <a:p>
            <a:pPr algn="ctr">
              <a:spcAft>
                <a:spcPts val="800"/>
              </a:spcAft>
            </a:pPr>
            <a:r>
              <a:rPr lang="en-GB" b="1"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Thresholds</a:t>
            </a:r>
            <a:endParaRPr lang="en-GB" b="1" dirty="0">
              <a:solidFill>
                <a:srgbClr val="FFFF00"/>
              </a:solidFill>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pPr>
            <a:r>
              <a:rPr lang="en-GB"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SoC_high = 0.6, SoC_low = 0.2</a:t>
            </a:r>
            <a:endParaRPr lang="en-US" sz="1600" dirty="0">
              <a:solidFill>
                <a:srgbClr val="FFFF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 xmlns:a16="http://schemas.microsoft.com/office/drawing/2014/main" id="{A273858E-A100-3E2B-C74D-80D581835B23}"/>
              </a:ext>
            </a:extLst>
          </p:cNvPr>
          <p:cNvSpPr txBox="1"/>
          <p:nvPr/>
        </p:nvSpPr>
        <p:spPr>
          <a:xfrm>
            <a:off x="4563697" y="146664"/>
            <a:ext cx="42291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Methodology Cont.</a:t>
            </a:r>
          </a:p>
        </p:txBody>
      </p:sp>
      <p:sp>
        <p:nvSpPr>
          <p:cNvPr id="7" name="Slide Number Placeholder 6"/>
          <p:cNvSpPr>
            <a:spLocks noGrp="1"/>
          </p:cNvSpPr>
          <p:nvPr>
            <p:ph type="sldNum" sz="quarter" idx="12"/>
          </p:nvPr>
        </p:nvSpPr>
        <p:spPr/>
        <p:txBody>
          <a:bodyPr/>
          <a:lstStyle/>
          <a:p>
            <a:fld id="{9B87FC41-F35B-458E-AD48-D36E6575979E}" type="slidenum">
              <a:rPr lang="en-US" smtClean="0"/>
              <a:t>14</a:t>
            </a:fld>
            <a:endParaRPr lang="en-US" dirty="0"/>
          </a:p>
        </p:txBody>
      </p:sp>
    </p:spTree>
    <p:extLst>
      <p:ext uri="{BB962C8B-B14F-4D97-AF65-F5344CB8AC3E}">
        <p14:creationId xmlns:p14="http://schemas.microsoft.com/office/powerpoint/2010/main" val="18188599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44E00F3-35C1-1487-EF53-4D7B2FFC0E06}"/>
            </a:ext>
          </a:extLst>
        </p:cNvPr>
        <p:cNvGrpSpPr/>
        <p:nvPr/>
      </p:nvGrpSpPr>
      <p:grpSpPr>
        <a:xfrm>
          <a:off x="0" y="0"/>
          <a:ext cx="0" cy="0"/>
          <a:chOff x="0" y="0"/>
          <a:chExt cx="0" cy="0"/>
        </a:xfrm>
      </p:grpSpPr>
      <p:sp>
        <p:nvSpPr>
          <p:cNvPr id="6" name="Rectangle 5"/>
          <p:cNvSpPr/>
          <p:nvPr/>
        </p:nvSpPr>
        <p:spPr>
          <a:xfrm>
            <a:off x="7417171" y="2795927"/>
            <a:ext cx="4695159" cy="2400657"/>
          </a:xfrm>
          <a:prstGeom prst="rect">
            <a:avLst/>
          </a:prstGeom>
        </p:spPr>
        <p:txBody>
          <a:bodyPr wrap="square">
            <a:spAutoFit/>
          </a:bodyPr>
          <a:lstStyle/>
          <a:p>
            <a:pPr marL="285750" indent="-285750" algn="just">
              <a:lnSpc>
                <a:spcPct val="150000"/>
              </a:lnSpc>
              <a:buFont typeface="Wingdings" panose="05000000000000000000" pitchFamily="2" charset="2"/>
              <a:buChar char="v"/>
            </a:pPr>
            <a:r>
              <a:rPr lang="en-GB" sz="2000" dirty="0" smtClean="0">
                <a:latin typeface="Times New Roman" panose="02020603050405020304" pitchFamily="18" charset="0"/>
                <a:ea typeface="Calibri" panose="020F0502020204030204" pitchFamily="34" charset="0"/>
              </a:rPr>
              <a:t>Evaluate </a:t>
            </a:r>
            <a:r>
              <a:rPr lang="en-GB" sz="2000" dirty="0">
                <a:latin typeface="Times New Roman" panose="02020603050405020304" pitchFamily="18" charset="0"/>
                <a:ea typeface="Calibri" panose="020F0502020204030204" pitchFamily="34" charset="0"/>
              </a:rPr>
              <a:t>system </a:t>
            </a:r>
            <a:r>
              <a:rPr lang="en-GB" sz="2000" dirty="0" smtClean="0">
                <a:latin typeface="Times New Roman" panose="02020603050405020304" pitchFamily="18" charset="0"/>
                <a:ea typeface="Calibri" panose="020F0502020204030204" pitchFamily="34" charset="0"/>
              </a:rPr>
              <a:t>uptime (%)</a:t>
            </a:r>
          </a:p>
          <a:p>
            <a:pPr marL="285750" indent="-285750" algn="just">
              <a:lnSpc>
                <a:spcPct val="150000"/>
              </a:lnSpc>
              <a:buFont typeface="Wingdings" panose="05000000000000000000" pitchFamily="2" charset="2"/>
              <a:buChar char="v"/>
            </a:pPr>
            <a:r>
              <a:rPr lang="en-GB" sz="2000" dirty="0" smtClean="0">
                <a:latin typeface="Times New Roman" panose="02020603050405020304" pitchFamily="18" charset="0"/>
                <a:ea typeface="Calibri" panose="020F0502020204030204" pitchFamily="34" charset="0"/>
              </a:rPr>
              <a:t>Energy </a:t>
            </a:r>
            <a:r>
              <a:rPr lang="en-GB" sz="2000" dirty="0">
                <a:latin typeface="Times New Roman" panose="02020603050405020304" pitchFamily="18" charset="0"/>
                <a:ea typeface="Calibri" panose="020F0502020204030204" pitchFamily="34" charset="0"/>
              </a:rPr>
              <a:t>efficiency in (mWh/day</a:t>
            </a:r>
            <a:r>
              <a:rPr lang="en-GB" sz="2000" dirty="0" smtClean="0">
                <a:latin typeface="Times New Roman" panose="02020603050405020304" pitchFamily="18" charset="0"/>
                <a:ea typeface="Calibri" panose="020F0502020204030204" pitchFamily="34" charset="0"/>
              </a:rPr>
              <a:t>).</a:t>
            </a:r>
          </a:p>
          <a:p>
            <a:pPr marL="285750" indent="-285750" algn="just">
              <a:lnSpc>
                <a:spcPct val="150000"/>
              </a:lnSpc>
              <a:buFont typeface="Wingdings" panose="05000000000000000000" pitchFamily="2" charset="2"/>
              <a:buChar char="v"/>
            </a:pPr>
            <a:r>
              <a:rPr lang="en-GB" sz="2000" dirty="0" smtClean="0">
                <a:latin typeface="Times New Roman" panose="02020603050405020304" pitchFamily="18" charset="0"/>
                <a:ea typeface="Calibri" panose="020F0502020204030204" pitchFamily="34" charset="0"/>
              </a:rPr>
              <a:t>Communication reliability (%).</a:t>
            </a:r>
          </a:p>
          <a:p>
            <a:pPr marL="285750" indent="-285750" algn="just">
              <a:lnSpc>
                <a:spcPct val="150000"/>
              </a:lnSpc>
              <a:buFont typeface="Wingdings" panose="05000000000000000000" pitchFamily="2" charset="2"/>
              <a:buChar char="v"/>
            </a:pPr>
            <a:r>
              <a:rPr lang="en-GB" sz="2000" dirty="0" smtClean="0">
                <a:latin typeface="Times New Roman" panose="02020603050405020304" pitchFamily="18" charset="0"/>
                <a:ea typeface="Calibri" panose="020F0502020204030204" pitchFamily="34" charset="0"/>
              </a:rPr>
              <a:t>Fault tolerance </a:t>
            </a:r>
            <a:r>
              <a:rPr lang="en-GB" dirty="0" smtClean="0">
                <a:latin typeface="Times New Roman" panose="02020603050405020304" pitchFamily="18" charset="0"/>
                <a:ea typeface="Calibri" panose="020F0502020204030204" pitchFamily="34" charset="0"/>
              </a:rPr>
              <a:t>(</a:t>
            </a:r>
            <a:r>
              <a:rPr lang="en-GB" b="1" dirty="0" smtClean="0">
                <a:latin typeface="Times New Roman" panose="02020603050405020304" pitchFamily="18" charset="0"/>
                <a:ea typeface="Calibri" panose="020F0502020204030204" pitchFamily="34" charset="0"/>
              </a:rPr>
              <a:t>MTBF, MTTR, RPO</a:t>
            </a:r>
            <a:r>
              <a:rPr lang="en-GB" dirty="0" smtClean="0">
                <a:latin typeface="Times New Roman" panose="02020603050405020304" pitchFamily="18" charset="0"/>
                <a:ea typeface="Calibri" panose="020F0502020204030204" pitchFamily="34" charset="0"/>
              </a:rPr>
              <a:t>).</a:t>
            </a:r>
            <a:endParaRPr lang="en-GB" sz="2000" dirty="0" smtClean="0">
              <a:latin typeface="Times New Roman" panose="02020603050405020304" pitchFamily="18" charset="0"/>
              <a:ea typeface="Calibri" panose="020F0502020204030204" pitchFamily="34" charset="0"/>
            </a:endParaRPr>
          </a:p>
          <a:p>
            <a:pPr marL="285750" indent="-285750" algn="just">
              <a:lnSpc>
                <a:spcPct val="150000"/>
              </a:lnSpc>
              <a:buFont typeface="Wingdings" panose="05000000000000000000" pitchFamily="2" charset="2"/>
              <a:buChar char="v"/>
            </a:pPr>
            <a:r>
              <a:rPr lang="en-GB" sz="2000" dirty="0" smtClean="0">
                <a:latin typeface="Times New Roman" panose="02020603050405020304" pitchFamily="18" charset="0"/>
                <a:ea typeface="Calibri" panose="020F0502020204030204" pitchFamily="34" charset="0"/>
              </a:rPr>
              <a:t>Environmental resilience.</a:t>
            </a:r>
            <a:endParaRPr lang="en-US" sz="3200" dirty="0"/>
          </a:p>
        </p:txBody>
      </p:sp>
      <p:sp>
        <p:nvSpPr>
          <p:cNvPr id="16" name="Rectangle 15"/>
          <p:cNvSpPr/>
          <p:nvPr/>
        </p:nvSpPr>
        <p:spPr>
          <a:xfrm>
            <a:off x="823769" y="654708"/>
            <a:ext cx="10538691" cy="479170"/>
          </a:xfrm>
          <a:prstGeom prst="rect">
            <a:avLst/>
          </a:prstGeom>
        </p:spPr>
        <p:txBody>
          <a:bodyPr wrap="square">
            <a:spAutoFit/>
          </a:bodyPr>
          <a:lstStyle/>
          <a:p>
            <a:pPr lvl="1" algn="ctr">
              <a:lnSpc>
                <a:spcPct val="115000"/>
              </a:lnSpc>
              <a:spcBef>
                <a:spcPts val="200"/>
              </a:spcBef>
              <a:spcAft>
                <a:spcPts val="0"/>
              </a:spcAft>
            </a:pPr>
            <a:r>
              <a:rPr lang="en-GB" sz="2400" b="1" dirty="0">
                <a:latin typeface="Times New Roman" panose="02020603050405020304" pitchFamily="18" charset="0"/>
                <a:ea typeface="Times New Roman" panose="02020603050405020304" pitchFamily="18" charset="0"/>
                <a:cs typeface="Times New Roman" panose="02020603050405020304" pitchFamily="18" charset="0"/>
              </a:rPr>
              <a:t>Field Testing and Performance </a:t>
            </a:r>
            <a:r>
              <a:rPr lang="en-GB" sz="2400" b="1" dirty="0" smtClean="0">
                <a:latin typeface="Times New Roman" panose="02020603050405020304" pitchFamily="18" charset="0"/>
                <a:ea typeface="Times New Roman" panose="02020603050405020304" pitchFamily="18" charset="0"/>
                <a:cs typeface="Times New Roman" panose="02020603050405020304" pitchFamily="18" charset="0"/>
              </a:rPr>
              <a:t>Evaluation</a:t>
            </a:r>
          </a:p>
        </p:txBody>
      </p:sp>
      <p:sp>
        <p:nvSpPr>
          <p:cNvPr id="27" name="Rectangle 26"/>
          <p:cNvSpPr/>
          <p:nvPr/>
        </p:nvSpPr>
        <p:spPr>
          <a:xfrm>
            <a:off x="7268931" y="2242914"/>
            <a:ext cx="4286943" cy="707886"/>
          </a:xfrm>
          <a:prstGeom prst="rect">
            <a:avLst/>
          </a:prstGeom>
        </p:spPr>
        <p:txBody>
          <a:bodyPr wrap="none">
            <a:spAutoFit/>
          </a:bodyPr>
          <a:lstStyle/>
          <a:p>
            <a:r>
              <a:rPr lang="en-GB" sz="2000" b="1" dirty="0" smtClean="0">
                <a:latin typeface="Times New Roman" panose="02020603050405020304" pitchFamily="18" charset="0"/>
                <a:ea typeface="Times New Roman" panose="02020603050405020304" pitchFamily="18" charset="0"/>
                <a:cs typeface="Times New Roman" panose="02020603050405020304" pitchFamily="18" charset="0"/>
              </a:rPr>
              <a:t>Sensor and Comm. Subsystem (KPIs)</a:t>
            </a:r>
            <a:endParaRPr lang="en-US" sz="2000" dirty="0"/>
          </a:p>
          <a:p>
            <a:endParaRPr lang="en-US" sz="2000" dirty="0"/>
          </a:p>
        </p:txBody>
      </p:sp>
      <p:sp>
        <p:nvSpPr>
          <p:cNvPr id="14" name="Rectangle 13"/>
          <p:cNvSpPr/>
          <p:nvPr/>
        </p:nvSpPr>
        <p:spPr>
          <a:xfrm>
            <a:off x="2879763" y="1555909"/>
            <a:ext cx="2591415" cy="369332"/>
          </a:xfrm>
          <a:prstGeom prst="rect">
            <a:avLst/>
          </a:prstGeom>
        </p:spPr>
        <p:txBody>
          <a:bodyPr wrap="none">
            <a:spAutoFit/>
          </a:bodyPr>
          <a:lstStyle/>
          <a:p>
            <a:r>
              <a:rPr lang="en-GB" b="1" dirty="0" smtClean="0">
                <a:latin typeface="Times New Roman" panose="02020603050405020304" pitchFamily="18" charset="0"/>
                <a:ea typeface="Times New Roman" panose="02020603050405020304" pitchFamily="18" charset="0"/>
                <a:cs typeface="Times New Roman" panose="02020603050405020304" pitchFamily="18" charset="0"/>
              </a:rPr>
              <a:t>Power subsystem (KPIs)</a:t>
            </a:r>
            <a:endParaRPr lang="en-US" dirty="0"/>
          </a:p>
        </p:txBody>
      </p:sp>
      <p:sp>
        <p:nvSpPr>
          <p:cNvPr id="15" name="Rectangle 14"/>
          <p:cNvSpPr/>
          <p:nvPr/>
        </p:nvSpPr>
        <p:spPr>
          <a:xfrm>
            <a:off x="1912628" y="1992217"/>
            <a:ext cx="4352211" cy="507831"/>
          </a:xfrm>
          <a:prstGeom prst="rect">
            <a:avLst/>
          </a:prstGeom>
        </p:spPr>
        <p:txBody>
          <a:bodyPr wrap="square">
            <a:spAutoFit/>
          </a:bodyPr>
          <a:lstStyle/>
          <a:p>
            <a:pPr marL="285750" lvl="2" indent="-285750" algn="just">
              <a:lnSpc>
                <a:spcPct val="150000"/>
              </a:lnSpc>
              <a:spcBef>
                <a:spcPts val="200"/>
              </a:spcBef>
              <a:spcAft>
                <a:spcPts val="0"/>
              </a:spcAft>
              <a:buClr>
                <a:srgbClr val="000000"/>
              </a:buClr>
              <a:buFont typeface="Wingdings" panose="05000000000000000000" pitchFamily="2" charset="2"/>
              <a:buChar char="q"/>
            </a:pPr>
            <a:r>
              <a:rPr lang="en-GB" b="1" dirty="0">
                <a:latin typeface="Times New Roman" panose="02020603050405020304" pitchFamily="18" charset="0"/>
                <a:ea typeface="Times New Roman" panose="02020603050405020304" pitchFamily="18" charset="0"/>
                <a:cs typeface="Times New Roman" panose="02020603050405020304" pitchFamily="18" charset="0"/>
              </a:rPr>
              <a:t>Converter efficiency and losses</a:t>
            </a:r>
            <a:endParaRPr lang="en-US" b="1" dirty="0">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17" name="Rectangle 16"/>
          <p:cNvSpPr/>
          <p:nvPr/>
        </p:nvSpPr>
        <p:spPr>
          <a:xfrm>
            <a:off x="973173" y="2652489"/>
            <a:ext cx="3409908" cy="507831"/>
          </a:xfrm>
          <a:prstGeom prst="rect">
            <a:avLst/>
          </a:prstGeom>
        </p:spPr>
        <p:txBody>
          <a:bodyPr wrap="none">
            <a:spAutoFit/>
          </a:bodyPr>
          <a:lstStyle/>
          <a:p>
            <a:pPr marL="1200150" lvl="2" indent="-285750" algn="just">
              <a:lnSpc>
                <a:spcPct val="150000"/>
              </a:lnSpc>
              <a:spcBef>
                <a:spcPts val="200"/>
              </a:spcBef>
              <a:spcAft>
                <a:spcPts val="0"/>
              </a:spcAft>
              <a:buClr>
                <a:srgbClr val="000000"/>
              </a:buClr>
              <a:buFont typeface="Wingdings" panose="05000000000000000000" pitchFamily="2" charset="2"/>
              <a:buChar char="q"/>
            </a:pPr>
            <a:r>
              <a:rPr lang="en-GB" b="1" dirty="0">
                <a:latin typeface="Times New Roman" panose="02020603050405020304" pitchFamily="18" charset="0"/>
                <a:ea typeface="Times New Roman" panose="02020603050405020304" pitchFamily="18" charset="0"/>
                <a:cs typeface="Times New Roman" panose="02020603050405020304" pitchFamily="18" charset="0"/>
              </a:rPr>
              <a:t>Battery/ SoC update</a:t>
            </a:r>
            <a:endParaRPr lang="en-US" b="1" dirty="0">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18" name="Rectangle 17"/>
          <p:cNvSpPr/>
          <p:nvPr/>
        </p:nvSpPr>
        <p:spPr>
          <a:xfrm>
            <a:off x="1912628" y="3359203"/>
            <a:ext cx="3170740" cy="369332"/>
          </a:xfrm>
          <a:prstGeom prst="rect">
            <a:avLst/>
          </a:prstGeom>
        </p:spPr>
        <p:txBody>
          <a:bodyPr wrap="none">
            <a:spAutoFit/>
          </a:bodyPr>
          <a:lstStyle/>
          <a:p>
            <a:pPr marL="285750" indent="-285750">
              <a:buFont typeface="Wingdings" panose="05000000000000000000" pitchFamily="2" charset="2"/>
              <a:buChar char="q"/>
            </a:pPr>
            <a:r>
              <a:rPr lang="en-GB" b="1" dirty="0">
                <a:latin typeface="Times New Roman" panose="02020603050405020304" pitchFamily="18" charset="0"/>
                <a:ea typeface="Calibri" panose="020F0502020204030204" pitchFamily="34" charset="0"/>
              </a:rPr>
              <a:t>Solar energy and PV Sizing</a:t>
            </a:r>
            <a:endParaRPr lang="en-US" dirty="0"/>
          </a:p>
        </p:txBody>
      </p:sp>
      <p:sp>
        <p:nvSpPr>
          <p:cNvPr id="19" name="Rectangle 18"/>
          <p:cNvSpPr/>
          <p:nvPr/>
        </p:nvSpPr>
        <p:spPr>
          <a:xfrm>
            <a:off x="973173" y="4186369"/>
            <a:ext cx="4784323" cy="507831"/>
          </a:xfrm>
          <a:prstGeom prst="rect">
            <a:avLst/>
          </a:prstGeom>
        </p:spPr>
        <p:txBody>
          <a:bodyPr wrap="none">
            <a:spAutoFit/>
          </a:bodyPr>
          <a:lstStyle/>
          <a:p>
            <a:pPr marL="1200150" lvl="2" indent="-285750" algn="just">
              <a:lnSpc>
                <a:spcPct val="150000"/>
              </a:lnSpc>
              <a:spcBef>
                <a:spcPts val="200"/>
              </a:spcBef>
              <a:spcAft>
                <a:spcPts val="0"/>
              </a:spcAft>
              <a:buClr>
                <a:srgbClr val="000000"/>
              </a:buClr>
              <a:buFont typeface="Wingdings" panose="05000000000000000000" pitchFamily="2" charset="2"/>
              <a:buChar char="q"/>
            </a:pPr>
            <a:r>
              <a:rPr lang="en-GB" b="1" dirty="0">
                <a:latin typeface="Times New Roman" panose="02020603050405020304" pitchFamily="18" charset="0"/>
                <a:ea typeface="Times New Roman" panose="02020603050405020304" pitchFamily="18" charset="0"/>
                <a:cs typeface="Times New Roman" panose="02020603050405020304" pitchFamily="18" charset="0"/>
              </a:rPr>
              <a:t>Energy budget for communication</a:t>
            </a:r>
            <a:endParaRPr lang="en-US" b="1" dirty="0">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20" name="Rectangle 19"/>
          <p:cNvSpPr/>
          <p:nvPr/>
        </p:nvSpPr>
        <p:spPr>
          <a:xfrm>
            <a:off x="973173" y="5120817"/>
            <a:ext cx="3602268" cy="507831"/>
          </a:xfrm>
          <a:prstGeom prst="rect">
            <a:avLst/>
          </a:prstGeom>
        </p:spPr>
        <p:txBody>
          <a:bodyPr wrap="none">
            <a:spAutoFit/>
          </a:bodyPr>
          <a:lstStyle/>
          <a:p>
            <a:pPr marL="1200150" lvl="2" indent="-285750" algn="just">
              <a:lnSpc>
                <a:spcPct val="150000"/>
              </a:lnSpc>
              <a:spcBef>
                <a:spcPts val="200"/>
              </a:spcBef>
              <a:spcAft>
                <a:spcPts val="0"/>
              </a:spcAft>
              <a:buClr>
                <a:srgbClr val="000000"/>
              </a:buClr>
              <a:buFont typeface="Wingdings" panose="05000000000000000000" pitchFamily="2" charset="2"/>
              <a:buChar char="q"/>
            </a:pPr>
            <a:r>
              <a:rPr lang="en-GB" b="1" dirty="0">
                <a:latin typeface="Times New Roman" panose="02020603050405020304" pitchFamily="18" charset="0"/>
                <a:ea typeface="Times New Roman" panose="02020603050405020304" pitchFamily="18" charset="0"/>
                <a:cs typeface="Times New Roman" panose="02020603050405020304" pitchFamily="18" charset="0"/>
              </a:rPr>
              <a:t>System average power</a:t>
            </a:r>
            <a:endParaRPr lang="en-US" b="1" dirty="0">
              <a:effectLst/>
              <a:latin typeface="Calibri Light" panose="020F030202020403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Rectangle 20"/>
              <p:cNvSpPr/>
              <p:nvPr/>
            </p:nvSpPr>
            <p:spPr>
              <a:xfrm>
                <a:off x="1912628" y="6196199"/>
                <a:ext cx="4203971" cy="562975"/>
              </a:xfrm>
              <a:prstGeom prst="rect">
                <a:avLst/>
              </a:prstGeom>
            </p:spPr>
            <p:txBody>
              <a:bodyPr wrap="none">
                <a:spAutoFit/>
              </a:bodyPr>
              <a:lstStyle/>
              <a:p>
                <a:pPr marL="285750" indent="-285750">
                  <a:buFont typeface="Wingdings" panose="05000000000000000000" pitchFamily="2" charset="2"/>
                  <a:buChar char="q"/>
                </a:pPr>
                <a14:m>
                  <m:oMath xmlns:m="http://schemas.openxmlformats.org/officeDocument/2006/math">
                    <m:r>
                      <a:rPr lang="en-US" b="1" i="1">
                        <a:latin typeface="Cambria Math" panose="02040503050406030204" pitchFamily="18" charset="0"/>
                      </a:rPr>
                      <m:t>𝐁</m:t>
                    </m:r>
                    <m:r>
                      <a:rPr lang="en-US" b="1" i="0">
                        <a:latin typeface="Cambria Math" panose="02040503050406030204" pitchFamily="18" charset="0"/>
                      </a:rPr>
                      <m:t>𝐚𝐭𝐭𝐞𝐫𝐲</m:t>
                    </m:r>
                    <m:r>
                      <a:rPr lang="en-US" b="1" i="0">
                        <a:latin typeface="Cambria Math" panose="02040503050406030204" pitchFamily="18" charset="0"/>
                      </a:rPr>
                      <m:t> </m:t>
                    </m:r>
                    <m:r>
                      <a:rPr lang="en-US" b="1" i="0">
                        <a:latin typeface="Cambria Math" panose="02040503050406030204" pitchFamily="18" charset="0"/>
                      </a:rPr>
                      <m:t>𝐥𝐢𝐟𝐞𝐭𝐢𝐦𝐞</m:t>
                    </m:r>
                    <m:r>
                      <a:rPr lang="en-US" b="1" i="0">
                        <a:latin typeface="Cambria Math" panose="02040503050406030204" pitchFamily="18" charset="0"/>
                      </a:rPr>
                      <m:t> (</m:t>
                    </m:r>
                    <m:r>
                      <a:rPr lang="en-US" b="1" i="0">
                        <a:latin typeface="Cambria Math" panose="02040503050406030204" pitchFamily="18" charset="0"/>
                      </a:rPr>
                      <m:t>𝐡𝐨𝐮𝐫𝐬</m:t>
                    </m:r>
                    <m:r>
                      <a:rPr lang="en-US" b="1" i="0">
                        <a:latin typeface="Cambria Math" panose="02040503050406030204" pitchFamily="18" charset="0"/>
                      </a:rPr>
                      <m:t>) </m:t>
                    </m:r>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i="0">
                                <a:latin typeface="Cambria Math" panose="02040503050406030204" pitchFamily="18" charset="0"/>
                              </a:rPr>
                              <m:t>E</m:t>
                            </m:r>
                          </m:e>
                          <m:sub>
                            <m:r>
                              <m:rPr>
                                <m:sty m:val="p"/>
                              </m:rPr>
                              <a:rPr lang="en-US" i="0">
                                <a:latin typeface="Cambria Math" panose="02040503050406030204" pitchFamily="18" charset="0"/>
                              </a:rPr>
                              <m:t>batt</m:t>
                            </m:r>
                            <m:r>
                              <a:rPr lang="en-US" i="0">
                                <a:latin typeface="Cambria Math" panose="02040503050406030204" pitchFamily="18" charset="0"/>
                              </a:rPr>
                              <m:t>,</m:t>
                            </m:r>
                            <m:r>
                              <m:rPr>
                                <m:sty m:val="p"/>
                              </m:rPr>
                              <a:rPr lang="en-US" i="0">
                                <a:latin typeface="Cambria Math" panose="02040503050406030204" pitchFamily="18" charset="0"/>
                              </a:rPr>
                              <m:t>nom</m:t>
                            </m:r>
                          </m:sub>
                        </m:sSub>
                      </m:num>
                      <m:den>
                        <m:sSub>
                          <m:sSubPr>
                            <m:ctrlPr>
                              <a:rPr lang="en-US" i="1">
                                <a:latin typeface="Cambria Math" panose="02040503050406030204" pitchFamily="18" charset="0"/>
                              </a:rPr>
                            </m:ctrlPr>
                          </m:sSubPr>
                          <m:e>
                            <m:r>
                              <m:rPr>
                                <m:sty m:val="p"/>
                              </m:rPr>
                              <a:rPr lang="en-US" i="0">
                                <a:latin typeface="Cambria Math" panose="02040503050406030204" pitchFamily="18" charset="0"/>
                              </a:rPr>
                              <m:t>P</m:t>
                            </m:r>
                          </m:e>
                          <m:sub>
                            <m:r>
                              <m:rPr>
                                <m:sty m:val="p"/>
                              </m:rPr>
                              <a:rPr lang="en-US" i="0">
                                <a:latin typeface="Cambria Math" panose="02040503050406030204" pitchFamily="18" charset="0"/>
                              </a:rPr>
                              <m:t>avg</m:t>
                            </m:r>
                          </m:sub>
                        </m:sSub>
                      </m:den>
                    </m:f>
                  </m:oMath>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912628" y="6196199"/>
                <a:ext cx="4203971" cy="562975"/>
              </a:xfrm>
              <a:prstGeom prst="rect">
                <a:avLst/>
              </a:prstGeom>
              <a:blipFill rotWithShape="0">
                <a:blip r:embed="rId3"/>
                <a:stretch>
                  <a:fillRect l="-1016" b="-10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1900257" y="5509731"/>
                <a:ext cx="4336893" cy="5908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P</m:t>
                          </m:r>
                        </m:e>
                        <m:sub>
                          <m:r>
                            <m:rPr>
                              <m:sty m:val="p"/>
                            </m:rPr>
                            <a:rPr lang="en-US">
                              <a:latin typeface="Cambria Math" panose="02040503050406030204" pitchFamily="18" charset="0"/>
                            </a:rPr>
                            <m:t>avg</m:t>
                          </m:r>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P</m:t>
                          </m:r>
                        </m:e>
                        <m:sub>
                          <m:r>
                            <m:rPr>
                              <m:sty m:val="p"/>
                            </m:rPr>
                            <a:rPr lang="en-US">
                              <a:latin typeface="Cambria Math" panose="02040503050406030204" pitchFamily="18" charset="0"/>
                            </a:rPr>
                            <m:t>active</m:t>
                          </m:r>
                        </m:sub>
                      </m:sSub>
                      <m:r>
                        <a:rPr lang="en-US">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t</m:t>
                              </m:r>
                            </m:e>
                            <m:sub>
                              <m:r>
                                <m:rPr>
                                  <m:sty m:val="p"/>
                                </m:rPr>
                                <a:rPr lang="en-US">
                                  <a:latin typeface="Cambria Math" panose="02040503050406030204" pitchFamily="18" charset="0"/>
                                </a:rPr>
                                <m:t>active</m:t>
                              </m:r>
                            </m:sub>
                          </m:sSub>
                        </m:num>
                        <m:den>
                          <m:r>
                            <m:rPr>
                              <m:sty m:val="p"/>
                            </m:rPr>
                            <a:rPr lang="en-US">
                              <a:latin typeface="Cambria Math" panose="02040503050406030204" pitchFamily="18" charset="0"/>
                            </a:rPr>
                            <m:t>T</m:t>
                          </m:r>
                        </m:den>
                      </m:f>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 + </m:t>
                          </m:r>
                          <m:r>
                            <m:rPr>
                              <m:sty m:val="p"/>
                            </m:rPr>
                            <a:rPr lang="en-US">
                              <a:latin typeface="Cambria Math" panose="02040503050406030204" pitchFamily="18" charset="0"/>
                            </a:rPr>
                            <m:t>P</m:t>
                          </m:r>
                        </m:e>
                        <m:sub>
                          <m:r>
                            <m:rPr>
                              <m:sty m:val="p"/>
                            </m:rPr>
                            <a:rPr lang="en-US">
                              <a:latin typeface="Cambria Math" panose="02040503050406030204" pitchFamily="18" charset="0"/>
                            </a:rPr>
                            <m:t>sleep</m:t>
                          </m:r>
                        </m:sub>
                      </m:sSub>
                      <m:r>
                        <a:rPr lang="en-US">
                          <a:latin typeface="Cambria Math" panose="02040503050406030204" pitchFamily="18" charset="0"/>
                        </a:rPr>
                        <m:t>(1−</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t</m:t>
                              </m:r>
                            </m:e>
                            <m:sub>
                              <m:r>
                                <m:rPr>
                                  <m:sty m:val="p"/>
                                </m:rPr>
                                <a:rPr lang="en-US">
                                  <a:latin typeface="Cambria Math" panose="02040503050406030204" pitchFamily="18" charset="0"/>
                                </a:rPr>
                                <m:t>active</m:t>
                              </m:r>
                            </m:sub>
                          </m:sSub>
                        </m:num>
                        <m:den>
                          <m:r>
                            <m:rPr>
                              <m:sty m:val="p"/>
                            </m:rPr>
                            <a:rPr lang="en-US">
                              <a:latin typeface="Cambria Math" panose="02040503050406030204" pitchFamily="18" charset="0"/>
                            </a:rPr>
                            <m:t>T</m:t>
                          </m:r>
                        </m:den>
                      </m:f>
                      <m:r>
                        <a:rPr lang="en-GB" i="1">
                          <a:latin typeface="Cambria Math" panose="02040503050406030204" pitchFamily="18" charset="0"/>
                        </a:rPr>
                        <m:t>)</m:t>
                      </m:r>
                    </m:oMath>
                  </m:oMathPara>
                </a14:m>
                <a:endParaRPr lang="en-US" dirty="0"/>
              </a:p>
            </p:txBody>
          </p:sp>
        </mc:Choice>
        <mc:Fallback xmlns="">
          <p:sp>
            <p:nvSpPr>
              <p:cNvPr id="24" name="Rectangle 23"/>
              <p:cNvSpPr>
                <a:spLocks noRot="1" noChangeAspect="1" noMove="1" noResize="1" noEditPoints="1" noAdjustHandles="1" noChangeArrowheads="1" noChangeShapeType="1" noTextEdit="1"/>
              </p:cNvSpPr>
              <p:nvPr/>
            </p:nvSpPr>
            <p:spPr>
              <a:xfrm>
                <a:off x="1900257" y="5509731"/>
                <a:ext cx="4336893" cy="59086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1912628" y="4560032"/>
                <a:ext cx="4165691" cy="6914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P</m:t>
                          </m:r>
                        </m:e>
                        <m:sub>
                          <m:r>
                            <m:rPr>
                              <m:sty m:val="p"/>
                            </m:rPr>
                            <a:rPr lang="en-US">
                              <a:latin typeface="Cambria Math" panose="02040503050406030204" pitchFamily="18" charset="0"/>
                            </a:rPr>
                            <m:t>comm</m:t>
                          </m:r>
                          <m:r>
                            <a:rPr lang="en-US">
                              <a:latin typeface="Cambria Math" panose="02040503050406030204" pitchFamily="18" charset="0"/>
                            </a:rPr>
                            <m:t>,</m:t>
                          </m:r>
                          <m:r>
                            <m:rPr>
                              <m:sty m:val="p"/>
                            </m:rPr>
                            <a:rPr lang="en-US">
                              <a:latin typeface="Cambria Math" panose="02040503050406030204" pitchFamily="18" charset="0"/>
                            </a:rPr>
                            <m:t>avg</m:t>
                          </m:r>
                        </m:sub>
                      </m:sSub>
                      <m:r>
                        <a:rPr lang="en-US">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E</m:t>
                              </m:r>
                            </m:e>
                            <m:sub>
                              <m:r>
                                <m:rPr>
                                  <m:sty m:val="p"/>
                                </m:rPr>
                                <a:rPr lang="en-US">
                                  <a:latin typeface="Cambria Math" panose="02040503050406030204" pitchFamily="18" charset="0"/>
                                </a:rPr>
                                <m:t>tx</m:t>
                              </m:r>
                            </m:sub>
                          </m:sSub>
                        </m:num>
                        <m:den>
                          <m:sSub>
                            <m:sSubPr>
                              <m:ctrlPr>
                                <a:rPr lang="en-US" i="1">
                                  <a:latin typeface="Cambria Math" panose="02040503050406030204" pitchFamily="18" charset="0"/>
                                </a:rPr>
                              </m:ctrlPr>
                            </m:sSubPr>
                            <m:e>
                              <m:r>
                                <m:rPr>
                                  <m:sty m:val="p"/>
                                </m:rPr>
                                <a:rPr lang="en-US">
                                  <a:latin typeface="Cambria Math" panose="02040503050406030204" pitchFamily="18" charset="0"/>
                                </a:rPr>
                                <m:t>T</m:t>
                              </m:r>
                            </m:e>
                            <m:sub>
                              <m:r>
                                <m:rPr>
                                  <m:sty m:val="p"/>
                                </m:rPr>
                                <a:rPr lang="en-US">
                                  <a:latin typeface="Cambria Math" panose="02040503050406030204" pitchFamily="18" charset="0"/>
                                </a:rPr>
                                <m:t>period</m:t>
                              </m:r>
                            </m:sub>
                          </m:sSub>
                        </m:den>
                      </m:f>
                      <m:sSub>
                        <m:sSubPr>
                          <m:ctrlPr>
                            <a:rPr lang="en-US" i="1">
                              <a:latin typeface="Cambria Math" panose="02040503050406030204" pitchFamily="18" charset="0"/>
                            </a:rPr>
                          </m:ctrlPr>
                        </m:sSubPr>
                        <m:e>
                          <m:r>
                            <a:rPr lang="en-US">
                              <a:latin typeface="Cambria Math" panose="02040503050406030204" pitchFamily="18" charset="0"/>
                            </a:rPr>
                            <m:t>+ </m:t>
                          </m:r>
                          <m:r>
                            <m:rPr>
                              <m:sty m:val="p"/>
                            </m:rPr>
                            <a:rPr lang="en-US">
                              <a:latin typeface="Cambria Math" panose="02040503050406030204" pitchFamily="18" charset="0"/>
                            </a:rPr>
                            <m:t>P</m:t>
                          </m:r>
                        </m:e>
                        <m:sub>
                          <m:r>
                            <m:rPr>
                              <m:sty m:val="p"/>
                            </m:rPr>
                            <a:rPr lang="en-US">
                              <a:latin typeface="Cambria Math" panose="02040503050406030204" pitchFamily="18" charset="0"/>
                            </a:rPr>
                            <m:t>idle</m:t>
                          </m:r>
                        </m:sub>
                      </m:sSub>
                      <m:r>
                        <a:rPr lang="en-GB">
                          <a:latin typeface="Cambria Math" panose="02040503050406030204" pitchFamily="18" charset="0"/>
                        </a:rPr>
                        <m:t>(</m:t>
                      </m:r>
                      <m:r>
                        <a:rPr lang="en-US">
                          <a:latin typeface="Cambria Math" panose="02040503050406030204" pitchFamily="18" charset="0"/>
                        </a:rPr>
                        <m:t>1−</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t</m:t>
                              </m:r>
                            </m:e>
                            <m:sub>
                              <m:r>
                                <m:rPr>
                                  <m:sty m:val="p"/>
                                </m:rPr>
                                <a:rPr lang="en-US">
                                  <a:latin typeface="Cambria Math" panose="02040503050406030204" pitchFamily="18" charset="0"/>
                                </a:rPr>
                                <m:t>tx</m:t>
                              </m:r>
                            </m:sub>
                          </m:sSub>
                        </m:num>
                        <m:den>
                          <m:sSub>
                            <m:sSubPr>
                              <m:ctrlPr>
                                <a:rPr lang="en-US" i="1">
                                  <a:latin typeface="Cambria Math" panose="02040503050406030204" pitchFamily="18" charset="0"/>
                                </a:rPr>
                              </m:ctrlPr>
                            </m:sSubPr>
                            <m:e>
                              <m:r>
                                <m:rPr>
                                  <m:sty m:val="p"/>
                                </m:rPr>
                                <a:rPr lang="en-US">
                                  <a:latin typeface="Cambria Math" panose="02040503050406030204" pitchFamily="18" charset="0"/>
                                </a:rPr>
                                <m:t>T</m:t>
                              </m:r>
                            </m:e>
                            <m:sub>
                              <m:r>
                                <m:rPr>
                                  <m:sty m:val="p"/>
                                </m:rPr>
                                <a:rPr lang="en-US">
                                  <a:latin typeface="Cambria Math" panose="02040503050406030204" pitchFamily="18" charset="0"/>
                                </a:rPr>
                                <m:t>period</m:t>
                              </m:r>
                            </m:sub>
                          </m:sSub>
                        </m:den>
                      </m:f>
                      <m:r>
                        <a:rPr lang="en-GB" i="1">
                          <a:latin typeface="Cambria Math" panose="02040503050406030204" pitchFamily="18" charset="0"/>
                        </a:rPr>
                        <m:t>)</m:t>
                      </m:r>
                    </m:oMath>
                  </m:oMathPara>
                </a14:m>
                <a:endParaRPr lang="en-US" dirty="0"/>
              </a:p>
            </p:txBody>
          </p:sp>
        </mc:Choice>
        <mc:Fallback xmlns="">
          <p:sp>
            <p:nvSpPr>
              <p:cNvPr id="28" name="Rectangle 27"/>
              <p:cNvSpPr>
                <a:spLocks noRot="1" noChangeAspect="1" noMove="1" noResize="1" noEditPoints="1" noAdjustHandles="1" noChangeArrowheads="1" noChangeShapeType="1" noTextEdit="1"/>
              </p:cNvSpPr>
              <p:nvPr/>
            </p:nvSpPr>
            <p:spPr>
              <a:xfrm>
                <a:off x="1912628" y="4560032"/>
                <a:ext cx="4165691" cy="69140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877358" y="3786316"/>
                <a:ext cx="3987181" cy="3948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E</m:t>
                          </m:r>
                        </m:e>
                        <m:sub>
                          <m:r>
                            <m:rPr>
                              <m:sty m:val="p"/>
                            </m:rPr>
                            <a:rPr lang="en-US" i="0">
                              <a:latin typeface="Cambria Math" panose="02040503050406030204" pitchFamily="18" charset="0"/>
                            </a:rPr>
                            <m:t>daily</m:t>
                          </m:r>
                        </m:sub>
                      </m:sSub>
                      <m:r>
                        <a:rPr lang="en-US" i="0">
                          <a:latin typeface="Cambria Math" panose="02040503050406030204" pitchFamily="18" charset="0"/>
                        </a:rPr>
                        <m:t>≈</m:t>
                      </m:r>
                      <m:sSub>
                        <m:sSubPr>
                          <m:ctrlPr>
                            <a:rPr lang="en-US" i="1">
                              <a:latin typeface="Cambria Math" panose="02040503050406030204" pitchFamily="18" charset="0"/>
                            </a:rPr>
                          </m:ctrlPr>
                        </m:sSubPr>
                        <m:e>
                          <m:r>
                            <m:rPr>
                              <m:sty m:val="p"/>
                            </m:rPr>
                            <a:rPr lang="en-US" i="0">
                              <a:latin typeface="Cambria Math" panose="02040503050406030204" pitchFamily="18" charset="0"/>
                            </a:rPr>
                            <m:t>η</m:t>
                          </m:r>
                        </m:e>
                        <m:sub>
                          <m:r>
                            <m:rPr>
                              <m:sty m:val="p"/>
                            </m:rPr>
                            <a:rPr lang="en-US" i="0">
                              <a:latin typeface="Cambria Math" panose="02040503050406030204" pitchFamily="18" charset="0"/>
                            </a:rPr>
                            <m:t>panel</m:t>
                          </m:r>
                          <m:r>
                            <a:rPr lang="en-US" i="0">
                              <a:latin typeface="Cambria Math" panose="02040503050406030204" pitchFamily="18" charset="0"/>
                            </a:rPr>
                            <m:t> </m:t>
                          </m:r>
                        </m:sub>
                      </m:sSub>
                      <m:sSub>
                        <m:sSubPr>
                          <m:ctrlPr>
                            <a:rPr lang="en-US" i="1">
                              <a:latin typeface="Cambria Math" panose="02040503050406030204" pitchFamily="18" charset="0"/>
                            </a:rPr>
                          </m:ctrlPr>
                        </m:sSubPr>
                        <m:e>
                          <m:r>
                            <a:rPr lang="en-US" i="0">
                              <a:latin typeface="Cambria Math" panose="02040503050406030204" pitchFamily="18" charset="0"/>
                            </a:rPr>
                            <m:t>×</m:t>
                          </m:r>
                          <m:r>
                            <m:rPr>
                              <m:sty m:val="p"/>
                            </m:rPr>
                            <a:rPr lang="en-US" i="0">
                              <a:latin typeface="Cambria Math" panose="02040503050406030204" pitchFamily="18" charset="0"/>
                            </a:rPr>
                            <m:t>A</m:t>
                          </m:r>
                        </m:e>
                        <m:sub>
                          <m:r>
                            <m:rPr>
                              <m:sty m:val="p"/>
                            </m:rPr>
                            <a:rPr lang="en-US" i="0">
                              <a:latin typeface="Cambria Math" panose="02040503050406030204" pitchFamily="18" charset="0"/>
                            </a:rPr>
                            <m:t>panel</m:t>
                          </m:r>
                          <m:r>
                            <a:rPr lang="en-US" i="0">
                              <a:latin typeface="Cambria Math" panose="02040503050406030204" pitchFamily="18" charset="0"/>
                            </a:rPr>
                            <m:t> </m:t>
                          </m:r>
                        </m:sub>
                      </m:sSub>
                      <m:sSub>
                        <m:sSubPr>
                          <m:ctrlPr>
                            <a:rPr lang="en-US" i="1">
                              <a:latin typeface="Cambria Math" panose="02040503050406030204" pitchFamily="18" charset="0"/>
                            </a:rPr>
                          </m:ctrlPr>
                        </m:sSubPr>
                        <m:e>
                          <m:r>
                            <a:rPr lang="en-US" i="0">
                              <a:latin typeface="Cambria Math" panose="02040503050406030204" pitchFamily="18" charset="0"/>
                            </a:rPr>
                            <m:t>×</m:t>
                          </m:r>
                          <m:r>
                            <m:rPr>
                              <m:sty m:val="p"/>
                            </m:rPr>
                            <a:rPr lang="en-US" i="0">
                              <a:latin typeface="Cambria Math" panose="02040503050406030204" pitchFamily="18" charset="0"/>
                            </a:rPr>
                            <m:t>G</m:t>
                          </m:r>
                        </m:e>
                        <m:sub>
                          <m:r>
                            <m:rPr>
                              <m:sty m:val="p"/>
                            </m:rPr>
                            <a:rPr lang="en-US" i="0">
                              <a:latin typeface="Cambria Math" panose="02040503050406030204" pitchFamily="18" charset="0"/>
                            </a:rPr>
                            <m:t>day</m:t>
                          </m:r>
                          <m:r>
                            <a:rPr lang="en-US" i="0">
                              <a:latin typeface="Cambria Math" panose="02040503050406030204" pitchFamily="18" charset="0"/>
                            </a:rPr>
                            <m:t> </m:t>
                          </m:r>
                        </m:sub>
                      </m:sSub>
                      <m:sSub>
                        <m:sSubPr>
                          <m:ctrlPr>
                            <a:rPr lang="en-US" i="1">
                              <a:latin typeface="Cambria Math" panose="02040503050406030204" pitchFamily="18" charset="0"/>
                            </a:rPr>
                          </m:ctrlPr>
                        </m:sSubPr>
                        <m:e>
                          <m:r>
                            <a:rPr lang="en-US" i="0">
                              <a:latin typeface="Cambria Math" panose="02040503050406030204" pitchFamily="18" charset="0"/>
                            </a:rPr>
                            <m:t>×</m:t>
                          </m:r>
                          <m:r>
                            <m:rPr>
                              <m:sty m:val="p"/>
                            </m:rPr>
                            <a:rPr lang="en-US" i="0">
                              <a:latin typeface="Cambria Math" panose="02040503050406030204" pitchFamily="18" charset="0"/>
                            </a:rPr>
                            <m:t>T</m:t>
                          </m:r>
                        </m:e>
                        <m:sub>
                          <m:r>
                            <m:rPr>
                              <m:sty m:val="p"/>
                            </m:rPr>
                            <a:rPr lang="en-US" i="0">
                              <a:latin typeface="Cambria Math" panose="02040503050406030204" pitchFamily="18" charset="0"/>
                            </a:rPr>
                            <m:t>sun</m:t>
                          </m:r>
                          <m:r>
                            <a:rPr lang="en-US" i="0">
                              <a:latin typeface="Cambria Math" panose="02040503050406030204" pitchFamily="18" charset="0"/>
                            </a:rPr>
                            <m:t> </m:t>
                          </m:r>
                        </m:sub>
                      </m:sSub>
                    </m:oMath>
                  </m:oMathPara>
                </a14:m>
                <a:endParaRPr lang="en-US" dirty="0"/>
              </a:p>
            </p:txBody>
          </p:sp>
        </mc:Choice>
        <mc:Fallback xmlns="">
          <p:sp>
            <p:nvSpPr>
              <p:cNvPr id="30" name="Rectangle 29"/>
              <p:cNvSpPr>
                <a:spLocks noRot="1" noChangeAspect="1" noMove="1" noResize="1" noEditPoints="1" noAdjustHandles="1" noChangeArrowheads="1" noChangeShapeType="1" noTextEdit="1"/>
              </p:cNvSpPr>
              <p:nvPr/>
            </p:nvSpPr>
            <p:spPr>
              <a:xfrm>
                <a:off x="1877358" y="3786316"/>
                <a:ext cx="3987181" cy="394852"/>
              </a:xfrm>
              <a:prstGeom prst="rect">
                <a:avLst/>
              </a:prstGeom>
              <a:blipFill rotWithShape="0">
                <a:blip r:embed="rId6"/>
                <a:stretch>
                  <a:fillRect b="-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4492235" y="2585148"/>
                <a:ext cx="2094611" cy="6978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S</m:t>
                      </m:r>
                      <m:r>
                        <m:rPr>
                          <m:sty m:val="p"/>
                        </m:rPr>
                        <a:rPr lang="en-US" i="0">
                          <a:latin typeface="Cambria Math" panose="02040503050406030204" pitchFamily="18" charset="0"/>
                        </a:rPr>
                        <m:t>oC</m:t>
                      </m:r>
                      <m:r>
                        <a:rPr lang="en-US" i="0">
                          <a:latin typeface="Cambria Math" panose="02040503050406030204" pitchFamily="18" charset="0"/>
                        </a:rPr>
                        <m:t> </m:t>
                      </m:r>
                      <m:d>
                        <m:dPr>
                          <m:ctrlPr>
                            <a:rPr lang="en-US" i="1">
                              <a:latin typeface="Cambria Math" panose="02040503050406030204" pitchFamily="18" charset="0"/>
                            </a:rPr>
                          </m:ctrlPr>
                        </m:dPr>
                        <m:e>
                          <m:r>
                            <m:rPr>
                              <m:sty m:val="p"/>
                            </m:rPr>
                            <a:rPr lang="en-US" i="0">
                              <a:latin typeface="Cambria Math" panose="02040503050406030204" pitchFamily="18" charset="0"/>
                            </a:rPr>
                            <m:t>t</m:t>
                          </m:r>
                        </m:e>
                      </m:d>
                      <m:r>
                        <a:rPr lang="en-US" i="0">
                          <a:latin typeface="Cambria Math" panose="02040503050406030204" pitchFamily="18" charset="0"/>
                        </a:rPr>
                        <m:t>=</m:t>
                      </m:r>
                      <m:f>
                        <m:fPr>
                          <m:ctrlPr>
                            <a:rPr lang="en-US" i="1">
                              <a:latin typeface="Cambria Math" panose="02040503050406030204" pitchFamily="18" charset="0"/>
                            </a:rPr>
                          </m:ctrlPr>
                        </m:fPr>
                        <m:num>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0">
                                      <a:latin typeface="Cambria Math" panose="02040503050406030204" pitchFamily="18" charset="0"/>
                                    </a:rPr>
                                    <m:t>E</m:t>
                                  </m:r>
                                </m:e>
                                <m:sub>
                                  <m:r>
                                    <m:rPr>
                                      <m:sty m:val="p"/>
                                    </m:rPr>
                                    <a:rPr lang="en-US" i="0">
                                      <a:latin typeface="Cambria Math" panose="02040503050406030204" pitchFamily="18" charset="0"/>
                                    </a:rPr>
                                    <m:t>batt</m:t>
                                  </m:r>
                                </m:sub>
                              </m:sSub>
                              <m:r>
                                <a:rPr lang="en-US" i="0">
                                  <a:latin typeface="Cambria Math" panose="02040503050406030204" pitchFamily="18" charset="0"/>
                                </a:rPr>
                                <m:t> (</m:t>
                              </m:r>
                              <m:r>
                                <m:rPr>
                                  <m:sty m:val="p"/>
                                </m:rPr>
                                <a:rPr lang="en-US" i="0">
                                  <a:latin typeface="Cambria Math" panose="02040503050406030204" pitchFamily="18" charset="0"/>
                                </a:rPr>
                                <m:t>t</m:t>
                              </m:r>
                            </m:e>
                          </m:d>
                        </m:num>
                        <m:den>
                          <m:sSub>
                            <m:sSubPr>
                              <m:ctrlPr>
                                <a:rPr lang="en-US" i="1">
                                  <a:latin typeface="Cambria Math" panose="02040503050406030204" pitchFamily="18" charset="0"/>
                                </a:rPr>
                              </m:ctrlPr>
                            </m:sSubPr>
                            <m:e>
                              <m:r>
                                <m:rPr>
                                  <m:sty m:val="p"/>
                                </m:rPr>
                                <a:rPr lang="en-US" i="0">
                                  <a:latin typeface="Cambria Math" panose="02040503050406030204" pitchFamily="18" charset="0"/>
                                </a:rPr>
                                <m:t>E</m:t>
                              </m:r>
                            </m:e>
                            <m:sub>
                              <m:r>
                                <m:rPr>
                                  <m:sty m:val="p"/>
                                </m:rPr>
                                <a:rPr lang="en-US" i="0">
                                  <a:latin typeface="Cambria Math" panose="02040503050406030204" pitchFamily="18" charset="0"/>
                                </a:rPr>
                                <m:t>batt</m:t>
                              </m:r>
                              <m:r>
                                <a:rPr lang="en-US" i="0">
                                  <a:latin typeface="Cambria Math" panose="02040503050406030204" pitchFamily="18" charset="0"/>
                                </a:rPr>
                                <m:t>,</m:t>
                              </m:r>
                              <m:r>
                                <m:rPr>
                                  <m:sty m:val="p"/>
                                </m:rPr>
                                <a:rPr lang="en-US" i="0">
                                  <a:latin typeface="Cambria Math" panose="02040503050406030204" pitchFamily="18" charset="0"/>
                                </a:rPr>
                                <m:t>nom</m:t>
                              </m:r>
                            </m:sub>
                          </m:sSub>
                        </m:den>
                      </m:f>
                    </m:oMath>
                  </m:oMathPara>
                </a14:m>
                <a:endParaRPr lang="en-US" dirty="0"/>
              </a:p>
            </p:txBody>
          </p:sp>
        </mc:Choice>
        <mc:Fallback xmlns="">
          <p:sp>
            <p:nvSpPr>
              <p:cNvPr id="33" name="Rectangle 32"/>
              <p:cNvSpPr>
                <a:spLocks noRot="1" noChangeAspect="1" noMove="1" noResize="1" noEditPoints="1" noAdjustHandles="1" noChangeArrowheads="1" noChangeShapeType="1" noTextEdit="1"/>
              </p:cNvSpPr>
              <p:nvPr/>
            </p:nvSpPr>
            <p:spPr>
              <a:xfrm>
                <a:off x="4492235" y="2585148"/>
                <a:ext cx="2094611" cy="697883"/>
              </a:xfrm>
              <a:prstGeom prst="rect">
                <a:avLst/>
              </a:prstGeom>
              <a:blipFill rotWithShape="0">
                <a:blip r:embed="rId7"/>
                <a:stretch>
                  <a:fillRect/>
                </a:stretch>
              </a:blipFill>
            </p:spPr>
            <p:txBody>
              <a:bodyPr/>
              <a:lstStyle/>
              <a:p>
                <a:r>
                  <a:rPr lang="en-US">
                    <a:noFill/>
                  </a:rPr>
                  <a:t> </a:t>
                </a:r>
              </a:p>
            </p:txBody>
          </p:sp>
        </mc:Fallback>
      </mc:AlternateContent>
      <p:sp>
        <p:nvSpPr>
          <p:cNvPr id="34" name="Rectangle 33">
            <a:extLst>
              <a:ext uri="{FF2B5EF4-FFF2-40B4-BE49-F238E27FC236}">
                <a16:creationId xmlns="" xmlns:a16="http://schemas.microsoft.com/office/drawing/2014/main" id="{8A6FC126-3187-20EF-F544-017D9E7F9DE2}"/>
              </a:ext>
            </a:extLst>
          </p:cNvPr>
          <p:cNvSpPr/>
          <p:nvPr/>
        </p:nvSpPr>
        <p:spPr>
          <a:xfrm>
            <a:off x="6946924" y="1450509"/>
            <a:ext cx="71060" cy="4865037"/>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 xmlns:a16="http://schemas.microsoft.com/office/drawing/2014/main" id="{A273858E-A100-3E2B-C74D-80D581835B23}"/>
              </a:ext>
            </a:extLst>
          </p:cNvPr>
          <p:cNvSpPr txBox="1"/>
          <p:nvPr/>
        </p:nvSpPr>
        <p:spPr>
          <a:xfrm>
            <a:off x="4563697" y="146664"/>
            <a:ext cx="42291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Methodology Cont.</a:t>
            </a:r>
          </a:p>
        </p:txBody>
      </p:sp>
      <p:sp>
        <p:nvSpPr>
          <p:cNvPr id="4" name="Slide Number Placeholder 3"/>
          <p:cNvSpPr>
            <a:spLocks noGrp="1"/>
          </p:cNvSpPr>
          <p:nvPr>
            <p:ph type="sldNum" sz="quarter" idx="12"/>
          </p:nvPr>
        </p:nvSpPr>
        <p:spPr/>
        <p:txBody>
          <a:bodyPr/>
          <a:lstStyle/>
          <a:p>
            <a:fld id="{9B87FC41-F35B-458E-AD48-D36E6575979E}" type="slidenum">
              <a:rPr lang="en-US" smtClean="0"/>
              <a:t>15</a:t>
            </a:fld>
            <a:endParaRPr lang="en-US" dirty="0"/>
          </a:p>
        </p:txBody>
      </p:sp>
    </p:spTree>
    <p:extLst>
      <p:ext uri="{BB962C8B-B14F-4D97-AF65-F5344CB8AC3E}">
        <p14:creationId xmlns:p14="http://schemas.microsoft.com/office/powerpoint/2010/main" val="640169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EADE08-C795-D838-D912-41A2042AA726}"/>
            </a:ext>
          </a:extLst>
        </p:cNvPr>
        <p:cNvGrpSpPr/>
        <p:nvPr/>
      </p:nvGrpSpPr>
      <p:grpSpPr>
        <a:xfrm>
          <a:off x="0" y="0"/>
          <a:ext cx="0" cy="0"/>
          <a:chOff x="0" y="0"/>
          <a:chExt cx="0" cy="0"/>
        </a:xfrm>
      </p:grpSpPr>
      <p:sp>
        <p:nvSpPr>
          <p:cNvPr id="4" name="TextBox 3">
            <a:extLst>
              <a:ext uri="{FF2B5EF4-FFF2-40B4-BE49-F238E27FC236}">
                <a16:creationId xmlns="" xmlns:a16="http://schemas.microsoft.com/office/drawing/2014/main" id="{F95A465B-7CA8-06AF-8583-E704A43F1191}"/>
              </a:ext>
            </a:extLst>
          </p:cNvPr>
          <p:cNvSpPr txBox="1"/>
          <p:nvPr/>
        </p:nvSpPr>
        <p:spPr>
          <a:xfrm>
            <a:off x="3984732" y="3544829"/>
            <a:ext cx="4276726" cy="487506"/>
          </a:xfrm>
          <a:prstGeom prst="rect">
            <a:avLst/>
          </a:prstGeom>
          <a:noFill/>
        </p:spPr>
        <p:txBody>
          <a:bodyPr wrap="square">
            <a:spAutoFit/>
          </a:bodyPr>
          <a:lstStyle/>
          <a:p>
            <a:pPr>
              <a:lnSpc>
                <a:spcPct val="107000"/>
              </a:lnSpc>
              <a:spcAft>
                <a:spcPts val="800"/>
              </a:spcAft>
              <a:tabLst>
                <a:tab pos="457200" algn="l"/>
              </a:tabLst>
            </a:pPr>
            <a:r>
              <a:rPr lang="en-US" sz="2400" b="1" kern="100" dirty="0">
                <a:latin typeface="Times New Roman" panose="02020603050405020304" pitchFamily="18" charset="0"/>
                <a:ea typeface="Times New Roman" panose="02020603050405020304" pitchFamily="18" charset="0"/>
                <a:cs typeface="Times New Roman" panose="02020603050405020304" pitchFamily="18" charset="0"/>
              </a:rPr>
              <a:t>Data Collection and Analysis</a:t>
            </a: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a:t>
            </a:r>
          </a:p>
        </p:txBody>
      </p:sp>
      <p:sp>
        <p:nvSpPr>
          <p:cNvPr id="6" name="Rectangle 5"/>
          <p:cNvSpPr/>
          <p:nvPr/>
        </p:nvSpPr>
        <p:spPr>
          <a:xfrm>
            <a:off x="691391" y="3991688"/>
            <a:ext cx="11218132" cy="1959511"/>
          </a:xfrm>
          <a:prstGeom prst="rect">
            <a:avLst/>
          </a:prstGeom>
        </p:spPr>
        <p:txBody>
          <a:bodyPr wrap="square">
            <a:spAutoFit/>
          </a:bodyPr>
          <a:lstStyle/>
          <a:p>
            <a:pPr marL="342900" indent="-342900" algn="just">
              <a:lnSpc>
                <a:spcPct val="150000"/>
              </a:lnSpc>
              <a:spcAft>
                <a:spcPts val="800"/>
              </a:spcAft>
              <a:buFont typeface="Wingdings" panose="05000000000000000000" pitchFamily="2" charset="2"/>
              <a:buChar char="v"/>
            </a:pPr>
            <a:r>
              <a:rPr lang="en-GB" sz="2400" dirty="0">
                <a:latin typeface="Times New Roman" panose="02020603050405020304" pitchFamily="18" charset="0"/>
                <a:ea typeface="Calibri" panose="020F0502020204030204" pitchFamily="34" charset="0"/>
                <a:cs typeface="Times New Roman" panose="02020603050405020304" pitchFamily="18" charset="0"/>
              </a:rPr>
              <a:t>Data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sources; </a:t>
            </a:r>
            <a:r>
              <a:rPr lang="en-GB" sz="2400" dirty="0">
                <a:latin typeface="Times New Roman" panose="02020603050405020304" pitchFamily="18" charset="0"/>
                <a:ea typeface="Calibri" panose="020F0502020204030204" pitchFamily="34" charset="0"/>
                <a:cs typeface="Times New Roman" panose="02020603050405020304" pitchFamily="18" charset="0"/>
              </a:rPr>
              <a:t>E</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nergy </a:t>
            </a:r>
            <a:r>
              <a:rPr lang="en-GB" sz="2400" dirty="0">
                <a:latin typeface="Times New Roman" panose="02020603050405020304" pitchFamily="18" charset="0"/>
                <a:ea typeface="Calibri" panose="020F0502020204030204" pitchFamily="34" charset="0"/>
                <a:cs typeface="Times New Roman" panose="02020603050405020304" pitchFamily="18" charset="0"/>
              </a:rPr>
              <a:t>monitors like INA219, SD card logs, &amp;</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 communication logs.</a:t>
            </a:r>
          </a:p>
          <a:p>
            <a:pPr marL="342900" indent="-342900" algn="just">
              <a:lnSpc>
                <a:spcPct val="150000"/>
              </a:lnSpc>
              <a:spcAft>
                <a:spcPts val="800"/>
              </a:spcAft>
              <a:buFont typeface="Wingdings" panose="05000000000000000000" pitchFamily="2" charset="2"/>
              <a:buChar char="v"/>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Data analysis tools; SSP, Python </a:t>
            </a:r>
            <a:r>
              <a:rPr lang="en-GB" sz="2400" dirty="0">
                <a:latin typeface="Times New Roman" panose="02020603050405020304" pitchFamily="18" charset="0"/>
                <a:ea typeface="Calibri" panose="020F0502020204030204" pitchFamily="34" charset="0"/>
                <a:cs typeface="Times New Roman" panose="02020603050405020304" pitchFamily="18" charset="0"/>
              </a:rPr>
              <a:t>(NumPy, Pandas, Matplotlib) and MATLAB</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gn="just">
              <a:lnSpc>
                <a:spcPct val="150000"/>
              </a:lnSpc>
              <a:spcAft>
                <a:spcPts val="800"/>
              </a:spcAft>
              <a:buFont typeface="Wingdings" panose="05000000000000000000" pitchFamily="2" charset="2"/>
              <a:buChar char="v"/>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Data quality control: Ensure the reliability and validity of instruments used.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5"/>
          <p:cNvSpPr>
            <a:spLocks noChangeArrowheads="1"/>
          </p:cNvSpPr>
          <p:nvPr/>
        </p:nvSpPr>
        <p:spPr bwMode="auto">
          <a:xfrm>
            <a:off x="4188092" y="676656"/>
            <a:ext cx="4451083" cy="394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59" tIns="25392" rIns="91440" bIns="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
                <a:srgbClr val="FFFFFF"/>
              </a:buClr>
              <a:buSzTx/>
              <a:buFontTx/>
              <a:buAutoNum type="arabicPeriod"/>
              <a:tabLst/>
            </a:pPr>
            <a:r>
              <a:rPr kumimoji="0" lang="en-GB" altLang="en-US" sz="2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kumimoji="0" lang="en-GB" altLang="en-US" sz="2400" b="1" i="0" u="none" strike="noStrike" cap="none" normalizeH="0" baseline="0" dirty="0" smtClean="0" bmk="">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rototype development</a:t>
            </a:r>
            <a:endParaRPr kumimoji="0" lang="en-GB" altLang="en-US" sz="2400" b="0" i="0" u="none" strike="noStrike" cap="none" normalizeH="0" baseline="0" dirty="0" smtClean="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grpSp>
        <p:nvGrpSpPr>
          <p:cNvPr id="9" name="Group 8"/>
          <p:cNvGrpSpPr/>
          <p:nvPr/>
        </p:nvGrpSpPr>
        <p:grpSpPr>
          <a:xfrm>
            <a:off x="2990850" y="1324194"/>
            <a:ext cx="6448425" cy="1341366"/>
            <a:chOff x="245427" y="0"/>
            <a:chExt cx="4276569" cy="914400"/>
          </a:xfrm>
        </p:grpSpPr>
        <p:sp>
          <p:nvSpPr>
            <p:cNvPr id="10" name="Rounded Rectangle 9"/>
            <p:cNvSpPr/>
            <p:nvPr/>
          </p:nvSpPr>
          <p:spPr>
            <a:xfrm>
              <a:off x="245427" y="0"/>
              <a:ext cx="1104900" cy="914400"/>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Fabrication</a:t>
              </a:r>
              <a:endParaRPr lang="en-US" sz="1600" dirty="0">
                <a:effectLst/>
                <a:ea typeface="Calibri" panose="020F0502020204030204" pitchFamily="34" charset="0"/>
                <a:cs typeface="Times New Roman" panose="02020603050405020304" pitchFamily="18" charset="0"/>
              </a:endParaRPr>
            </a:p>
          </p:txBody>
        </p:sp>
        <p:sp>
          <p:nvSpPr>
            <p:cNvPr id="11" name="Rounded Rectangle 10"/>
            <p:cNvSpPr/>
            <p:nvPr/>
          </p:nvSpPr>
          <p:spPr>
            <a:xfrm>
              <a:off x="1856509" y="0"/>
              <a:ext cx="1028700" cy="914400"/>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Integration</a:t>
              </a:r>
              <a:endParaRPr lang="en-US" sz="1600" dirty="0">
                <a:effectLst/>
                <a:ea typeface="Calibri" panose="020F0502020204030204" pitchFamily="34" charset="0"/>
                <a:cs typeface="Times New Roman" panose="02020603050405020304" pitchFamily="18" charset="0"/>
              </a:endParaRPr>
            </a:p>
          </p:txBody>
        </p:sp>
        <p:sp>
          <p:nvSpPr>
            <p:cNvPr id="13" name="Rounded Rectangle 12"/>
            <p:cNvSpPr/>
            <p:nvPr/>
          </p:nvSpPr>
          <p:spPr>
            <a:xfrm>
              <a:off x="3378996" y="0"/>
              <a:ext cx="1143000" cy="914400"/>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Testing</a:t>
              </a:r>
              <a:endParaRPr lang="en-US" sz="1600" dirty="0">
                <a:effectLst/>
                <a:ea typeface="Calibri" panose="020F0502020204030204" pitchFamily="34" charset="0"/>
                <a:cs typeface="Times New Roman" panose="02020603050405020304" pitchFamily="18" charset="0"/>
              </a:endParaRPr>
            </a:p>
          </p:txBody>
        </p:sp>
        <p:sp>
          <p:nvSpPr>
            <p:cNvPr id="14" name="Right Arrow 13"/>
            <p:cNvSpPr/>
            <p:nvPr/>
          </p:nvSpPr>
          <p:spPr>
            <a:xfrm>
              <a:off x="1434991" y="367434"/>
              <a:ext cx="349250" cy="2349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800" dirty="0"/>
            </a:p>
          </p:txBody>
        </p:sp>
        <p:sp>
          <p:nvSpPr>
            <p:cNvPr id="15" name="Right Arrow 14"/>
            <p:cNvSpPr/>
            <p:nvPr/>
          </p:nvSpPr>
          <p:spPr>
            <a:xfrm>
              <a:off x="2957477" y="339725"/>
              <a:ext cx="349250" cy="2349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800" dirty="0"/>
            </a:p>
          </p:txBody>
        </p:sp>
      </p:grpSp>
      <p:sp>
        <p:nvSpPr>
          <p:cNvPr id="16" name="Rectangle 15"/>
          <p:cNvSpPr/>
          <p:nvPr/>
        </p:nvSpPr>
        <p:spPr>
          <a:xfrm>
            <a:off x="7943850" y="2959702"/>
            <a:ext cx="3223959" cy="369332"/>
          </a:xfrm>
          <a:prstGeom prst="rect">
            <a:avLst/>
          </a:prstGeom>
        </p:spPr>
        <p:txBody>
          <a:bodyPr wrap="none">
            <a:spAutoFit/>
          </a:bodyPr>
          <a:lstStyle/>
          <a:p>
            <a:r>
              <a:rPr lang="en-GB" dirty="0">
                <a:latin typeface="Times New Roman" panose="02020603050405020304" pitchFamily="18" charset="0"/>
                <a:ea typeface="Calibri" panose="020F0502020204030204" pitchFamily="34" charset="0"/>
                <a:cs typeface="Times New Roman" panose="02020603050405020304" pitchFamily="18" charset="0"/>
              </a:rPr>
              <a:t>Figure 4</a:t>
            </a:r>
            <a:r>
              <a:rPr lang="en-GB" dirty="0" smtClean="0">
                <a:latin typeface="Times New Roman" panose="02020603050405020304" pitchFamily="18" charset="0"/>
                <a:ea typeface="Calibri" panose="020F0502020204030204" pitchFamily="34" charset="0"/>
                <a:cs typeface="Times New Roman" panose="02020603050405020304" pitchFamily="18" charset="0"/>
              </a:rPr>
              <a:t>. </a:t>
            </a:r>
            <a:r>
              <a:rPr lang="en-GB" altLang="en-US" dirty="0">
                <a:latin typeface="Times New Roman" panose="02020603050405020304" pitchFamily="18" charset="0"/>
                <a:ea typeface="Times New Roman" panose="02020603050405020304" pitchFamily="18" charset="0"/>
                <a:cs typeface="Times New Roman" panose="02020603050405020304" pitchFamily="18" charset="0"/>
              </a:rPr>
              <a:t>P</a:t>
            </a:r>
            <a:r>
              <a:rPr lang="en-GB" altLang="en-US" dirty="0" bmk="">
                <a:latin typeface="Times New Roman" panose="02020603050405020304" pitchFamily="18" charset="0"/>
                <a:ea typeface="Times New Roman" panose="02020603050405020304" pitchFamily="18" charset="0"/>
                <a:cs typeface="Times New Roman" panose="02020603050405020304" pitchFamily="18" charset="0"/>
              </a:rPr>
              <a:t>rototype </a:t>
            </a:r>
            <a:r>
              <a:rPr lang="en-GB" altLang="en-US" dirty="0" smtClean="0" bmk="">
                <a:latin typeface="Times New Roman" panose="02020603050405020304" pitchFamily="18" charset="0"/>
                <a:ea typeface="Times New Roman" panose="02020603050405020304" pitchFamily="18" charset="0"/>
                <a:cs typeface="Times New Roman" panose="02020603050405020304" pitchFamily="18" charset="0"/>
              </a:rPr>
              <a:t>development</a:t>
            </a:r>
            <a:endParaRPr lang="en-GB" altLang="en-US" dirty="0">
              <a:solidFill>
                <a:srgbClr val="2E74B5"/>
              </a:solidFill>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 xmlns:a16="http://schemas.microsoft.com/office/drawing/2014/main" id="{A273858E-A100-3E2B-C74D-80D581835B23}"/>
              </a:ext>
            </a:extLst>
          </p:cNvPr>
          <p:cNvSpPr txBox="1"/>
          <p:nvPr/>
        </p:nvSpPr>
        <p:spPr>
          <a:xfrm>
            <a:off x="4563697" y="146664"/>
            <a:ext cx="42291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Methodology Cont.</a:t>
            </a:r>
          </a:p>
        </p:txBody>
      </p:sp>
      <p:sp>
        <p:nvSpPr>
          <p:cNvPr id="5" name="Slide Number Placeholder 4"/>
          <p:cNvSpPr>
            <a:spLocks noGrp="1"/>
          </p:cNvSpPr>
          <p:nvPr>
            <p:ph type="sldNum" sz="quarter" idx="12"/>
          </p:nvPr>
        </p:nvSpPr>
        <p:spPr/>
        <p:txBody>
          <a:bodyPr/>
          <a:lstStyle/>
          <a:p>
            <a:fld id="{9B87FC41-F35B-458E-AD48-D36E6575979E}" type="slidenum">
              <a:rPr lang="en-US" smtClean="0"/>
              <a:t>16</a:t>
            </a:fld>
            <a:endParaRPr lang="en-US" dirty="0"/>
          </a:p>
        </p:txBody>
      </p:sp>
    </p:spTree>
    <p:extLst>
      <p:ext uri="{BB962C8B-B14F-4D97-AF65-F5344CB8AC3E}">
        <p14:creationId xmlns:p14="http://schemas.microsoft.com/office/powerpoint/2010/main" val="36565813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EADE08-C795-D838-D912-41A2042AA726}"/>
            </a:ext>
          </a:extLst>
        </p:cNvPr>
        <p:cNvGrpSpPr/>
        <p:nvPr/>
      </p:nvGrpSpPr>
      <p:grpSpPr>
        <a:xfrm>
          <a:off x="0" y="0"/>
          <a:ext cx="0" cy="0"/>
          <a:chOff x="0" y="0"/>
          <a:chExt cx="0" cy="0"/>
        </a:xfrm>
      </p:grpSpPr>
      <p:sp>
        <p:nvSpPr>
          <p:cNvPr id="14" name="Rectangle 13"/>
          <p:cNvSpPr/>
          <p:nvPr/>
        </p:nvSpPr>
        <p:spPr>
          <a:xfrm>
            <a:off x="448410" y="931023"/>
            <a:ext cx="11013874" cy="3067506"/>
          </a:xfrm>
          <a:prstGeom prst="rect">
            <a:avLst/>
          </a:prstGeom>
        </p:spPr>
        <p:txBody>
          <a:bodyPr wrap="square">
            <a:spAutoFit/>
          </a:bodyPr>
          <a:lstStyle/>
          <a:p>
            <a:pPr marL="342900" indent="-342900" algn="just">
              <a:lnSpc>
                <a:spcPct val="150000"/>
              </a:lnSpc>
              <a:spcAft>
                <a:spcPts val="800"/>
              </a:spcAft>
              <a:buFont typeface="Wingdings" panose="05000000000000000000" pitchFamily="2" charset="2"/>
              <a:buChar char="v"/>
            </a:pPr>
            <a:r>
              <a:rPr lang="en-GB" sz="2400" dirty="0">
                <a:latin typeface="Times New Roman" panose="02020603050405020304" pitchFamily="18" charset="0"/>
                <a:ea typeface="Calibri" panose="020F0502020204030204" pitchFamily="34" charset="0"/>
                <a:cs typeface="Times New Roman" panose="02020603050405020304" pitchFamily="18" charset="0"/>
              </a:rPr>
              <a:t>B</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enchmarking </a:t>
            </a:r>
            <a:r>
              <a:rPr lang="en-GB" sz="2400" dirty="0">
                <a:latin typeface="Times New Roman" panose="02020603050405020304" pitchFamily="18" charset="0"/>
                <a:ea typeface="Calibri" panose="020F0502020204030204" pitchFamily="34" charset="0"/>
                <a:cs typeface="Times New Roman" panose="02020603050405020304" pitchFamily="18" charset="0"/>
              </a:rPr>
              <a:t>the designed AWS with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WIMEA-ICT AWS system,</a:t>
            </a:r>
          </a:p>
          <a:p>
            <a:pPr marL="342900" indent="-342900" algn="just">
              <a:lnSpc>
                <a:spcPct val="150000"/>
              </a:lnSpc>
              <a:spcAft>
                <a:spcPts val="800"/>
              </a:spcAft>
              <a:buFont typeface="Wingdings" panose="05000000000000000000" pitchFamily="2" charset="2"/>
              <a:buChar char="v"/>
            </a:pPr>
            <a:r>
              <a:rPr lang="en-GB" sz="2400" dirty="0">
                <a:latin typeface="Times New Roman" panose="02020603050405020304" pitchFamily="18" charset="0"/>
                <a:ea typeface="Calibri" panose="020F0502020204030204" pitchFamily="34" charset="0"/>
                <a:cs typeface="Times New Roman" panose="02020603050405020304" pitchFamily="18" charset="0"/>
              </a:rPr>
              <a:t>V</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erification </a:t>
            </a:r>
            <a:r>
              <a:rPr lang="en-GB" sz="2400" dirty="0">
                <a:latin typeface="Times New Roman" panose="02020603050405020304" pitchFamily="18" charset="0"/>
                <a:ea typeface="Calibri" panose="020F0502020204030204" pitchFamily="34" charset="0"/>
                <a:cs typeface="Times New Roman" panose="02020603050405020304" pitchFamily="18" charset="0"/>
              </a:rPr>
              <a:t>to ensure the objectives of improved energy efficiency, reliability, and fault tolerance are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met. And other KPIs like Converter efficiency, sensor Sensitivity, SoC, and System Uptime (Availability)</a:t>
            </a:r>
          </a:p>
          <a:p>
            <a:pPr marL="342900" indent="-342900" algn="just">
              <a:lnSpc>
                <a:spcPct val="150000"/>
              </a:lnSpc>
              <a:spcAft>
                <a:spcPts val="800"/>
              </a:spcAft>
              <a:buFont typeface="Wingdings" panose="05000000000000000000" pitchFamily="2" charset="2"/>
              <a:buChar char="v"/>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Documentation </a:t>
            </a:r>
            <a:r>
              <a:rPr lang="en-GB" sz="2400" dirty="0">
                <a:latin typeface="Times New Roman" panose="02020603050405020304" pitchFamily="18" charset="0"/>
                <a:ea typeface="Calibri" panose="020F0502020204030204" pitchFamily="34" charset="0"/>
                <a:cs typeface="Times New Roman" panose="02020603050405020304" pitchFamily="18" charset="0"/>
              </a:rPr>
              <a:t>of data to identify limitations &amp;</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 recommendations </a:t>
            </a:r>
            <a:r>
              <a:rPr lang="en-GB" sz="2400" dirty="0">
                <a:latin typeface="Times New Roman" panose="02020603050405020304" pitchFamily="18" charset="0"/>
                <a:ea typeface="Calibri" panose="020F0502020204030204" pitchFamily="34" charset="0"/>
                <a:cs typeface="Times New Roman" panose="02020603050405020304" pitchFamily="18" charset="0"/>
              </a:rPr>
              <a:t>for improvement.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Rectangle 17"/>
          <p:cNvSpPr/>
          <p:nvPr/>
        </p:nvSpPr>
        <p:spPr>
          <a:xfrm>
            <a:off x="4077226" y="548076"/>
            <a:ext cx="4375557" cy="579967"/>
          </a:xfrm>
          <a:prstGeom prst="rect">
            <a:avLst/>
          </a:prstGeom>
        </p:spPr>
        <p:txBody>
          <a:bodyPr wrap="none">
            <a:spAutoFit/>
          </a:bodyPr>
          <a:lstStyle/>
          <a:p>
            <a:pPr marL="0" lvl="1" algn="just">
              <a:lnSpc>
                <a:spcPct val="150000"/>
              </a:lnSpc>
              <a:spcBef>
                <a:spcPts val="200"/>
              </a:spcBef>
              <a:spcAft>
                <a:spcPts val="0"/>
              </a:spcAft>
            </a:pPr>
            <a:r>
              <a:rPr lang="en-GB" sz="2400" b="1" dirty="0">
                <a:latin typeface="Times New Roman" panose="02020603050405020304" pitchFamily="18" charset="0"/>
                <a:ea typeface="Times New Roman" panose="02020603050405020304" pitchFamily="18" charset="0"/>
                <a:cs typeface="Times New Roman" panose="02020603050405020304" pitchFamily="18" charset="0"/>
              </a:rPr>
              <a:t>Validation of research outcomes</a:t>
            </a:r>
            <a:endParaRPr lang="en-US" sz="24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Rectangle 6"/>
          <p:cNvSpPr/>
          <p:nvPr/>
        </p:nvSpPr>
        <p:spPr>
          <a:xfrm>
            <a:off x="3685219" y="3846683"/>
            <a:ext cx="4911922" cy="646331"/>
          </a:xfrm>
          <a:prstGeom prst="rect">
            <a:avLst/>
          </a:prstGeom>
        </p:spPr>
        <p:txBody>
          <a:bodyPr wrap="none">
            <a:spAutoFit/>
          </a:bodyPr>
          <a:lstStyle/>
          <a:p>
            <a:pPr marL="0" lvl="1" algn="just">
              <a:lnSpc>
                <a:spcPct val="150000"/>
              </a:lnSpc>
              <a:spcBef>
                <a:spcPts val="200"/>
              </a:spcBef>
              <a:spcAft>
                <a:spcPts val="0"/>
              </a:spcAft>
            </a:pPr>
            <a:r>
              <a:rPr lang="en-GB" sz="2400" b="1" dirty="0" smtClean="0">
                <a:latin typeface="Times New Roman" panose="02020603050405020304" pitchFamily="18" charset="0"/>
                <a:ea typeface="Times New Roman" panose="02020603050405020304" pitchFamily="18" charset="0"/>
                <a:cs typeface="Times New Roman" panose="02020603050405020304" pitchFamily="18" charset="0"/>
              </a:rPr>
              <a:t>Expected  outcomes and limitations </a:t>
            </a:r>
            <a:endParaRPr lang="en-US" sz="24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Rectangle 7"/>
          <p:cNvSpPr/>
          <p:nvPr/>
        </p:nvSpPr>
        <p:spPr>
          <a:xfrm>
            <a:off x="448410" y="4344491"/>
            <a:ext cx="11572140" cy="2513509"/>
          </a:xfrm>
          <a:prstGeom prst="rect">
            <a:avLst/>
          </a:prstGeom>
        </p:spPr>
        <p:txBody>
          <a:bodyPr wrap="square">
            <a:spAutoFit/>
          </a:bodyPr>
          <a:lstStyle/>
          <a:p>
            <a:pPr marL="342900" indent="-342900" algn="just">
              <a:lnSpc>
                <a:spcPct val="150000"/>
              </a:lnSpc>
              <a:spcAft>
                <a:spcPts val="800"/>
              </a:spcAft>
              <a:buFont typeface="Wingdings" panose="05000000000000000000" pitchFamily="2" charset="2"/>
              <a:buChar char="v"/>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Modular and Adaptive AWS</a:t>
            </a:r>
            <a:r>
              <a:rPr lang="en-GB" sz="2400" dirty="0">
                <a:latin typeface="Times New Roman" panose="02020603050405020304" pitchFamily="18" charset="0"/>
                <a:ea typeface="Calibri" panose="020F0502020204030204" pitchFamily="34" charset="0"/>
                <a:cs typeface="Times New Roman" panose="02020603050405020304" pitchFamily="18" charset="0"/>
              </a:rPr>
              <a:t>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system, that if is small</a:t>
            </a:r>
          </a:p>
          <a:p>
            <a:pPr marL="342900" indent="-342900" algn="just">
              <a:lnSpc>
                <a:spcPct val="150000"/>
              </a:lnSpc>
              <a:spcAft>
                <a:spcPts val="800"/>
              </a:spcAft>
              <a:buFont typeface="Wingdings" panose="05000000000000000000" pitchFamily="2" charset="2"/>
              <a:buChar char="v"/>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Integration of MMCs, multi energy sources, and hybrid communication</a:t>
            </a:r>
          </a:p>
          <a:p>
            <a:pPr marL="342900" indent="-342900" algn="just">
              <a:lnSpc>
                <a:spcPct val="150000"/>
              </a:lnSpc>
              <a:spcAft>
                <a:spcPts val="800"/>
              </a:spcAft>
              <a:buFont typeface="Wingdings" panose="05000000000000000000" pitchFamily="2" charset="2"/>
              <a:buChar char="v"/>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The computation power is expected to be high, and component count, The goal to achieve miniaturisation might not be realised.</a:t>
            </a:r>
          </a:p>
        </p:txBody>
      </p:sp>
      <p:sp>
        <p:nvSpPr>
          <p:cNvPr id="9" name="TextBox 8">
            <a:extLst>
              <a:ext uri="{FF2B5EF4-FFF2-40B4-BE49-F238E27FC236}">
                <a16:creationId xmlns="" xmlns:a16="http://schemas.microsoft.com/office/drawing/2014/main" id="{A273858E-A100-3E2B-C74D-80D581835B23}"/>
              </a:ext>
            </a:extLst>
          </p:cNvPr>
          <p:cNvSpPr txBox="1"/>
          <p:nvPr/>
        </p:nvSpPr>
        <p:spPr>
          <a:xfrm>
            <a:off x="4563697" y="146664"/>
            <a:ext cx="42291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Methodology Cont.</a:t>
            </a:r>
          </a:p>
        </p:txBody>
      </p:sp>
      <p:sp>
        <p:nvSpPr>
          <p:cNvPr id="4" name="Slide Number Placeholder 3"/>
          <p:cNvSpPr>
            <a:spLocks noGrp="1"/>
          </p:cNvSpPr>
          <p:nvPr>
            <p:ph type="sldNum" sz="quarter" idx="12"/>
          </p:nvPr>
        </p:nvSpPr>
        <p:spPr/>
        <p:txBody>
          <a:bodyPr/>
          <a:lstStyle/>
          <a:p>
            <a:fld id="{9B87FC41-F35B-458E-AD48-D36E6575979E}" type="slidenum">
              <a:rPr lang="en-US" smtClean="0"/>
              <a:t>17</a:t>
            </a:fld>
            <a:endParaRPr lang="en-US" dirty="0"/>
          </a:p>
        </p:txBody>
      </p:sp>
    </p:spTree>
    <p:extLst>
      <p:ext uri="{BB962C8B-B14F-4D97-AF65-F5344CB8AC3E}">
        <p14:creationId xmlns:p14="http://schemas.microsoft.com/office/powerpoint/2010/main" val="19423861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EADE08-C795-D838-D912-41A2042AA726}"/>
            </a:ext>
          </a:extLst>
        </p:cNvPr>
        <p:cNvGrpSpPr/>
        <p:nvPr/>
      </p:nvGrpSpPr>
      <p:grpSpPr>
        <a:xfrm>
          <a:off x="0" y="0"/>
          <a:ext cx="0" cy="0"/>
          <a:chOff x="0" y="0"/>
          <a:chExt cx="0" cy="0"/>
        </a:xfrm>
      </p:grpSpPr>
      <p:sp>
        <p:nvSpPr>
          <p:cNvPr id="5" name="Rectangle 4"/>
          <p:cNvSpPr/>
          <p:nvPr/>
        </p:nvSpPr>
        <p:spPr>
          <a:xfrm>
            <a:off x="1412289" y="1249294"/>
            <a:ext cx="10667265" cy="4503797"/>
          </a:xfrm>
          <a:prstGeom prst="rect">
            <a:avLst/>
          </a:prstGeom>
        </p:spPr>
        <p:txBody>
          <a:bodyPr wrap="square">
            <a:spAutoFit/>
          </a:bodyPr>
          <a:lstStyle/>
          <a:p>
            <a:pPr marL="457200" indent="-457200" algn="just">
              <a:lnSpc>
                <a:spcPct val="150000"/>
              </a:lnSpc>
              <a:spcAft>
                <a:spcPts val="800"/>
              </a:spcAft>
              <a:buFont typeface="Wingdings" panose="05000000000000000000" pitchFamily="2" charset="2"/>
              <a:buChar char="q"/>
            </a:pPr>
            <a:r>
              <a:rPr lang="en-GB" sz="2400" dirty="0">
                <a:latin typeface="Times New Roman" panose="02020603050405020304" pitchFamily="18" charset="0"/>
                <a:ea typeface="Calibri" panose="020F0502020204030204" pitchFamily="34" charset="0"/>
                <a:cs typeface="Times New Roman" panose="02020603050405020304" pitchFamily="18" charset="0"/>
              </a:rPr>
              <a:t>P</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rotection </a:t>
            </a:r>
            <a:r>
              <a:rPr lang="en-GB" sz="2400" dirty="0">
                <a:latin typeface="Times New Roman" panose="02020603050405020304" pitchFamily="18" charset="0"/>
                <a:ea typeface="Calibri" panose="020F0502020204030204" pitchFamily="34" charset="0"/>
                <a:cs typeface="Times New Roman" panose="02020603050405020304" pitchFamily="18" charset="0"/>
              </a:rPr>
              <a:t>of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participants (Confidentiality), </a:t>
            </a:r>
            <a:r>
              <a:rPr lang="en-GB" sz="2400" dirty="0">
                <a:latin typeface="Times New Roman" panose="02020603050405020304" pitchFamily="18" charset="0"/>
                <a:ea typeface="Calibri" panose="020F0502020204030204" pitchFamily="34" charset="0"/>
                <a:cs typeface="Times New Roman" panose="02020603050405020304" pitchFamily="18" charset="0"/>
              </a:rPr>
              <a:t>D</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ata integrity,</a:t>
            </a:r>
          </a:p>
          <a:p>
            <a:pPr marL="457200" indent="-457200" algn="just">
              <a:lnSpc>
                <a:spcPct val="150000"/>
              </a:lnSpc>
              <a:spcAft>
                <a:spcPts val="800"/>
              </a:spcAft>
              <a:buFont typeface="Wingdings" panose="05000000000000000000" pitchFamily="2" charset="2"/>
              <a:buChar char="q"/>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Respect </a:t>
            </a:r>
            <a:r>
              <a:rPr lang="en-GB" sz="2400" dirty="0">
                <a:latin typeface="Times New Roman" panose="02020603050405020304" pitchFamily="18" charset="0"/>
                <a:ea typeface="Calibri" panose="020F0502020204030204" pitchFamily="34" charset="0"/>
                <a:cs typeface="Times New Roman" panose="02020603050405020304" pitchFamily="18" charset="0"/>
              </a:rPr>
              <a:t>intellectual property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rights</a:t>
            </a:r>
          </a:p>
          <a:p>
            <a:pPr marL="457200" indent="-457200" algn="just">
              <a:lnSpc>
                <a:spcPct val="150000"/>
              </a:lnSpc>
              <a:spcAft>
                <a:spcPts val="800"/>
              </a:spcAft>
              <a:buFont typeface="Wingdings" panose="05000000000000000000" pitchFamily="2" charset="2"/>
              <a:buChar char="q"/>
            </a:pPr>
            <a:r>
              <a:rPr lang="en-GB" sz="2400" dirty="0">
                <a:latin typeface="Times New Roman" panose="02020603050405020304" pitchFamily="18" charset="0"/>
                <a:ea typeface="Calibri" panose="020F0502020204030204" pitchFamily="34" charset="0"/>
                <a:cs typeface="Times New Roman" panose="02020603050405020304" pitchFamily="18" charset="0"/>
              </a:rPr>
              <a:t>E</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nsure </a:t>
            </a:r>
            <a:r>
              <a:rPr lang="en-GB" sz="2400" dirty="0">
                <a:latin typeface="Times New Roman" panose="02020603050405020304" pitchFamily="18" charset="0"/>
                <a:ea typeface="Calibri" panose="020F0502020204030204" pitchFamily="34" charset="0"/>
                <a:cs typeface="Times New Roman" panose="02020603050405020304" pitchFamily="18" charset="0"/>
              </a:rPr>
              <a:t>proper citation of sources</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a:t>
            </a:r>
          </a:p>
          <a:p>
            <a:pPr marL="457200" indent="-457200" algn="just">
              <a:lnSpc>
                <a:spcPct val="150000"/>
              </a:lnSpc>
              <a:spcAft>
                <a:spcPts val="800"/>
              </a:spcAft>
              <a:buFont typeface="Wingdings" panose="05000000000000000000" pitchFamily="2" charset="2"/>
              <a:buChar char="q"/>
            </a:pPr>
            <a:endParaRPr lang="en-GB"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a:spcAft>
                <a:spcPts val="800"/>
              </a:spcAft>
            </a:pPr>
            <a:r>
              <a:rPr lang="en-GB" sz="2400" b="1" dirty="0">
                <a:latin typeface="Times New Roman" panose="02020603050405020304" pitchFamily="18" charset="0"/>
                <a:ea typeface="Calibri" panose="020F0502020204030204" pitchFamily="34" charset="0"/>
                <a:cs typeface="Times New Roman" panose="02020603050405020304" pitchFamily="18" charset="0"/>
              </a:rPr>
              <a:t>E</a:t>
            </a:r>
            <a:r>
              <a:rPr lang="en-GB" sz="2400" b="1" dirty="0" smtClean="0">
                <a:latin typeface="Times New Roman" panose="02020603050405020304" pitchFamily="18" charset="0"/>
                <a:ea typeface="Calibri" panose="020F0502020204030204" pitchFamily="34" charset="0"/>
                <a:cs typeface="Times New Roman" panose="02020603050405020304" pitchFamily="18" charset="0"/>
              </a:rPr>
              <a:t>nvironmental considerations</a:t>
            </a:r>
          </a:p>
          <a:p>
            <a:pPr marL="342900" indent="-342900" algn="just">
              <a:spcAft>
                <a:spcPts val="800"/>
              </a:spcAft>
              <a:buFont typeface="Wingdings" panose="05000000000000000000" pitchFamily="2" charset="2"/>
              <a:buChar char="q"/>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      Responsible </a:t>
            </a:r>
            <a:r>
              <a:rPr lang="en-GB" sz="2400" dirty="0">
                <a:latin typeface="Times New Roman" panose="02020603050405020304" pitchFamily="18" charset="0"/>
                <a:ea typeface="Calibri" panose="020F0502020204030204" pitchFamily="34" charset="0"/>
                <a:cs typeface="Times New Roman" panose="02020603050405020304" pitchFamily="18" charset="0"/>
              </a:rPr>
              <a:t>disposal of electronic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waste</a:t>
            </a:r>
          </a:p>
          <a:p>
            <a:pPr marL="342900" indent="-342900" algn="just">
              <a:spcAft>
                <a:spcPts val="800"/>
              </a:spcAft>
              <a:buFont typeface="Wingdings" panose="05000000000000000000" pitchFamily="2" charset="2"/>
              <a:buChar char="q"/>
            </a:pPr>
            <a:r>
              <a:rPr lang="en-GB" sz="2400" dirty="0">
                <a:latin typeface="Times New Roman" panose="02020603050405020304" pitchFamily="18" charset="0"/>
                <a:ea typeface="Calibri" panose="020F0502020204030204" pitchFamily="34" charset="0"/>
                <a:cs typeface="Times New Roman" panose="02020603050405020304" pitchFamily="18" charset="0"/>
              </a:rPr>
              <a:t>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GB" sz="2400" dirty="0">
                <a:latin typeface="Times New Roman" panose="02020603050405020304" pitchFamily="18" charset="0"/>
                <a:ea typeface="Calibri" panose="020F0502020204030204" pitchFamily="34" charset="0"/>
                <a:cs typeface="Times New Roman" panose="02020603050405020304" pitchFamily="18" charset="0"/>
              </a:rPr>
              <a:t>L</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ess </a:t>
            </a:r>
            <a:r>
              <a:rPr lang="en-GB" sz="2400" dirty="0">
                <a:latin typeface="Times New Roman" panose="02020603050405020304" pitchFamily="18" charset="0"/>
                <a:ea typeface="Calibri" panose="020F0502020204030204" pitchFamily="34" charset="0"/>
                <a:cs typeface="Times New Roman" panose="02020603050405020304" pitchFamily="18" charset="0"/>
              </a:rPr>
              <a:t>noisy </a:t>
            </a:r>
            <a:r>
              <a:rPr lang="en-GB" sz="2400" dirty="0" smtClean="0">
                <a:latin typeface="Times New Roman" panose="02020603050405020304" pitchFamily="18" charset="0"/>
                <a:ea typeface="Calibri" panose="020F0502020204030204" pitchFamily="34" charset="0"/>
                <a:cs typeface="Times New Roman" panose="02020603050405020304" pitchFamily="18" charset="0"/>
              </a:rPr>
              <a:t>electronics</a:t>
            </a:r>
          </a:p>
          <a:p>
            <a:pPr marL="342900" indent="-342900" algn="just">
              <a:spcAft>
                <a:spcPts val="800"/>
              </a:spcAft>
              <a:buFont typeface="Wingdings" panose="05000000000000000000" pitchFamily="2" charset="2"/>
              <a:buChar char="q"/>
            </a:pPr>
            <a:r>
              <a:rPr lang="en-GB" sz="2400" dirty="0" smtClean="0">
                <a:latin typeface="Times New Roman" panose="02020603050405020304" pitchFamily="18" charset="0"/>
                <a:ea typeface="Calibri" panose="020F0502020204030204" pitchFamily="34" charset="0"/>
                <a:cs typeface="Times New Roman" panose="02020603050405020304" pitchFamily="18" charset="0"/>
              </a:rPr>
              <a:t>      Space clearance for the AWS</a:t>
            </a:r>
            <a:endParaRPr lang="en-GB"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p:cNvSpPr/>
          <p:nvPr/>
        </p:nvSpPr>
        <p:spPr>
          <a:xfrm>
            <a:off x="4832616" y="664519"/>
            <a:ext cx="3098925" cy="587148"/>
          </a:xfrm>
          <a:prstGeom prst="rect">
            <a:avLst/>
          </a:prstGeom>
        </p:spPr>
        <p:txBody>
          <a:bodyPr wrap="none">
            <a:spAutoFit/>
          </a:bodyPr>
          <a:lstStyle/>
          <a:p>
            <a:pPr marL="0" lvl="1" algn="just">
              <a:lnSpc>
                <a:spcPct val="150000"/>
              </a:lnSpc>
              <a:spcBef>
                <a:spcPts val="200"/>
              </a:spcBef>
              <a:spcAft>
                <a:spcPts val="0"/>
              </a:spcAft>
            </a:pPr>
            <a:r>
              <a:rPr lang="en-GB" sz="2400" b="1" dirty="0">
                <a:latin typeface="Times New Roman" panose="02020603050405020304" pitchFamily="18" charset="0"/>
                <a:ea typeface="Times New Roman" panose="02020603050405020304" pitchFamily="18" charset="0"/>
                <a:cs typeface="Times New Roman" panose="02020603050405020304" pitchFamily="18" charset="0"/>
              </a:rPr>
              <a:t>Ethical </a:t>
            </a:r>
            <a:r>
              <a:rPr lang="en-GB" sz="2400" b="1" dirty="0" smtClean="0">
                <a:latin typeface="Times New Roman" panose="02020603050405020304" pitchFamily="18" charset="0"/>
                <a:ea typeface="Times New Roman" panose="02020603050405020304" pitchFamily="18" charset="0"/>
                <a:cs typeface="Times New Roman" panose="02020603050405020304" pitchFamily="18" charset="0"/>
              </a:rPr>
              <a:t>considerations</a:t>
            </a:r>
            <a:endParaRPr lang="en-US" sz="2400" b="1" dirty="0">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A273858E-A100-3E2B-C74D-80D581835B23}"/>
              </a:ext>
            </a:extLst>
          </p:cNvPr>
          <p:cNvSpPr txBox="1"/>
          <p:nvPr/>
        </p:nvSpPr>
        <p:spPr>
          <a:xfrm>
            <a:off x="4563697" y="146664"/>
            <a:ext cx="42291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Methodology Cont.</a:t>
            </a:r>
          </a:p>
        </p:txBody>
      </p:sp>
      <p:sp>
        <p:nvSpPr>
          <p:cNvPr id="7" name="Slide Number Placeholder 6"/>
          <p:cNvSpPr>
            <a:spLocks noGrp="1"/>
          </p:cNvSpPr>
          <p:nvPr>
            <p:ph type="sldNum" sz="quarter" idx="12"/>
          </p:nvPr>
        </p:nvSpPr>
        <p:spPr/>
        <p:txBody>
          <a:bodyPr/>
          <a:lstStyle/>
          <a:p>
            <a:fld id="{9B87FC41-F35B-458E-AD48-D36E6575979E}" type="slidenum">
              <a:rPr lang="en-US" smtClean="0"/>
              <a:t>18</a:t>
            </a:fld>
            <a:endParaRPr lang="en-US" dirty="0"/>
          </a:p>
        </p:txBody>
      </p:sp>
    </p:spTree>
    <p:extLst>
      <p:ext uri="{BB962C8B-B14F-4D97-AF65-F5344CB8AC3E}">
        <p14:creationId xmlns:p14="http://schemas.microsoft.com/office/powerpoint/2010/main" val="34346584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59D32E-452C-F634-B248-786BF1A39D17}"/>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FA220499-36BC-5F2C-9973-407F50737947}"/>
              </a:ext>
            </a:extLst>
          </p:cNvPr>
          <p:cNvSpPr txBox="1"/>
          <p:nvPr/>
        </p:nvSpPr>
        <p:spPr>
          <a:xfrm>
            <a:off x="5008661" y="95415"/>
            <a:ext cx="2667042"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References</a:t>
            </a:r>
          </a:p>
        </p:txBody>
      </p:sp>
      <p:sp>
        <p:nvSpPr>
          <p:cNvPr id="2" name="Rectangle 1"/>
          <p:cNvSpPr/>
          <p:nvPr/>
        </p:nvSpPr>
        <p:spPr>
          <a:xfrm>
            <a:off x="512401" y="910691"/>
            <a:ext cx="11098923" cy="4974247"/>
          </a:xfrm>
          <a:prstGeom prst="rect">
            <a:avLst/>
          </a:prstGeom>
        </p:spPr>
        <p:txBody>
          <a:bodyPr wrap="square">
            <a:spAutoFit/>
          </a:bodyPr>
          <a:lstStyle/>
          <a:p>
            <a:pPr lvl="0" indent="361950" algn="just">
              <a:lnSpc>
                <a:spcPct val="150000"/>
              </a:lnSpc>
              <a:spcAft>
                <a:spcPts val="800"/>
              </a:spcAft>
              <a:buFont typeface="+mj-lt"/>
              <a:buAutoNum type="arabicPeriod"/>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Selvam, A. P., &amp; Al-Humairi, S. N. S. (2024). Environmental impact evaluation using smart real-time weather monitoring systems: a systematic review. Innovative Infrastructure Solutions, 10(1), 13. </a:t>
            </a:r>
            <a:r>
              <a:rPr lang="en-US" sz="1600" u="sng" dirty="0">
                <a:solidFill>
                  <a:srgbClr val="0563C1"/>
                </a:solidFill>
                <a:latin typeface="Times New Roman" panose="02020603050405020304" pitchFamily="18" charset="0"/>
                <a:ea typeface="Times New Roman" panose="02020603050405020304" pitchFamily="18" charset="0"/>
                <a:cs typeface="Times New Roman" panose="02020603050405020304" pitchFamily="18" charset="0"/>
                <a:hlinkClick r:id="rId2"/>
              </a:rPr>
              <a:t>https://doi.org/10.1007/s41062-024-01817-7</a:t>
            </a:r>
            <a:r>
              <a:rPr lang="en-GB" sz="16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GB" sz="1600" dirty="0" smtClean="0">
                <a:latin typeface="Times New Roman" panose="02020603050405020304" pitchFamily="18" charset="0"/>
                <a:ea typeface="Calibri" panose="020F0502020204030204" pitchFamily="34" charset="0"/>
                <a:cs typeface="Times New Roman" panose="02020603050405020304" pitchFamily="18" charset="0"/>
              </a:rPr>
              <a:t>2. </a:t>
            </a:r>
            <a:r>
              <a:rPr lang="en-GB" sz="1600" dirty="0">
                <a:latin typeface="Times New Roman" panose="02020603050405020304" pitchFamily="18" charset="0"/>
                <a:ea typeface="Calibri" panose="020F0502020204030204" pitchFamily="34" charset="0"/>
                <a:cs typeface="Times New Roman" panose="02020603050405020304" pitchFamily="18" charset="0"/>
              </a:rPr>
              <a:t>Kramer, B., &amp; Chakraborty, S. (2009). A review of power electronics interfaces for distributed energy systems towards achieving low-cost modular design. Renewable and Sustainable Energy Reviews, 13(9), 2323-2335. </a:t>
            </a:r>
            <a:r>
              <a:rPr lang="en-GB" sz="1600" u="sng" dirty="0">
                <a:solidFill>
                  <a:srgbClr val="0563C1"/>
                </a:solidFill>
                <a:latin typeface="Times New Roman" panose="02020603050405020304" pitchFamily="18" charset="0"/>
                <a:ea typeface="Calibri" panose="020F0502020204030204" pitchFamily="34" charset="0"/>
                <a:cs typeface="Times New Roman" panose="02020603050405020304" pitchFamily="18" charset="0"/>
                <a:hlinkClick r:id="rId3"/>
              </a:rPr>
              <a:t>https://doi.org/10.1016/j.rser.2009.05.005</a:t>
            </a:r>
            <a:r>
              <a:rPr lang="en-GB"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GB" sz="1600" dirty="0">
                <a:latin typeface="Times New Roman" panose="02020603050405020304" pitchFamily="18" charset="0"/>
                <a:ea typeface="Calibri" panose="020F0502020204030204" pitchFamily="34" charset="0"/>
                <a:cs typeface="Times New Roman" panose="02020603050405020304" pitchFamily="18" charset="0"/>
              </a:rPr>
              <a:t>3</a:t>
            </a:r>
            <a:r>
              <a:rPr lang="en-GB"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Jaber, M. M., Ali, M. H., Abd, S. K., Jassim, M. M., Alkhayyat, A., Aziz, H. W., &amp; Alkhuwaylidee, A. R. (2022). Predicting climate factors based on big data analytics based agricultural disaster management. Physics and Chemistry of the Earth, Parts A/B/C, 128, 103243. </a:t>
            </a:r>
            <a:r>
              <a:rPr lang="en-US" sz="1600" u="sng" dirty="0">
                <a:solidFill>
                  <a:srgbClr val="0563C1"/>
                </a:solidFill>
                <a:latin typeface="Times New Roman" panose="02020603050405020304" pitchFamily="18" charset="0"/>
                <a:ea typeface="Times New Roman" panose="02020603050405020304" pitchFamily="18" charset="0"/>
                <a:cs typeface="Times New Roman" panose="02020603050405020304" pitchFamily="18" charset="0"/>
                <a:hlinkClick r:id="rId4"/>
              </a:rPr>
              <a:t>https://doi.org/10.1016/J.PCE.2022.103243</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GB" sz="1600" dirty="0" smtClean="0">
                <a:latin typeface="Times New Roman" panose="02020603050405020304" pitchFamily="18" charset="0"/>
                <a:ea typeface="Calibri" panose="020F0502020204030204" pitchFamily="34" charset="0"/>
                <a:cs typeface="Times New Roman" panose="02020603050405020304" pitchFamily="18" charset="0"/>
              </a:rPr>
              <a:t>4. Nsabagwa</a:t>
            </a:r>
            <a:r>
              <a:rPr lang="en-GB" sz="1600" dirty="0">
                <a:latin typeface="Times New Roman" panose="02020603050405020304" pitchFamily="18" charset="0"/>
                <a:ea typeface="Calibri" panose="020F0502020204030204" pitchFamily="34" charset="0"/>
                <a:cs typeface="Times New Roman" panose="02020603050405020304" pitchFamily="18" charset="0"/>
              </a:rPr>
              <a:t>, M., Byamukama, M., &amp; Otim, J. S. (2019). Towards a robust and affordable Automatic Weather Station. Development Engineering, 4, 100040. </a:t>
            </a:r>
            <a:r>
              <a:rPr lang="en-GB" sz="1600" u="sng" dirty="0">
                <a:solidFill>
                  <a:srgbClr val="0563C1"/>
                </a:solidFill>
                <a:latin typeface="Times New Roman" panose="02020603050405020304" pitchFamily="18" charset="0"/>
                <a:ea typeface="Calibri" panose="020F0502020204030204" pitchFamily="34" charset="0"/>
                <a:cs typeface="Times New Roman" panose="02020603050405020304" pitchFamily="18" charset="0"/>
                <a:hlinkClick r:id="rId5"/>
              </a:rPr>
              <a:t>https://doi.org/10.1016/j.deveng.2018.100040</a:t>
            </a:r>
            <a:r>
              <a:rPr lang="en-GB" sz="1600" dirty="0">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GB" sz="1600" dirty="0">
                <a:latin typeface="Times New Roman" panose="02020603050405020304" pitchFamily="18" charset="0"/>
                <a:ea typeface="Calibri" panose="020F0502020204030204" pitchFamily="34" charset="0"/>
                <a:cs typeface="Times New Roman" panose="02020603050405020304" pitchFamily="18" charset="0"/>
              </a:rPr>
              <a:t>5</a:t>
            </a:r>
            <a:r>
              <a:rPr lang="en-GB"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Pérez, M. A., Rodríguez, J., &amp; Bernet, S. (2022). A comprehensive review on modular multilevel converters. Energies, 15(10), 3701. </a:t>
            </a:r>
            <a:r>
              <a:rPr lang="en-GB" sz="1600" u="sng" dirty="0">
                <a:solidFill>
                  <a:srgbClr val="0563C1"/>
                </a:solidFill>
                <a:latin typeface="Times New Roman" panose="02020603050405020304" pitchFamily="18" charset="0"/>
                <a:ea typeface="Calibri" panose="020F0502020204030204" pitchFamily="34" charset="0"/>
                <a:cs typeface="Times New Roman" panose="02020603050405020304" pitchFamily="18" charset="0"/>
                <a:hlinkClick r:id="rId6"/>
              </a:rPr>
              <a:t>https://doi.org/10.3390/en15103701</a:t>
            </a:r>
            <a:r>
              <a:rPr lang="en-GB" sz="16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GB" sz="1600" dirty="0">
                <a:latin typeface="Times New Roman" panose="02020603050405020304" pitchFamily="18" charset="0"/>
                <a:ea typeface="Calibri" panose="020F0502020204030204" pitchFamily="34" charset="0"/>
                <a:cs typeface="Times New Roman" panose="02020603050405020304" pitchFamily="18" charset="0"/>
              </a:rPr>
              <a:t>6</a:t>
            </a:r>
            <a:r>
              <a:rPr lang="en-GB"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 Z., Wang, X., &amp; Chen, L. (2023). Advances and perspectives in multilevel converters. Electronics, 13(18), </a:t>
            </a:r>
            <a:r>
              <a:rPr lang="en-GB" sz="16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4736</a:t>
            </a:r>
            <a:r>
              <a:rPr lang="en-GB"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GB" sz="1600" dirty="0" smtClean="0">
                <a:latin typeface="Times New Roman" panose="02020603050405020304" pitchFamily="18" charset="0"/>
                <a:ea typeface="Calibri" panose="020F0502020204030204" pitchFamily="34" charset="0"/>
                <a:cs typeface="Times New Roman" panose="02020603050405020304" pitchFamily="18" charset="0"/>
              </a:rPr>
              <a:t>7. </a:t>
            </a:r>
            <a:r>
              <a:rPr lang="en-GB" sz="1600" dirty="0">
                <a:latin typeface="Times New Roman" panose="02020603050405020304" pitchFamily="18" charset="0"/>
                <a:cs typeface="Times New Roman" panose="02020603050405020304" pitchFamily="18" charset="0"/>
              </a:rPr>
              <a:t>Fang, Y.; Liu, Y.; Fu, A.; Shi, S.; Zhang, Z. A Data-Driven Control for Modular Multilevel Converters Based on Model-Free Adaptive Control with an Event-Triggered Scheme. Electronics, 2024, 13(15), 2899. </a:t>
            </a:r>
            <a:r>
              <a:rPr lang="en-GB" sz="1600" u="sng" dirty="0">
                <a:latin typeface="Times New Roman" panose="02020603050405020304" pitchFamily="18" charset="0"/>
                <a:cs typeface="Times New Roman" panose="02020603050405020304" pitchFamily="18" charset="0"/>
                <a:hlinkClick r:id="rId7"/>
              </a:rPr>
              <a:t>https://doi.org/10.3390/electronics13152899</a:t>
            </a:r>
            <a:r>
              <a:rPr lang="en-GB" sz="1600" dirty="0" smtClean="0">
                <a:latin typeface="Times New Roman" panose="02020603050405020304" pitchFamily="18" charset="0"/>
                <a:cs typeface="Times New Roman" panose="02020603050405020304" pitchFamily="18" charset="0"/>
              </a:rPr>
              <a:t> </a:t>
            </a:r>
          </a:p>
          <a:p>
            <a:pPr algn="just">
              <a:lnSpc>
                <a:spcPct val="107000"/>
              </a:lnSpc>
              <a:spcAft>
                <a:spcPts val="800"/>
              </a:spcAft>
            </a:pPr>
            <a:r>
              <a:rPr lang="en-GB" sz="1600" dirty="0" smtClean="0">
                <a:latin typeface="Times New Roman" panose="02020603050405020304" pitchFamily="18" charset="0"/>
                <a:cs typeface="Times New Roman" panose="02020603050405020304" pitchFamily="18" charset="0"/>
              </a:rPr>
              <a:t>8. Pallo</a:t>
            </a:r>
            <a:r>
              <a:rPr lang="en-GB" sz="1600" dirty="0">
                <a:latin typeface="Times New Roman" panose="02020603050405020304" pitchFamily="18" charset="0"/>
                <a:cs typeface="Times New Roman" panose="02020603050405020304" pitchFamily="18" charset="0"/>
              </a:rPr>
              <a:t>, S., Bonfiglio, A., &amp; Procopio, R. (2020). Adaptive control of four-quadrant DC–DC converters. Energies, 13(21), 5619.</a:t>
            </a:r>
            <a:r>
              <a:rPr lang="en-GB" sz="16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B87FC41-F35B-458E-AD48-D36E6575979E}" type="slidenum">
              <a:rPr lang="en-US" smtClean="0"/>
              <a:t>19</a:t>
            </a:fld>
            <a:endParaRPr lang="en-US" dirty="0"/>
          </a:p>
        </p:txBody>
      </p:sp>
    </p:spTree>
    <p:extLst>
      <p:ext uri="{BB962C8B-B14F-4D97-AF65-F5344CB8AC3E}">
        <p14:creationId xmlns:p14="http://schemas.microsoft.com/office/powerpoint/2010/main" val="1673917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39008C4-09F6-1D2E-3676-E7B3AD352574}"/>
            </a:ext>
          </a:extLst>
        </p:cNvPr>
        <p:cNvGrpSpPr/>
        <p:nvPr/>
      </p:nvGrpSpPr>
      <p:grpSpPr>
        <a:xfrm>
          <a:off x="0" y="0"/>
          <a:ext cx="0" cy="0"/>
          <a:chOff x="0" y="0"/>
          <a:chExt cx="0" cy="0"/>
        </a:xfrm>
      </p:grpSpPr>
      <p:sp>
        <p:nvSpPr>
          <p:cNvPr id="4" name="TextBox 3">
            <a:extLst>
              <a:ext uri="{FF2B5EF4-FFF2-40B4-BE49-F238E27FC236}">
                <a16:creationId xmlns="" xmlns:a16="http://schemas.microsoft.com/office/drawing/2014/main" id="{9BD3F982-5C8F-BF94-A812-3DC1A5BC6A62}"/>
              </a:ext>
            </a:extLst>
          </p:cNvPr>
          <p:cNvSpPr txBox="1"/>
          <p:nvPr/>
        </p:nvSpPr>
        <p:spPr>
          <a:xfrm>
            <a:off x="5188969" y="0"/>
            <a:ext cx="3573394" cy="584775"/>
          </a:xfrm>
          <a:prstGeom prst="rect">
            <a:avLst/>
          </a:prstGeom>
          <a:noFill/>
        </p:spPr>
        <p:txBody>
          <a:bodyPr wrap="square">
            <a:spAutoFit/>
          </a:bodyPr>
          <a:lstStyle/>
          <a:p>
            <a:r>
              <a:rPr lang="en-US" sz="3200" b="1" dirty="0" smtClean="0">
                <a:latin typeface="Times New Roman" panose="02020603050405020304" pitchFamily="18" charset="0"/>
                <a:cs typeface="Times New Roman" panose="02020603050405020304" pitchFamily="18" charset="0"/>
              </a:rPr>
              <a:t>Appendix</a:t>
            </a:r>
            <a:endParaRPr lang="en-US"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668B89BE-D5C7-2BFB-A500-AFA95ADA3FEE}"/>
              </a:ext>
            </a:extLst>
          </p:cNvPr>
          <p:cNvSpPr txBox="1"/>
          <p:nvPr/>
        </p:nvSpPr>
        <p:spPr>
          <a:xfrm>
            <a:off x="3564013" y="557744"/>
            <a:ext cx="5198350" cy="517065"/>
          </a:xfrm>
          <a:prstGeom prst="rect">
            <a:avLst/>
          </a:prstGeom>
          <a:noFill/>
        </p:spPr>
        <p:txBody>
          <a:bodyPr wrap="square">
            <a:spAutoFit/>
          </a:bodyPr>
          <a:lstStyle/>
          <a:p>
            <a:pPr marL="0" marR="0" algn="just">
              <a:lnSpc>
                <a:spcPct val="115000"/>
              </a:lnSpc>
              <a:spcAft>
                <a:spcPts val="800"/>
              </a:spcAft>
            </a:pPr>
            <a:r>
              <a:rPr lang="en-US" sz="2400"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Gantt chart showing proposed </a:t>
            </a:r>
            <a:r>
              <a:rPr lang="en-US" sz="2400" kern="100" dirty="0">
                <a:latin typeface="Times New Roman" panose="02020603050405020304" pitchFamily="18" charset="0"/>
                <a:ea typeface="Times New Roman" panose="02020603050405020304" pitchFamily="18" charset="0"/>
                <a:cs typeface="Times New Roman" panose="02020603050405020304" pitchFamily="18" charset="0"/>
              </a:rPr>
              <a:t>w</a:t>
            </a:r>
            <a:r>
              <a:rPr lang="en-US" sz="2400"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ork </a:t>
            </a:r>
            <a:r>
              <a:rPr lang="en-US" sz="2400" kern="100" dirty="0">
                <a:latin typeface="Times New Roman" panose="02020603050405020304" pitchFamily="18" charset="0"/>
                <a:ea typeface="Times New Roman" panose="02020603050405020304" pitchFamily="18" charset="0"/>
                <a:cs typeface="Times New Roman" panose="02020603050405020304" pitchFamily="18" charset="0"/>
              </a:rPr>
              <a:t>p</a:t>
            </a:r>
            <a:r>
              <a:rPr lang="en-US" sz="2400"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lan</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p:cNvSpPr/>
          <p:nvPr/>
        </p:nvSpPr>
        <p:spPr>
          <a:xfrm>
            <a:off x="8665380" y="6381403"/>
            <a:ext cx="3025187" cy="369332"/>
          </a:xfrm>
          <a:prstGeom prst="rect">
            <a:avLst/>
          </a:prstGeom>
        </p:spPr>
        <p:txBody>
          <a:bodyPr wrap="none">
            <a:spAutoFit/>
          </a:bodyPr>
          <a:lstStyle/>
          <a:p>
            <a:r>
              <a:rPr lang="en-GB" dirty="0">
                <a:latin typeface="Times New Roman" panose="02020603050405020304" pitchFamily="18" charset="0"/>
                <a:ea typeface="Calibri" panose="020F0502020204030204" pitchFamily="34" charset="0"/>
                <a:cs typeface="Times New Roman" panose="02020603050405020304" pitchFamily="18" charset="0"/>
              </a:rPr>
              <a:t>Figure </a:t>
            </a:r>
            <a:r>
              <a:rPr lang="en-GB" dirty="0" smtClean="0">
                <a:latin typeface="Times New Roman" panose="02020603050405020304" pitchFamily="18" charset="0"/>
                <a:ea typeface="Calibri" panose="020F0502020204030204" pitchFamily="34" charset="0"/>
                <a:cs typeface="Times New Roman" panose="02020603050405020304" pitchFamily="18" charset="0"/>
              </a:rPr>
              <a:t>4. Proposed work plan</a:t>
            </a:r>
            <a:endParaRPr lang="en-US"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B87FC41-F35B-458E-AD48-D36E6575979E}" type="slidenum">
              <a:rPr lang="en-US" smtClean="0"/>
              <a:t>20</a:t>
            </a:fld>
            <a:endParaRPr lang="en-US" dirty="0"/>
          </a:p>
        </p:txBody>
      </p:sp>
      <p:pic>
        <p:nvPicPr>
          <p:cNvPr id="9" name="Picture 8"/>
          <p:cNvPicPr>
            <a:picLocks noChangeAspect="1"/>
          </p:cNvPicPr>
          <p:nvPr/>
        </p:nvPicPr>
        <p:blipFill>
          <a:blip r:embed="rId2"/>
          <a:stretch>
            <a:fillRect/>
          </a:stretch>
        </p:blipFill>
        <p:spPr>
          <a:xfrm>
            <a:off x="1990655" y="1186339"/>
            <a:ext cx="8345065" cy="5058481"/>
          </a:xfrm>
          <a:prstGeom prst="rect">
            <a:avLst/>
          </a:prstGeom>
        </p:spPr>
      </p:pic>
    </p:spTree>
    <p:extLst>
      <p:ext uri="{BB962C8B-B14F-4D97-AF65-F5344CB8AC3E}">
        <p14:creationId xmlns:p14="http://schemas.microsoft.com/office/powerpoint/2010/main" val="30687252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799FDB5-9F56-264E-9625-15A4229F0F53}"/>
            </a:ext>
          </a:extLst>
        </p:cNvPr>
        <p:cNvGrpSpPr/>
        <p:nvPr/>
      </p:nvGrpSpPr>
      <p:grpSpPr>
        <a:xfrm>
          <a:off x="0" y="0"/>
          <a:ext cx="0" cy="0"/>
          <a:chOff x="0" y="0"/>
          <a:chExt cx="0" cy="0"/>
        </a:xfrm>
      </p:grpSpPr>
      <p:sp>
        <p:nvSpPr>
          <p:cNvPr id="7" name="TextBox 6">
            <a:extLst>
              <a:ext uri="{FF2B5EF4-FFF2-40B4-BE49-F238E27FC236}">
                <a16:creationId xmlns="" xmlns:a16="http://schemas.microsoft.com/office/drawing/2014/main" id="{918FC9FA-7071-DBD5-26BA-89C600D1FE0E}"/>
              </a:ext>
            </a:extLst>
          </p:cNvPr>
          <p:cNvSpPr txBox="1"/>
          <p:nvPr/>
        </p:nvSpPr>
        <p:spPr>
          <a:xfrm>
            <a:off x="4575086" y="1662093"/>
            <a:ext cx="3706936" cy="517065"/>
          </a:xfrm>
          <a:prstGeom prst="rect">
            <a:avLst/>
          </a:prstGeom>
          <a:noFill/>
        </p:spPr>
        <p:txBody>
          <a:bodyPr wrap="square">
            <a:spAutoFit/>
          </a:bodyPr>
          <a:lstStyle/>
          <a:p>
            <a:pPr marL="0" marR="0" algn="just">
              <a:lnSpc>
                <a:spcPct val="115000"/>
              </a:lnSpc>
              <a:spcAft>
                <a:spcPts val="800"/>
              </a:spcAft>
            </a:pPr>
            <a:r>
              <a:rPr lang="en-US" sz="2400"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Table 2. Proposed Budget</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8" name="Table 7">
            <a:extLst>
              <a:ext uri="{FF2B5EF4-FFF2-40B4-BE49-F238E27FC236}">
                <a16:creationId xmlns="" xmlns:a16="http://schemas.microsoft.com/office/drawing/2014/main" id="{1D7DC23E-ABE8-84D3-57C0-986CDDF69EE4}"/>
              </a:ext>
            </a:extLst>
          </p:cNvPr>
          <p:cNvGraphicFramePr>
            <a:graphicFrameLocks noGrp="1"/>
          </p:cNvGraphicFramePr>
          <p:nvPr>
            <p:extLst>
              <p:ext uri="{D42A27DB-BD31-4B8C-83A1-F6EECF244321}">
                <p14:modId xmlns:p14="http://schemas.microsoft.com/office/powerpoint/2010/main" val="3300164371"/>
              </p:ext>
            </p:extLst>
          </p:nvPr>
        </p:nvGraphicFramePr>
        <p:xfrm>
          <a:off x="1661746" y="2292666"/>
          <a:ext cx="9009670" cy="2804160"/>
        </p:xfrm>
        <a:graphic>
          <a:graphicData uri="http://schemas.openxmlformats.org/drawingml/2006/table">
            <a:tbl>
              <a:tblPr firstRow="1" firstCol="1" bandRow="1">
                <a:tableStyleId>{5940675A-B579-460E-94D1-54222C63F5DA}</a:tableStyleId>
              </a:tblPr>
              <a:tblGrid>
                <a:gridCol w="722086">
                  <a:extLst>
                    <a:ext uri="{9D8B030D-6E8A-4147-A177-3AD203B41FA5}">
                      <a16:colId xmlns="" xmlns:a16="http://schemas.microsoft.com/office/drawing/2014/main" val="2467134884"/>
                    </a:ext>
                  </a:extLst>
                </a:gridCol>
                <a:gridCol w="5747704">
                  <a:extLst>
                    <a:ext uri="{9D8B030D-6E8A-4147-A177-3AD203B41FA5}">
                      <a16:colId xmlns="" xmlns:a16="http://schemas.microsoft.com/office/drawing/2014/main" val="3222663029"/>
                    </a:ext>
                  </a:extLst>
                </a:gridCol>
                <a:gridCol w="2539880">
                  <a:extLst>
                    <a:ext uri="{9D8B030D-6E8A-4147-A177-3AD203B41FA5}">
                      <a16:colId xmlns="" xmlns:a16="http://schemas.microsoft.com/office/drawing/2014/main" val="4060444106"/>
                    </a:ext>
                  </a:extLst>
                </a:gridCol>
              </a:tblGrid>
              <a:tr h="161290">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S/N</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Item</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Cost (USD) </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2978938937"/>
                  </a:ext>
                </a:extLst>
              </a:tr>
              <a:tr h="155575">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1</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PCB Fabrication</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400</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664483481"/>
                  </a:ext>
                </a:extLst>
              </a:tr>
              <a:tr h="161290">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2</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Components &amp; Materials</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600</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8723588"/>
                  </a:ext>
                </a:extLst>
              </a:tr>
              <a:tr h="155575">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3</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Simulation and Design Software</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600</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460226212"/>
                  </a:ext>
                </a:extLst>
              </a:tr>
              <a:tr h="161290">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4</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Field Installation &amp; Testing</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1,000</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3371947275"/>
                  </a:ext>
                </a:extLst>
              </a:tr>
              <a:tr h="161290">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5</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Travel and Data Collection</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400 </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468158110"/>
                  </a:ext>
                </a:extLst>
              </a:tr>
              <a:tr h="155575">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6</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Report Production &amp; Dissemination</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400</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2117356136"/>
                  </a:ext>
                </a:extLst>
              </a:tr>
              <a:tr h="161290">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 </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Total</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Aft>
                          <a:spcPts val="800"/>
                        </a:spcAft>
                        <a:buNone/>
                      </a:pPr>
                      <a:r>
                        <a:rPr lang="en-US" sz="2000" kern="100" dirty="0">
                          <a:effectLst/>
                          <a:latin typeface="Times New Roman" panose="02020603050405020304" pitchFamily="18" charset="0"/>
                          <a:cs typeface="Times New Roman" panose="02020603050405020304" pitchFamily="18" charset="0"/>
                        </a:rPr>
                        <a:t>3,400</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2002393952"/>
                  </a:ext>
                </a:extLst>
              </a:tr>
            </a:tbl>
          </a:graphicData>
        </a:graphic>
      </p:graphicFrame>
      <p:sp>
        <p:nvSpPr>
          <p:cNvPr id="12" name="TextBox 11">
            <a:extLst>
              <a:ext uri="{FF2B5EF4-FFF2-40B4-BE49-F238E27FC236}">
                <a16:creationId xmlns="" xmlns:a16="http://schemas.microsoft.com/office/drawing/2014/main" id="{9BD3F982-5C8F-BF94-A812-3DC1A5BC6A62}"/>
              </a:ext>
            </a:extLst>
          </p:cNvPr>
          <p:cNvSpPr txBox="1"/>
          <p:nvPr/>
        </p:nvSpPr>
        <p:spPr>
          <a:xfrm>
            <a:off x="5188969" y="0"/>
            <a:ext cx="3573394" cy="584775"/>
          </a:xfrm>
          <a:prstGeom prst="rect">
            <a:avLst/>
          </a:prstGeom>
          <a:noFill/>
        </p:spPr>
        <p:txBody>
          <a:bodyPr wrap="square">
            <a:spAutoFit/>
          </a:bodyPr>
          <a:lstStyle/>
          <a:p>
            <a:r>
              <a:rPr lang="en-US" sz="3200" b="1" dirty="0" smtClean="0">
                <a:latin typeface="Times New Roman" panose="02020603050405020304" pitchFamily="18" charset="0"/>
                <a:cs typeface="Times New Roman" panose="02020603050405020304" pitchFamily="18" charset="0"/>
              </a:rPr>
              <a:t>Appendix</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B87FC41-F35B-458E-AD48-D36E6575979E}" type="slidenum">
              <a:rPr lang="en-US" smtClean="0"/>
              <a:t>21</a:t>
            </a:fld>
            <a:endParaRPr lang="en-US" dirty="0"/>
          </a:p>
        </p:txBody>
      </p:sp>
    </p:spTree>
    <p:extLst>
      <p:ext uri="{BB962C8B-B14F-4D97-AF65-F5344CB8AC3E}">
        <p14:creationId xmlns:p14="http://schemas.microsoft.com/office/powerpoint/2010/main" val="38811140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799FDB5-9F56-264E-9625-15A4229F0F53}"/>
            </a:ext>
          </a:extLst>
        </p:cNvPr>
        <p:cNvGrpSpPr/>
        <p:nvPr/>
      </p:nvGrpSpPr>
      <p:grpSpPr>
        <a:xfrm>
          <a:off x="0" y="0"/>
          <a:ext cx="0" cy="0"/>
          <a:chOff x="0" y="0"/>
          <a:chExt cx="0" cy="0"/>
        </a:xfrm>
      </p:grpSpPr>
      <p:sp>
        <p:nvSpPr>
          <p:cNvPr id="12" name="TextBox 11">
            <a:extLst>
              <a:ext uri="{FF2B5EF4-FFF2-40B4-BE49-F238E27FC236}">
                <a16:creationId xmlns="" xmlns:a16="http://schemas.microsoft.com/office/drawing/2014/main" id="{9BD3F982-5C8F-BF94-A812-3DC1A5BC6A62}"/>
              </a:ext>
            </a:extLst>
          </p:cNvPr>
          <p:cNvSpPr txBox="1"/>
          <p:nvPr/>
        </p:nvSpPr>
        <p:spPr>
          <a:xfrm>
            <a:off x="5160394" y="0"/>
            <a:ext cx="3573394" cy="584775"/>
          </a:xfrm>
          <a:prstGeom prst="rect">
            <a:avLst/>
          </a:prstGeom>
          <a:noFill/>
        </p:spPr>
        <p:txBody>
          <a:bodyPr wrap="square">
            <a:spAutoFit/>
          </a:bodyPr>
          <a:lstStyle/>
          <a:p>
            <a:r>
              <a:rPr lang="en-GB" sz="3200" b="1" dirty="0" smtClean="0">
                <a:latin typeface="Times New Roman" panose="02020603050405020304" pitchFamily="18" charset="0"/>
                <a:cs typeface="Times New Roman" panose="02020603050405020304" pitchFamily="18" charset="0"/>
              </a:rPr>
              <a:t>Conclusion </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B87FC41-F35B-458E-AD48-D36E6575979E}" type="slidenum">
              <a:rPr lang="en-US" smtClean="0"/>
              <a:t>22</a:t>
            </a:fld>
            <a:endParaRPr lang="en-US" dirty="0"/>
          </a:p>
        </p:txBody>
      </p:sp>
      <p:sp>
        <p:nvSpPr>
          <p:cNvPr id="2" name="Rectangle 1"/>
          <p:cNvSpPr/>
          <p:nvPr/>
        </p:nvSpPr>
        <p:spPr>
          <a:xfrm>
            <a:off x="952500" y="1228602"/>
            <a:ext cx="10106025" cy="2241960"/>
          </a:xfrm>
          <a:prstGeom prst="rect">
            <a:avLst/>
          </a:prstGeom>
        </p:spPr>
        <p:txBody>
          <a:bodyPr wrap="square">
            <a:spAutoFit/>
          </a:bodyPr>
          <a:lstStyle/>
          <a:p>
            <a:pPr algn="just">
              <a:lnSpc>
                <a:spcPct val="150000"/>
              </a:lnSpc>
              <a:spcAft>
                <a:spcPts val="800"/>
              </a:spcAft>
            </a:pPr>
            <a:r>
              <a:rPr lang="en-GB" sz="2400" dirty="0">
                <a:latin typeface="Times New Roman" panose="02020603050405020304" pitchFamily="18" charset="0"/>
                <a:ea typeface="Calibri" panose="020F0502020204030204" pitchFamily="34" charset="0"/>
                <a:cs typeface="Times New Roman" panose="02020603050405020304" pitchFamily="18" charset="0"/>
              </a:rPr>
              <a:t>The outcome of the design will improve the reliability, efficiency, and operational autonomy for remote weather monitoring systems, thereby enhancing the quality and continuity of meteorological data essential for applications in agriculture, public safety, infrastructure planning, and climatic research.</a:t>
            </a:r>
          </a:p>
        </p:txBody>
      </p:sp>
    </p:spTree>
    <p:extLst>
      <p:ext uri="{BB962C8B-B14F-4D97-AF65-F5344CB8AC3E}">
        <p14:creationId xmlns:p14="http://schemas.microsoft.com/office/powerpoint/2010/main" val="13920020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4668</TotalTime>
  <Words>2303</Words>
  <Application>Microsoft Office PowerPoint</Application>
  <PresentationFormat>Widescreen</PresentationFormat>
  <Paragraphs>310</Paragraphs>
  <Slides>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Muhanguzi Tobias</dc:creator>
  <cp:lastModifiedBy>Microsoft account</cp:lastModifiedBy>
  <cp:revision>631</cp:revision>
  <dcterms:created xsi:type="dcterms:W3CDTF">2025-08-04T04:23:59Z</dcterms:created>
  <dcterms:modified xsi:type="dcterms:W3CDTF">2025-10-07T12:19:40Z</dcterms:modified>
</cp:coreProperties>
</file>