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318" r:id="rId4"/>
    <p:sldId id="310" r:id="rId5"/>
    <p:sldId id="312" r:id="rId6"/>
    <p:sldId id="315" r:id="rId7"/>
    <p:sldId id="258" r:id="rId8"/>
    <p:sldId id="259" r:id="rId9"/>
    <p:sldId id="268" r:id="rId10"/>
    <p:sldId id="278" r:id="rId11"/>
    <p:sldId id="280" r:id="rId12"/>
    <p:sldId id="291" r:id="rId13"/>
    <p:sldId id="307" r:id="rId14"/>
    <p:sldId id="321" r:id="rId15"/>
    <p:sldId id="292" r:id="rId16"/>
    <p:sldId id="319" r:id="rId17"/>
    <p:sldId id="305" r:id="rId18"/>
    <p:sldId id="306" r:id="rId19"/>
    <p:sldId id="320" r:id="rId20"/>
    <p:sldId id="262" r:id="rId21"/>
    <p:sldId id="266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75A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>
        <p:scale>
          <a:sx n="80" d="100"/>
          <a:sy n="80" d="100"/>
        </p:scale>
        <p:origin x="9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62022-5DBB-476D-8C27-821A5849ED6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8EF5D-B315-4406-BCDE-C498A7EBC5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7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EF5D-B315-4406-BCDE-C498A7EBC59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12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8EF5D-B315-4406-BCDE-C498A7EBC59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72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6D3661-3966-4FC8-705E-E3813F03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E521C9C-8673-98C4-D884-ACC935EFF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51598B-7CCB-8DD6-7685-5FDCF9AB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58223C-4F53-6011-EBE5-2DBA4C0E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E71CF8-3D1F-C35E-5925-F7D4BEBA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9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0C64FF-C1E0-1BA9-22C5-0747EB1E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F84B78-3190-E41A-937E-A1A9097A0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F263D9-0217-A461-A998-06907A7E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52D105-DC65-92F9-30A4-66B4B19C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A52BD5E-BA45-46F0-2ABF-66FDA44F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0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93E611-52D3-B38B-91F1-010FC32A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9BEC66-EC34-6D32-5F0E-BCDF00E72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8BE39D-D64B-1BF6-8868-6341235D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55700-288B-4910-90B4-73AEAC0C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5AC35-D391-4967-6B04-9DE36994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4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381EE1-0C6E-4691-589C-AC223F70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0078E8-E1AF-F78E-6CA6-7C15AFB83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DCCACAE-DDE5-90EB-A0C0-1C56200FC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551C17-1F05-DCF4-71BF-D94A4AF0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D023510-1949-075F-4569-403911D1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3265529-139D-AC1E-4698-14201A15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2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52423C-DAC9-7697-59ED-3D5442D5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F316BF-B872-EC68-3401-300875D9C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EC75CC-E2A4-8FF3-F0AE-7CBB7717D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0A746AB-9321-A869-082B-64998A30D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3035A97-6CD1-94BA-8794-57F4A5FF7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28FE344-F093-1440-DD14-CE96F741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CD5F95-B523-EABA-7045-32111E61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E7A339F-A6D7-873A-3FE4-5BD2B166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94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768F36-A1B0-B60D-7F87-66DC1B82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F1AA47F-9E48-0B7A-63FF-369FEBBB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5631EAF-12EC-D4B0-D857-56F65D00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E5253ED-67FF-61F3-9053-74F11F54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5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BD3530C-4C2B-B148-9D88-E26C3F33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A7149CB-7AB2-07C7-07A2-48CA093B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25439CA-6521-8D75-ECC5-0956ACF5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58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30B7E2-9F91-4129-85DE-1274B5AD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B7269C-69F4-4FDD-CC1F-0D71387B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329CD85-0E71-6E42-F171-EDDDEC3CB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07D513-4410-58BB-54CC-D62D5CA3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B7D449-A46A-E10D-0FD4-E6C44CE2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F87F891-F3C8-2D29-A6AE-8C64C91A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14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8C91D5-0B0B-EA86-5A3C-1FE62152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13140EF-482F-660B-EDCF-81552006E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32D1E16-0878-1EF7-FBBA-E0122D6FD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3C0C13-8746-ADE3-A785-AE6F56AA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7BB9D3-A6C1-1935-DDFC-A3C363953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CCCFD-AF57-1986-CAC6-26AA4BB3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5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B270E5-EAC8-BC9F-B4AF-31667494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2E1FAC1-64AB-BFAF-E767-FAF0430C0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0F3BA5-0129-6E56-9963-4D885C4F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E9D3FC-279A-5706-EE0F-7651940D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C34F29-A4C8-4F33-BC42-02426C36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34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52AB401-A471-90A4-3361-DA881D23F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7563528-B2F3-31DC-8661-1E10C5AAA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813264-5A49-6316-CE85-48D018A9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128841-FC77-0ADF-008C-14188676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B14E09-55E5-1AC1-67BF-00B6266C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6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FF99106-04DA-17D0-4D05-73E61239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A525CB-786D-B47B-DAA1-141D97134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31DA6D-4861-5E9A-9FAE-AAAE381A5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1D18B-10A6-4FD1-9D25-9F6550B8D4C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259E3A-32E1-2B4D-83AA-CE08626C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F5B2A1-5B7A-B67B-3AF1-0475FBFA6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7FC41-F35B-458E-AD48-D36E657597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6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rser.2009.05.005" TargetMode="External"/><Relationship Id="rId7" Type="http://schemas.openxmlformats.org/officeDocument/2006/relationships/hyperlink" Target="https://doi.org/10.3390/electronics13152899" TargetMode="External"/><Relationship Id="rId2" Type="http://schemas.openxmlformats.org/officeDocument/2006/relationships/hyperlink" Target="https://doi.org/10.1007/s41062-024-01817-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en15103701" TargetMode="External"/><Relationship Id="rId5" Type="http://schemas.openxmlformats.org/officeDocument/2006/relationships/hyperlink" Target="https://doi.org/10.1016/j.deveng.2018.100040" TargetMode="External"/><Relationship Id="rId4" Type="http://schemas.openxmlformats.org/officeDocument/2006/relationships/hyperlink" Target="https://doi.org/10.1016/J.PCE.2022.103243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89AF678-B5D8-AF74-F887-DEC2EF6C498A}"/>
              </a:ext>
            </a:extLst>
          </p:cNvPr>
          <p:cNvSpPr txBox="1"/>
          <p:nvPr/>
        </p:nvSpPr>
        <p:spPr>
          <a:xfrm>
            <a:off x="1366580" y="1181574"/>
            <a:ext cx="9971063" cy="567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MODULAR AND ADAPTIVE POWER ELECTRONICS SYSTEM FOR ENERGY CONSTRAINED AUTOMATIC WEATHER STATIONS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Tobias Newman Muhanguzi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BTE.,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KyU)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Dr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Roseline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Dr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Nsabagwa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 proposal submitted to the Directorate of Research and Graduate Training in partial fulfilment for requirements of the award of Masters of Science in Power Systems Engineering of Makerere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algn="ctr"/>
            <a:endParaRPr lang="en-US" sz="5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kern="1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OCTOBER, </a:t>
            </a:r>
            <a:r>
              <a:rPr lang="en-US" sz="2400" kern="1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GB" sz="2400" kern="1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Kampala, Uganda</a:t>
            </a:r>
            <a:endParaRPr lang="en-US" sz="2400" kern="1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Content Placeholder 12" descr="logo">
            <a:extLst>
              <a:ext uri="{FF2B5EF4-FFF2-40B4-BE49-F238E27FC236}">
                <a16:creationId xmlns:a16="http://schemas.microsoft.com/office/drawing/2014/main" xmlns="" id="{36D49612-3549-512A-2103-3A78D1E80E76}"/>
              </a:ext>
            </a:extLst>
          </p:cNvPr>
          <p:cNvPicPr>
            <a:picLocks/>
          </p:cNvPicPr>
          <p:nvPr/>
        </p:nvPicPr>
        <p:blipFill>
          <a:blip r:embed="rId2" cstate="print"/>
          <a:srcRect/>
          <a:stretch/>
        </p:blipFill>
        <p:spPr>
          <a:xfrm>
            <a:off x="5652025" y="137476"/>
            <a:ext cx="1400175" cy="1145593"/>
          </a:xfrm>
          <a:prstGeom prst="rect">
            <a:avLst/>
          </a:prstGeom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06BFD9E-D934-8985-E4F6-911B6EC5638C}"/>
              </a:ext>
            </a:extLst>
          </p:cNvPr>
          <p:cNvSpPr txBox="1"/>
          <p:nvPr/>
        </p:nvSpPr>
        <p:spPr>
          <a:xfrm>
            <a:off x="2643188" y="387108"/>
            <a:ext cx="79390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MAKERERE                   UNIVERSITY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09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3B9B4A-8924-2836-0667-C1C35819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814D243-9F0F-95C5-9416-6FC1B964BE05}"/>
              </a:ext>
            </a:extLst>
          </p:cNvPr>
          <p:cNvSpPr txBox="1"/>
          <p:nvPr/>
        </p:nvSpPr>
        <p:spPr>
          <a:xfrm>
            <a:off x="3016195" y="1364209"/>
            <a:ext cx="54041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690B9BA-5D4C-A7C1-EA78-DB3BB9B88D64}"/>
              </a:ext>
            </a:extLst>
          </p:cNvPr>
          <p:cNvSpPr txBox="1"/>
          <p:nvPr/>
        </p:nvSpPr>
        <p:spPr>
          <a:xfrm>
            <a:off x="3024335" y="4662797"/>
            <a:ext cx="3727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01C3D1BA-E7CE-0D79-0B1F-1EF7E0162162}"/>
              </a:ext>
            </a:extLst>
          </p:cNvPr>
          <p:cNvSpPr txBox="1"/>
          <p:nvPr/>
        </p:nvSpPr>
        <p:spPr>
          <a:xfrm>
            <a:off x="3016194" y="990441"/>
            <a:ext cx="49241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0F70FF1-3CB0-F003-B2A0-CE503D22FFCD}"/>
              </a:ext>
            </a:extLst>
          </p:cNvPr>
          <p:cNvSpPr txBox="1"/>
          <p:nvPr/>
        </p:nvSpPr>
        <p:spPr>
          <a:xfrm>
            <a:off x="5415369" y="84274"/>
            <a:ext cx="2075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B079BE1-DCA9-47EF-F443-DA97F38A908C}"/>
              </a:ext>
            </a:extLst>
          </p:cNvPr>
          <p:cNvSpPr txBox="1"/>
          <p:nvPr/>
        </p:nvSpPr>
        <p:spPr>
          <a:xfrm>
            <a:off x="3024336" y="3917182"/>
            <a:ext cx="4746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DC99B204-3FAC-FE33-82E7-08D56CB61221}"/>
              </a:ext>
            </a:extLst>
          </p:cNvPr>
          <p:cNvSpPr txBox="1"/>
          <p:nvPr/>
        </p:nvSpPr>
        <p:spPr>
          <a:xfrm>
            <a:off x="3024336" y="4262687"/>
            <a:ext cx="7179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F25BC6FB-C1E2-1D6E-5A83-F7CF38FE6006}"/>
              </a:ext>
            </a:extLst>
          </p:cNvPr>
          <p:cNvSpPr txBox="1"/>
          <p:nvPr/>
        </p:nvSpPr>
        <p:spPr>
          <a:xfrm>
            <a:off x="3024336" y="1741742"/>
            <a:ext cx="46432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Objectives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4429B162-E26A-457D-8768-13B5E42EC88C}"/>
              </a:ext>
            </a:extLst>
          </p:cNvPr>
          <p:cNvSpPr txBox="1"/>
          <p:nvPr/>
        </p:nvSpPr>
        <p:spPr>
          <a:xfrm>
            <a:off x="3016194" y="2081462"/>
            <a:ext cx="54041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B079BE1-DCA9-47EF-F443-DA97F38A908C}"/>
              </a:ext>
            </a:extLst>
          </p:cNvPr>
          <p:cNvSpPr txBox="1"/>
          <p:nvPr/>
        </p:nvSpPr>
        <p:spPr>
          <a:xfrm>
            <a:off x="3016194" y="3166881"/>
            <a:ext cx="3736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5282" y="3587234"/>
            <a:ext cx="176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B079BE1-DCA9-47EF-F443-DA97F38A908C}"/>
              </a:ext>
            </a:extLst>
          </p:cNvPr>
          <p:cNvSpPr txBox="1"/>
          <p:nvPr/>
        </p:nvSpPr>
        <p:spPr>
          <a:xfrm>
            <a:off x="3024335" y="3554201"/>
            <a:ext cx="58374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Conceptual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24336" y="2449628"/>
            <a:ext cx="2400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24335" y="2828312"/>
            <a:ext cx="249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</p:txBody>
      </p:sp>
    </p:spTree>
    <p:extLst>
      <p:ext uri="{BB962C8B-B14F-4D97-AF65-F5344CB8AC3E}">
        <p14:creationId xmlns:p14="http://schemas.microsoft.com/office/powerpoint/2010/main" val="367923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1090" y="1919486"/>
            <a:ext cx="11101648" cy="2790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Modularity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where a complex system is broken down into manageable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subsystems.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improves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scalability, fault tolerance, and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maintainability.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is. Modular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multilevel  converters (MMCs)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reduce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harmonics,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simplify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thermal management, and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reliability  (Perez, Rodriguez, &amp; Bernet, 2022; Ma, Wang, &amp; Chen, 2023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002E01-5117-1C60-5F97-229C4879EB6D}"/>
              </a:ext>
            </a:extLst>
          </p:cNvPr>
          <p:cNvSpPr txBox="1"/>
          <p:nvPr/>
        </p:nvSpPr>
        <p:spPr>
          <a:xfrm>
            <a:off x="4698142" y="0"/>
            <a:ext cx="2712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92358" y="4675737"/>
            <a:ext cx="8099417" cy="2088871"/>
            <a:chOff x="2320933" y="4219574"/>
            <a:chExt cx="8420105" cy="2500499"/>
          </a:xfrm>
        </p:grpSpPr>
        <p:sp>
          <p:nvSpPr>
            <p:cNvPr id="3" name="Rounded Rectangle 2"/>
            <p:cNvSpPr/>
            <p:nvPr/>
          </p:nvSpPr>
          <p:spPr>
            <a:xfrm>
              <a:off x="2320933" y="4219575"/>
              <a:ext cx="1809750" cy="74294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297498" y="4219574"/>
              <a:ext cx="1809750" cy="714375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74063" y="4219574"/>
              <a:ext cx="1809750" cy="73342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494400" y="5075884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Nodes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497273" y="5006974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Converters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592398" y="5482755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697050" y="5951099"/>
              <a:ext cx="1410199" cy="7689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 Charger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915876" y="5018322"/>
              <a:ext cx="2825162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GSM, LoRa, WiFi, &amp; BLE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61702" y="430854"/>
            <a:ext cx="11020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utomatic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weather stations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(AWS) use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sensors, communication protocols, and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electronic systems to measure various weather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roposed 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GB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strategies for AWS include: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2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0024" y="719044"/>
            <a:ext cx="11350488" cy="3621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Adaptability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power electronics refers to automatic adjustment of control parameters and operational modes in response to changing conditions (e.g. input variation, load shift, component aging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Adaptive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controllers such as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Gain-Scheduled,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obust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daptive laws (Pallo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Bonfiglio, &amp; Procopio, 2020; Savadkoohi, Karami, &amp; Shojaci, 2024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And, Model-free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adaptive control (MFAC)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are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event-triggered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burden and switching losses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 been 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suggested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(Fang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 al., 2024)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002E01-5117-1C60-5F97-229C4879EB6D}"/>
              </a:ext>
            </a:extLst>
          </p:cNvPr>
          <p:cNvSpPr txBox="1"/>
          <p:nvPr/>
        </p:nvSpPr>
        <p:spPr>
          <a:xfrm>
            <a:off x="4763409" y="0"/>
            <a:ext cx="2712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399" y="4531711"/>
            <a:ext cx="11017113" cy="1472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>
              <a:lnSpc>
                <a:spcPct val="107000"/>
              </a:lnSpc>
              <a:spcBef>
                <a:spcPts val="200"/>
              </a:spcBef>
              <a:spcAft>
                <a:spcPts val="12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 Energy Harvesting, Storage &amp; Adaptive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 or micro-power applications, power management circuits must dynamically switch modes (e.g. sleep, active, boost) and adapt to harvested energy availability (Sarker et al., 2024).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71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2868" y="713143"/>
            <a:ext cx="10267950" cy="2318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Modularity &amp; Adaptability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Adaptive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 ensures stable and efficient operation under varying loads, fault conditions and environmental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changes.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adaptive converters simplify deployment, support interoperability, and enhance resilience against supply intermittency (Kramer &amp; Chakraborty, 2009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002E01-5117-1C60-5F97-229C4879EB6D}"/>
              </a:ext>
            </a:extLst>
          </p:cNvPr>
          <p:cNvSpPr txBox="1"/>
          <p:nvPr/>
        </p:nvSpPr>
        <p:spPr>
          <a:xfrm>
            <a:off x="4763409" y="0"/>
            <a:ext cx="2712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825" y="3303469"/>
            <a:ext cx="10355993" cy="3057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communication and Protocol switching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will be able to dynamically switch among the programmed communication modes such as, LoRa, GSM, and WiFi depending on signal strength, power availability, data urgency, or data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type/formats.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proposal will integrate modularity, adaptability to design an AWS system with hybrid communication and fault tolerance mechanisms.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9646" y="724465"/>
            <a:ext cx="10220327" cy="491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Gaps and Opportunities</a:t>
            </a: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research in Lightweight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event triggered, model free adaptive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controllers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optimized for low power embedded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and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 constrained systems(Fang et al., 2024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 architectures support fault isolation in high power and more complex systems, their translation to micro scale AWS hardware (with cost, size, energy constraints) is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underexplored.</a:t>
            </a: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AWS System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hybrid communication protocols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multiple energy sources remains understudied this research aims at providing insights in this design approach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002E01-5117-1C60-5F97-229C4879EB6D}"/>
              </a:ext>
            </a:extLst>
          </p:cNvPr>
          <p:cNvSpPr txBox="1"/>
          <p:nvPr/>
        </p:nvSpPr>
        <p:spPr>
          <a:xfrm>
            <a:off x="4763409" y="0"/>
            <a:ext cx="2712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29660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03142D6-DE8C-7332-2C87-4A776B97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F1E0A65-9904-E233-73B5-C1A9D03A8E4E}"/>
              </a:ext>
            </a:extLst>
          </p:cNvPr>
          <p:cNvSpPr txBox="1"/>
          <p:nvPr/>
        </p:nvSpPr>
        <p:spPr>
          <a:xfrm>
            <a:off x="4258544" y="63610"/>
            <a:ext cx="4590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666749" y="723570"/>
            <a:ext cx="106108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AWS operation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is mostly in off-grid and energy constrained locations, making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intermittent renewable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energy resources (RER) the primary source of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power. The current Monolithic AWS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system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design is unsuitable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for incorporating the multiple energy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resources,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and lack hybrid communication for network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stability. Therefore, AWS systems have low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energy efficiency, limited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reliability (due to frequent downtime),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and high maintenance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requirements.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By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designing modular and adaptive power electronics system that can dynamically manage energy flow, support scalable integration of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multiple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energy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sources, this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will ensure robust operation for autonomous weather monitoring applications AWS current design challenges will be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reduced, by increasing power availability and system uptime.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561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5800A0-A86F-7C93-A338-A958BF86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00DDBA-7CAD-D7EE-FA64-687E9F15EF7A}"/>
              </a:ext>
            </a:extLst>
          </p:cNvPr>
          <p:cNvSpPr txBox="1"/>
          <p:nvPr/>
        </p:nvSpPr>
        <p:spPr>
          <a:xfrm>
            <a:off x="4258544" y="63610"/>
            <a:ext cx="36749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B8F851-2223-6826-0371-82DA4E38B948}"/>
              </a:ext>
            </a:extLst>
          </p:cNvPr>
          <p:cNvSpPr txBox="1"/>
          <p:nvPr/>
        </p:nvSpPr>
        <p:spPr>
          <a:xfrm>
            <a:off x="354300" y="600758"/>
            <a:ext cx="3226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9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271E095-A6ED-5389-FDE1-DD6712F49455}"/>
              </a:ext>
            </a:extLst>
          </p:cNvPr>
          <p:cNvSpPr txBox="1"/>
          <p:nvPr/>
        </p:nvSpPr>
        <p:spPr>
          <a:xfrm>
            <a:off x="354300" y="2795823"/>
            <a:ext cx="2959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54300" y="1000868"/>
            <a:ext cx="1096777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 modular and adaptive power electronics system architecture for off-grid and energy constrained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AWS with hybrid communication protocols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subsequently optimize power usage.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4300" y="3231504"/>
            <a:ext cx="10967777" cy="3621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simulate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design a modular AWS system that will consist of power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supply, communication subsystem,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sensor nodes as subsystems.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an algorithm that will adaptively optimize power efficiency by adjusting input power levels and duty cycle of the system.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the performance 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developed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AWS system in energy-constrained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6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7B2198A-B224-4D4E-AFBE-C937937A7EA1}"/>
              </a:ext>
            </a:extLst>
          </p:cNvPr>
          <p:cNvSpPr txBox="1"/>
          <p:nvPr/>
        </p:nvSpPr>
        <p:spPr>
          <a:xfrm>
            <a:off x="4258543" y="63610"/>
            <a:ext cx="46121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195" y="1303526"/>
            <a:ext cx="11191879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What are the design requirements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simulating </a:t>
            </a: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designing </a:t>
            </a: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modular, adaptive and hybrid communication </a:t>
            </a: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AWS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system?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are the necessary </a:t>
            </a:r>
            <a:r>
              <a:rPr lang="en-US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parameters required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an algorithm that will adaptively optimize power efficiency </a:t>
            </a:r>
            <a:r>
              <a:rPr lang="en-US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AWS system?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What is the performance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</a:t>
            </a:r>
            <a:r>
              <a:rPr lang="en-US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AWS system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sz="23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energy-constrained </a:t>
            </a: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applications?</a:t>
            </a:r>
            <a:endParaRPr lang="en-US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7B2198A-B224-4D4E-AFBE-C937937A7EA1}"/>
              </a:ext>
            </a:extLst>
          </p:cNvPr>
          <p:cNvSpPr txBox="1"/>
          <p:nvPr/>
        </p:nvSpPr>
        <p:spPr>
          <a:xfrm>
            <a:off x="4853946" y="4025900"/>
            <a:ext cx="32118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496" y="4753550"/>
            <a:ext cx="10963279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</a:rPr>
              <a:t>Developing a modular and adaptive power electronics system architecture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with hybrid communication is </a:t>
            </a:r>
            <a:r>
              <a:rPr lang="en-GB" sz="2300" dirty="0">
                <a:latin typeface="Times New Roman" panose="02020603050405020304" pitchFamily="18" charset="0"/>
                <a:ea typeface="Calibri" panose="020F0502020204030204" pitchFamily="34" charset="0"/>
              </a:rPr>
              <a:t>essential because existing solutions fail to meet the operational demands of </a:t>
            </a:r>
            <a:r>
              <a:rPr lang="en-GB" sz="23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off-grid remote environments and energy constrained applications.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609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7B2198A-B224-4D4E-AFBE-C937937A7EA1}"/>
              </a:ext>
            </a:extLst>
          </p:cNvPr>
          <p:cNvSpPr txBox="1"/>
          <p:nvPr/>
        </p:nvSpPr>
        <p:spPr>
          <a:xfrm>
            <a:off x="4830043" y="125730"/>
            <a:ext cx="35024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875" y="574467"/>
            <a:ext cx="108394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outcome of the design will improve the reliability, efficiency, and operational autonomy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remote weather monitoring systems,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thereby enhancing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quality and continuity of meteorological data essential for applications in agriculture, public safety, infrastructure planning, and climatic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4" y="3210879"/>
            <a:ext cx="108394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GB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Scope;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 identification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the AWS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system, development of two Prototypes,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daptive control strategy/algorithm development , and firmware development, system simulation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modelling, deployment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to assess system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of  four AWS, will not include development of Web Application.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GB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Geographical Scope; </a:t>
            </a:r>
            <a:r>
              <a:rPr lang="en-GB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four AWS will be deployed in all regions of Uganda to collect relevant weather data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7B2198A-B224-4D4E-AFBE-C937937A7EA1}"/>
              </a:ext>
            </a:extLst>
          </p:cNvPr>
          <p:cNvSpPr txBox="1"/>
          <p:nvPr/>
        </p:nvSpPr>
        <p:spPr>
          <a:xfrm>
            <a:off x="5571088" y="2746753"/>
            <a:ext cx="1776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80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DA90C-D6AB-F1B8-7AAC-D696C8E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70">
            <a:extLst>
              <a:ext uri="{FF2B5EF4-FFF2-40B4-BE49-F238E27FC236}">
                <a16:creationId xmlns:a16="http://schemas.microsoft.com/office/drawing/2014/main" xmlns="" id="{27B2198A-B224-4D4E-AFBE-C937937A7EA1}"/>
              </a:ext>
            </a:extLst>
          </p:cNvPr>
          <p:cNvSpPr txBox="1"/>
          <p:nvPr/>
        </p:nvSpPr>
        <p:spPr>
          <a:xfrm>
            <a:off x="4042645" y="-38366"/>
            <a:ext cx="4048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Conceptual Framework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924200" y="484854"/>
            <a:ext cx="7689533" cy="6092851"/>
            <a:chOff x="304049" y="593252"/>
            <a:chExt cx="7689533" cy="6092851"/>
          </a:xfrm>
        </p:grpSpPr>
        <p:grpSp>
          <p:nvGrpSpPr>
            <p:cNvPr id="138" name="Group 137"/>
            <p:cNvGrpSpPr/>
            <p:nvPr/>
          </p:nvGrpSpPr>
          <p:grpSpPr>
            <a:xfrm>
              <a:off x="304049" y="593252"/>
              <a:ext cx="7689533" cy="6038311"/>
              <a:chOff x="-324913" y="-175229"/>
              <a:chExt cx="7089927" cy="5538164"/>
            </a:xfrm>
          </p:grpSpPr>
          <p:grpSp>
            <p:nvGrpSpPr>
              <p:cNvPr id="139" name="Group 138"/>
              <p:cNvGrpSpPr/>
              <p:nvPr/>
            </p:nvGrpSpPr>
            <p:grpSpPr>
              <a:xfrm>
                <a:off x="-324913" y="-175229"/>
                <a:ext cx="7089927" cy="5538164"/>
                <a:chOff x="-324913" y="-175229"/>
                <a:chExt cx="7089927" cy="5538164"/>
              </a:xfrm>
            </p:grpSpPr>
            <p:sp>
              <p:nvSpPr>
                <p:cNvPr id="143" name="Rounded Rectangle 142"/>
                <p:cNvSpPr/>
                <p:nvPr/>
              </p:nvSpPr>
              <p:spPr>
                <a:xfrm>
                  <a:off x="-324913" y="240736"/>
                  <a:ext cx="2025163" cy="1507710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PSU (PI)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Solar Panel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Sizing &amp;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Wattage (W)</a:t>
                  </a:r>
                  <a:endParaRPr lang="en-GB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endParaRPr>
                </a:p>
                <a:p>
                  <a:pPr marL="228600" indent="-228600">
                    <a:buFont typeface="+mj-lt"/>
                    <a:buAutoNum type="arabicPeriod" startAt="2"/>
                    <a:defRPr/>
                  </a:pPr>
                  <a:r>
                    <a:rPr lang="en-GB" sz="12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Maximum Power conversion</a:t>
                  </a:r>
                  <a:r>
                    <a:rPr lang="en-US" sz="12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 </a:t>
                  </a:r>
                  <a:r>
                    <a:rPr lang="en-GB" sz="12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efficiency (%)</a:t>
                  </a:r>
                  <a:endPara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 startAt="2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Battery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Charger </a:t>
                  </a: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rating (Ah)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 startAt="2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Logic Level Shifter </a:t>
                  </a: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thresholds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(5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V &amp; 3.3 V)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 startAt="2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Daily Load profiles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(Wh/day)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44" name="Rounded Rectangle 143"/>
                <p:cNvSpPr/>
                <p:nvPr/>
              </p:nvSpPr>
              <p:spPr>
                <a:xfrm>
                  <a:off x="-245965" y="1804877"/>
                  <a:ext cx="2078981" cy="1057417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Communication </a:t>
                  </a:r>
                  <a:r>
                    <a:rPr kumimoji="0" lang="en-GB" sz="1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Subsystem (PI)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Protocol Data size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(bits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Protocol Data Type (A/D)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2860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Transmission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power (dBm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)</a:t>
                  </a:r>
                </a:p>
                <a:p>
                  <a:pPr marL="228600" lvl="0" indent="-228600">
                    <a:buFont typeface="+mj-lt"/>
                    <a:buAutoNum type="arabicPeriod"/>
                  </a:pPr>
                  <a:r>
                    <a:rPr lang="en-GB" sz="105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Preferred protocol (LoRa</a:t>
                  </a:r>
                  <a:r>
                    <a:rPr lang="en-GB" sz="105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,</a:t>
                  </a:r>
                  <a:r>
                    <a:rPr lang="en-GB" sz="105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GSM,WiFi,BLE)</a:t>
                  </a:r>
                  <a:endPara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45" name="Rounded Rectangle 144"/>
                <p:cNvSpPr/>
                <p:nvPr/>
              </p:nvSpPr>
              <p:spPr>
                <a:xfrm>
                  <a:off x="-245966" y="2962450"/>
                  <a:ext cx="2078119" cy="817144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</a:t>
                  </a:r>
                  <a:r>
                    <a:rPr kumimoji="0" lang="en-GB" sz="1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Subsystem (PI)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voltage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input (V)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Power </a:t>
                  </a: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Consumption (mW)</a:t>
                  </a:r>
                </a:p>
                <a:p>
                  <a:pPr marL="180340" lvl="0" indent="-228600">
                    <a:lnSpc>
                      <a:spcPct val="106000"/>
                    </a:lnSpc>
                    <a:buFont typeface="+mj-lt"/>
                    <a:buAutoNum type="arabicPeriod"/>
                    <a:defRPr/>
                  </a:pPr>
                  <a:r>
                    <a:rPr lang="en-GB" sz="1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Sensor </a:t>
                  </a:r>
                  <a:r>
                    <a:rPr lang="en-GB" sz="12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sensitivity Level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46" name="Rounded Rectangle 145"/>
                <p:cNvSpPr/>
                <p:nvPr/>
              </p:nvSpPr>
              <p:spPr>
                <a:xfrm>
                  <a:off x="4907824" y="1643594"/>
                  <a:ext cx="1829674" cy="1352697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Data type &amp; size Transmitted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Transmit power used (dBm)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Module Mode/State.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Transmission Success Rate (RSSI) 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Network switching Success.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47" name="Rounded Rectangle 146"/>
                <p:cNvSpPr/>
                <p:nvPr/>
              </p:nvSpPr>
              <p:spPr>
                <a:xfrm>
                  <a:off x="4994769" y="241743"/>
                  <a:ext cx="1686051" cy="1289620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80975" marR="0" lvl="0" indent="-180975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Panel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voltage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output (V)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Converter efficiency (%)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Battery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life (</a:t>
                  </a: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hours/day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Daily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energy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usage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(Wh)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975" marR="0" lvl="0" indent="-180975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System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uptime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hours/day)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  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48" name="Rounded Rectangle 147"/>
                <p:cNvSpPr/>
                <p:nvPr/>
              </p:nvSpPr>
              <p:spPr>
                <a:xfrm>
                  <a:off x="2844249" y="1617163"/>
                  <a:ext cx="1811295" cy="1210562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8034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Idle &amp; active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modes scheduling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Adaptive protocol Switching</a:t>
                  </a:r>
                  <a:r>
                    <a:rPr lang="en-US" sz="1200" kern="0" dirty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 </a:t>
                  </a:r>
                  <a:r>
                    <a:rPr lang="en-US" sz="12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(</a:t>
                  </a: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LoRa Primary, GSM/WiFi/BLE Fallback)</a:t>
                  </a:r>
                </a:p>
                <a:p>
                  <a:pPr marL="180340" marR="0" lvl="0" indent="-22860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Transmission optimization (RSSI, &amp; energy tradeoff)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 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49" name="Rounded Rectangle 148"/>
                <p:cNvSpPr/>
                <p:nvPr/>
              </p:nvSpPr>
              <p:spPr>
                <a:xfrm>
                  <a:off x="3049495" y="240736"/>
                  <a:ext cx="1610827" cy="1271508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Energy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 conversion and regulation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Battery SoC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Stability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Logic Level Shifter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Performance</a:t>
                  </a: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Thermal Management</a:t>
                  </a: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Load prioritization 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cxnSp>
              <p:nvCxnSpPr>
                <p:cNvPr id="150" name="Straight Arrow Connector 149"/>
                <p:cNvCxnSpPr/>
                <p:nvPr/>
              </p:nvCxnSpPr>
              <p:spPr>
                <a:xfrm>
                  <a:off x="4668326" y="824683"/>
                  <a:ext cx="36512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Arrow Connector 150"/>
                <p:cNvCxnSpPr/>
                <p:nvPr/>
              </p:nvCxnSpPr>
              <p:spPr>
                <a:xfrm>
                  <a:off x="4671779" y="2197939"/>
                  <a:ext cx="22682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Arrow Connector 151"/>
                <p:cNvCxnSpPr/>
                <p:nvPr/>
              </p:nvCxnSpPr>
              <p:spPr>
                <a:xfrm flipV="1">
                  <a:off x="1707518" y="824683"/>
                  <a:ext cx="136090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/>
                <p:cNvCxnSpPr/>
                <p:nvPr/>
              </p:nvCxnSpPr>
              <p:spPr>
                <a:xfrm flipV="1">
                  <a:off x="1815414" y="3137710"/>
                  <a:ext cx="109629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Arrow Connector 153"/>
                <p:cNvCxnSpPr/>
                <p:nvPr/>
              </p:nvCxnSpPr>
              <p:spPr>
                <a:xfrm>
                  <a:off x="1832162" y="1986283"/>
                  <a:ext cx="102069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Elbow Connector 156"/>
                <p:cNvCxnSpPr/>
                <p:nvPr/>
              </p:nvCxnSpPr>
              <p:spPr>
                <a:xfrm flipH="1">
                  <a:off x="4557521" y="3486679"/>
                  <a:ext cx="2091149" cy="882650"/>
                </a:xfrm>
                <a:prstGeom prst="bentConnector3">
                  <a:avLst>
                    <a:gd name="adj1" fmla="val -4384"/>
                  </a:avLst>
                </a:prstGeom>
                <a:noFill/>
                <a:ln w="19050" cap="flat" cmpd="sng" algn="ctr">
                  <a:solidFill>
                    <a:srgbClr val="70AD47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158" name="Elbow Connector 157"/>
                <p:cNvCxnSpPr/>
                <p:nvPr/>
              </p:nvCxnSpPr>
              <p:spPr>
                <a:xfrm flipH="1">
                  <a:off x="4541094" y="2399581"/>
                  <a:ext cx="2223920" cy="2228850"/>
                </a:xfrm>
                <a:prstGeom prst="bentConnector3">
                  <a:avLst>
                    <a:gd name="adj1" fmla="val -6234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Elbow Connector 158"/>
                <p:cNvCxnSpPr/>
                <p:nvPr/>
              </p:nvCxnSpPr>
              <p:spPr>
                <a:xfrm flipH="1">
                  <a:off x="4556479" y="1167045"/>
                  <a:ext cx="2124342" cy="3689350"/>
                </a:xfrm>
                <a:prstGeom prst="bentConnector3">
                  <a:avLst>
                    <a:gd name="adj1" fmla="val -16958"/>
                  </a:avLst>
                </a:prstGeom>
                <a:noFill/>
                <a:ln w="19050" cap="flat" cmpd="sng" algn="ctr">
                  <a:solidFill>
                    <a:srgbClr val="ED7D31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160" name="Elbow Connector 159"/>
                <p:cNvCxnSpPr/>
                <p:nvPr/>
              </p:nvCxnSpPr>
              <p:spPr>
                <a:xfrm>
                  <a:off x="1814720" y="3519064"/>
                  <a:ext cx="1095364" cy="850900"/>
                </a:xfrm>
                <a:prstGeom prst="bentConnector3">
                  <a:avLst/>
                </a:prstGeom>
                <a:noFill/>
                <a:ln w="19050" cap="flat" cmpd="sng" algn="ctr">
                  <a:solidFill>
                    <a:srgbClr val="70AD47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61" name="Elbow Connector 160"/>
                <p:cNvCxnSpPr/>
                <p:nvPr/>
              </p:nvCxnSpPr>
              <p:spPr>
                <a:xfrm>
                  <a:off x="1827639" y="2319581"/>
                  <a:ext cx="1294520" cy="2209800"/>
                </a:xfrm>
                <a:prstGeom prst="bentConnector3">
                  <a:avLst/>
                </a:prstGeom>
                <a:ln/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Elbow Connector 161"/>
                <p:cNvCxnSpPr/>
                <p:nvPr/>
              </p:nvCxnSpPr>
              <p:spPr>
                <a:xfrm>
                  <a:off x="1718384" y="1439986"/>
                  <a:ext cx="1759224" cy="3352800"/>
                </a:xfrm>
                <a:prstGeom prst="bentConnector3">
                  <a:avLst>
                    <a:gd name="adj1" fmla="val 50629"/>
                  </a:avLst>
                </a:prstGeom>
                <a:noFill/>
                <a:ln w="19050" cap="flat" cmpd="sng" algn="ctr">
                  <a:solidFill>
                    <a:srgbClr val="ED7D31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63" name="Rounded Rectangle 162"/>
                <p:cNvSpPr/>
                <p:nvPr/>
              </p:nvSpPr>
              <p:spPr>
                <a:xfrm>
                  <a:off x="4803109" y="3057158"/>
                  <a:ext cx="1824319" cy="1066800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27051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Sensitivity &amp; resolution</a:t>
                  </a: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7051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SoC contribution</a:t>
                  </a: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7051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Accuracy of Sensor Measurements</a:t>
                  </a: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270510" lvl="0" indent="-228600">
                    <a:lnSpc>
                      <a:spcPct val="106000"/>
                    </a:lnSpc>
                    <a:buFont typeface="+mj-lt"/>
                    <a:buAutoNum type="arabicPeriod"/>
                    <a:defRPr/>
                  </a:pP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Uptime (</a:t>
                  </a:r>
                  <a:r>
                    <a:rPr lang="en-US" sz="11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T</a:t>
                  </a:r>
                  <a:r>
                    <a:rPr lang="en-US" sz="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active</a:t>
                  </a: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 </a:t>
                  </a:r>
                  <a:r>
                    <a:rPr kumimoji="0" lang="en-US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)(h)</a:t>
                  </a: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cxnSp>
              <p:nvCxnSpPr>
                <p:cNvPr id="164" name="Straight Arrow Connector 163"/>
                <p:cNvCxnSpPr/>
                <p:nvPr/>
              </p:nvCxnSpPr>
              <p:spPr>
                <a:xfrm>
                  <a:off x="4537566" y="3498571"/>
                  <a:ext cx="2655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65" name="Rounded Rectangle 164"/>
                <p:cNvSpPr/>
                <p:nvPr/>
              </p:nvSpPr>
              <p:spPr>
                <a:xfrm>
                  <a:off x="2917476" y="2882088"/>
                  <a:ext cx="1616225" cy="1066800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lang="en-GB" sz="10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Automatic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 sensor mode</a:t>
                  </a:r>
                  <a:r>
                    <a:rPr lang="en-US" sz="1200" kern="0" dirty="0" smtClea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(idle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&amp; active)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lvl="0" indent="-228600">
                    <a:lnSpc>
                      <a:spcPct val="106000"/>
                    </a:lnSpc>
                    <a:buFont typeface="+mj-lt"/>
                    <a:buAutoNum type="arabicPeriod"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Calibration &amp; Sensor sensitivity </a:t>
                  </a:r>
                  <a:r>
                    <a:rPr lang="en-GB" sz="1200" noProof="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a</a:t>
                  </a:r>
                  <a:r>
                    <a:rPr lang="en-GB" sz="12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djustment 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180340" marR="0" lvl="0" indent="-2286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Bus/interface selection (I2C, SPI, UART)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66" name="Rounded Rectangle 165"/>
                <p:cNvSpPr/>
                <p:nvPr/>
              </p:nvSpPr>
              <p:spPr>
                <a:xfrm>
                  <a:off x="-245966" y="3849396"/>
                  <a:ext cx="2052598" cy="1513539"/>
                </a:xfrm>
                <a:prstGeom prst="roundRect">
                  <a:avLst/>
                </a:prstGeom>
                <a:ln w="38100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Firmware (PI)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342900" marR="0" lvl="0" indent="-3429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accent6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Sensor mode selection (idle &amp; active)</a:t>
                  </a:r>
                </a:p>
                <a:p>
                  <a:pPr marL="342900" marR="0" lvl="0" indent="-34290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+mj-lt"/>
                    <a:buAutoNum type="arabicPeriod"/>
                    <a:tabLst/>
                    <a:defRPr/>
                  </a:pP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Transmit scheduling based on data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type &amp;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packet</a:t>
                  </a:r>
                  <a:r>
                    <a:rPr kumimoji="0" lang="en-GB" sz="1000" b="0" i="0" u="none" strike="noStrike" kern="1200" cap="none" spc="0" normalizeH="0" noProof="0" dirty="0" smtClean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 </a:t>
                  </a:r>
                  <a:r>
                    <a:rPr kumimoji="0" lang="en-GB" sz="1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Size </a:t>
                  </a:r>
                  <a:r>
                    <a:rPr kumimoji="0" lang="en-GB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(A/D, Bits)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  <a:p>
                  <a:pPr marL="342900" indent="-342900">
                    <a:lnSpc>
                      <a:spcPct val="106000"/>
                    </a:lnSpc>
                    <a:buFont typeface="+mj-lt"/>
                    <a:buAutoNum type="arabicPeriod"/>
                    <a:defRPr/>
                  </a:pPr>
                  <a:r>
                    <a:rPr lang="en-GB" sz="10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Adaptive Protocol Switching (dBm)</a:t>
                  </a:r>
                  <a:endParaRPr lang="en-US" sz="1200" kern="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342900" indent="-342900">
                    <a:lnSpc>
                      <a:spcPct val="106000"/>
                    </a:lnSpc>
                    <a:buFont typeface="+mj-lt"/>
                    <a:buAutoNum type="arabicPeriod"/>
                    <a:defRPr/>
                  </a:pPr>
                  <a:r>
                    <a:rPr lang="en-GB" sz="1000" dirty="0" smtClean="0">
                      <a:solidFill>
                        <a:schemeClr val="accent2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SoC </a:t>
                  </a:r>
                  <a:r>
                    <a:rPr lang="en-GB" sz="1000" dirty="0">
                      <a:solidFill>
                        <a:schemeClr val="accent2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Calibri" panose="020F0502020204030204" pitchFamily="34" charset="0"/>
                    </a:rPr>
                    <a:t>Adaptation algorithm </a:t>
                  </a:r>
                  <a:endParaRPr lang="en-US" sz="1200" kern="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 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67" name="Rounded Rectangle 166"/>
                <p:cNvSpPr/>
                <p:nvPr/>
              </p:nvSpPr>
              <p:spPr>
                <a:xfrm>
                  <a:off x="24354" y="-84861"/>
                  <a:ext cx="1545590" cy="304575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INPUTS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68" name="Rounded Rectangle 167"/>
                <p:cNvSpPr/>
                <p:nvPr/>
              </p:nvSpPr>
              <p:spPr>
                <a:xfrm>
                  <a:off x="2963826" y="-134359"/>
                  <a:ext cx="1663323" cy="332182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PROCESSES</a:t>
                  </a: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 </a:t>
                  </a:r>
                  <a:r>
                    <a:rPr kumimoji="0" lang="en-US" sz="14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  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69" name="Rounded Rectangle 168"/>
                <p:cNvSpPr/>
                <p:nvPr/>
              </p:nvSpPr>
              <p:spPr>
                <a:xfrm>
                  <a:off x="4908489" y="-175229"/>
                  <a:ext cx="1545590" cy="390525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Calibri" panose="020F0502020204030204" pitchFamily="34" charset="0"/>
                      <a:cs typeface="+mn-cs"/>
                    </a:rPr>
                    <a:t>OUTPUTS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endParaRPr>
                </a:p>
              </p:txBody>
            </p:sp>
          </p:grpSp>
          <p:cxnSp>
            <p:nvCxnSpPr>
              <p:cNvPr id="140" name="Straight Arrow Connector 139"/>
              <p:cNvCxnSpPr/>
              <p:nvPr/>
            </p:nvCxnSpPr>
            <p:spPr>
              <a:xfrm rot="5400000">
                <a:off x="2466706" y="4637233"/>
                <a:ext cx="28130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41" name="Straight Arrow Connector 140"/>
              <p:cNvCxnSpPr/>
              <p:nvPr/>
            </p:nvCxnSpPr>
            <p:spPr>
              <a:xfrm rot="5400000">
                <a:off x="2335429" y="4378815"/>
                <a:ext cx="2813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rot="5400000">
                <a:off x="2222674" y="4229320"/>
                <a:ext cx="28130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70AD47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48" name="Rounded Rectangle 47"/>
            <p:cNvSpPr/>
            <p:nvPr/>
          </p:nvSpPr>
          <p:spPr>
            <a:xfrm>
              <a:off x="3820114" y="5179294"/>
              <a:ext cx="1768911" cy="1506809"/>
            </a:xfrm>
            <a:prstGeom prst="round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lnSpc>
                  <a:spcPct val="106000"/>
                </a:lnSpc>
                <a:buFont typeface="+mj-lt"/>
                <a:buAutoNum type="arabicPeriod"/>
                <a:defRPr/>
              </a:pPr>
              <a:r>
                <a:rPr lang="en-GB" sz="1000" b="1" kern="0" dirty="0" smtClean="0">
                  <a:solidFill>
                    <a:schemeClr val="accent6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Sensor Sensitivity </a:t>
              </a:r>
              <a:r>
                <a:rPr lang="en-GB" sz="1000" b="1" kern="0" dirty="0">
                  <a:solidFill>
                    <a:schemeClr val="accent6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Adjustment</a:t>
              </a:r>
            </a:p>
            <a:p>
              <a:pPr marL="342900" indent="-342900">
                <a:lnSpc>
                  <a:spcPct val="106000"/>
                </a:lnSpc>
                <a:buFont typeface="+mj-lt"/>
                <a:buAutoNum type="arabicPeriod"/>
                <a:defRPr/>
              </a:pPr>
              <a:r>
                <a:rPr lang="en-GB" sz="1000" dirty="0">
                  <a:solidFill>
                    <a:schemeClr val="accent1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Network protocol Adaptation</a:t>
              </a:r>
            </a:p>
            <a:p>
              <a:pPr marL="342900" marR="0" lvl="0" indent="-342900" defTabSz="91440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Dynamic adjustment of SoC </a:t>
              </a:r>
              <a:r>
                <a:rPr lang="en-GB" sz="10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Thresholds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>
              <a:off x="3545566" y="5548224"/>
              <a:ext cx="252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3509921" y="5722730"/>
              <a:ext cx="28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2618392" y="6017654"/>
              <a:ext cx="118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/>
        </p:nvCxnSpPr>
        <p:spPr>
          <a:xfrm flipV="1">
            <a:off x="4305519" y="5439826"/>
            <a:ext cx="61367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4288723" y="5613050"/>
            <a:ext cx="864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0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4E00F3-35C1-1487-EF53-4D7B2FFC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900022" y="80761"/>
            <a:ext cx="25491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30147" y="1107172"/>
            <a:ext cx="101263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the proposed AWS system, this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will adopt mixed methods of scientific research  including, case studies, comparative, simulation-based, analytical, experimental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design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quantitative approach.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147" y="3739793"/>
            <a:ext cx="1072514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requirements and specifications identification, (Analytical, Exploratory, case study)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Prototype development, (Design, Prototyping, Simulations, HIL analysis-simulator/actuator)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Firmware development, (Parameter modelling, iterative approach)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modelling and simulation, (Predictive and Simulations, behavioural complexity, comparative studies)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Field 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 and evaluation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(Observation, benchmarking, Mitigation strategies, KPIs analysis)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3119" y="777243"/>
            <a:ext cx="20603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Design 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3456813" y="2776804"/>
            <a:ext cx="5272982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GB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processes and Research Methods</a:t>
            </a:r>
          </a:p>
        </p:txBody>
      </p:sp>
    </p:spTree>
    <p:extLst>
      <p:ext uri="{BB962C8B-B14F-4D97-AF65-F5344CB8AC3E}">
        <p14:creationId xmlns:p14="http://schemas.microsoft.com/office/powerpoint/2010/main" val="273923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B5E82D-98A5-7B63-51CC-5429FB6D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9568" y="1179353"/>
            <a:ext cx="5003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 of 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tools 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requirements</a:t>
            </a:r>
            <a:endParaRPr lang="en-US" sz="11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945633"/>
              </p:ext>
            </p:extLst>
          </p:nvPr>
        </p:nvGraphicFramePr>
        <p:xfrm>
          <a:off x="695325" y="1739424"/>
          <a:ext cx="10687050" cy="423275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03751"/>
                <a:gridCol w="1753699"/>
                <a:gridCol w="4857750"/>
                <a:gridCol w="3371850"/>
              </a:tblGrid>
              <a:tr h="3122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S/N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Tools/Software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</a:tr>
              <a:tr h="657046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Altium Power Analyzer (PDN), ngSpice (Circuit Simulator)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electronics simulation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  <a:tr h="312879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KiCAD (</a:t>
                      </a:r>
                      <a:r>
                        <a:rPr lang="en-GB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intermediate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Altium (Advanced)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 design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  <a:tr h="312879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ESP-IDF, Arduino IDE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Firmware development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  <a:tr h="432276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Adaptive</a:t>
                      </a:r>
                      <a:r>
                        <a:rPr lang="en-GB" sz="1600" baseline="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controller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MATLAB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Adaptability</a:t>
                      </a:r>
                      <a:r>
                        <a:rPr lang="en-GB" sz="1600" baseline="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Algorithm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  <a:tr h="657046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r>
                        <a:rPr lang="en-US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ESP32-S3 (MCU), </a:t>
                      </a:r>
                      <a:r>
                        <a:rPr lang="en-GB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BSS138 (Logic</a:t>
                      </a:r>
                      <a:r>
                        <a:rPr lang="en-GB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Level Shifter</a:t>
                      </a:r>
                      <a:r>
                        <a:rPr lang="en-GB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SIM900L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INA219,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GSM, LoRa modules, </a:t>
                      </a:r>
                      <a:r>
                        <a:rPr lang="en-US" sz="140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Environmental</a:t>
                      </a:r>
                      <a:r>
                        <a:rPr lang="en-US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</a:t>
                      </a:r>
                      <a:r>
                        <a:rPr lang="en-US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12 V/100W Solar </a:t>
                      </a:r>
                      <a:r>
                        <a:rPr lang="en-GB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panel, Power converters, Lithium batteries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PSU, Sensor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communication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 development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  <a:tr h="461010"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&amp; Logging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 card modules, RTC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111760"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 and timestamping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/>
                </a:tc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46664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</p:spTree>
    <p:extLst>
      <p:ext uri="{BB962C8B-B14F-4D97-AF65-F5344CB8AC3E}">
        <p14:creationId xmlns:p14="http://schemas.microsoft.com/office/powerpoint/2010/main" val="59704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4E00F3-35C1-1487-EF53-4D7B2FFC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900022" y="80761"/>
            <a:ext cx="25491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8532" y="5952300"/>
            <a:ext cx="2705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AWS Subsystems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89436" y="3892395"/>
            <a:ext cx="38849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ea typeface="Calibri" panose="020F0502020204030204" pitchFamily="34" charset="0"/>
              </a:rPr>
              <a:t>Power subsystem (Converter and Storage)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2424210" y="2548556"/>
            <a:ext cx="4443332" cy="342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lnSpc>
                <a:spcPct val="107000"/>
              </a:lnSpc>
              <a:spcBef>
                <a:spcPts val="200"/>
              </a:spcBef>
              <a:spcAft>
                <a:spcPts val="1200"/>
              </a:spcAft>
              <a:buClr>
                <a:srgbClr val="000000"/>
              </a:buClr>
            </a:pPr>
            <a:r>
              <a:rPr lang="en-GB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and communication subsystem</a:t>
            </a:r>
            <a:endParaRPr lang="en-US" sz="1600" b="1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03341" y="786466"/>
            <a:ext cx="98656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study adopts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experimental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design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quantitative approach. Combining System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and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specifications identification, Prototype development, Firmware development, System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modelling and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and finally, Field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 and evaluation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85356" y="2438400"/>
            <a:ext cx="9454044" cy="4159250"/>
            <a:chOff x="347181" y="2514600"/>
            <a:chExt cx="9454044" cy="4159250"/>
          </a:xfrm>
        </p:grpSpPr>
        <p:grpSp>
          <p:nvGrpSpPr>
            <p:cNvPr id="30" name="Group 29"/>
            <p:cNvGrpSpPr/>
            <p:nvPr/>
          </p:nvGrpSpPr>
          <p:grpSpPr>
            <a:xfrm>
              <a:off x="1152525" y="2514600"/>
              <a:ext cx="8648700" cy="4159250"/>
              <a:chOff x="0" y="0"/>
              <a:chExt cx="6711084" cy="2653549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990600" y="284018"/>
                <a:ext cx="2449830" cy="152019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Gateway Board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1136073" y="1219200"/>
                <a:ext cx="1207770" cy="48387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Microcontroller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0" y="20781"/>
                <a:ext cx="1202690" cy="61595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Sensor Nodes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4087091" y="1198418"/>
                <a:ext cx="968375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DC – DC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Converter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2521528" y="1205345"/>
                <a:ext cx="772795" cy="4946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LDO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1503219" y="332509"/>
                <a:ext cx="1306195" cy="55499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GSM + LoRa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Modules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5444837" y="1198418"/>
                <a:ext cx="1104900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Solar </a:t>
                </a:r>
                <a:r>
                  <a:rPr lang="en-GB" sz="1200" dirty="0" smtClean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Panel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4094019" y="2029691"/>
                <a:ext cx="968375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Battery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Charger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Cloud 38"/>
              <p:cNvSpPr/>
              <p:nvPr/>
            </p:nvSpPr>
            <p:spPr>
              <a:xfrm>
                <a:off x="4315691" y="137820"/>
                <a:ext cx="1071880" cy="571500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Internet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Can 39"/>
              <p:cNvSpPr/>
              <p:nvPr/>
            </p:nvSpPr>
            <p:spPr>
              <a:xfrm>
                <a:off x="5825837" y="0"/>
                <a:ext cx="848995" cy="756285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Repository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eft-Right Arrow 40"/>
              <p:cNvSpPr/>
              <p:nvPr/>
            </p:nvSpPr>
            <p:spPr>
              <a:xfrm>
                <a:off x="3740727" y="376624"/>
                <a:ext cx="353291" cy="14193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2" name="Right Arrow 41"/>
              <p:cNvSpPr/>
              <p:nvPr/>
            </p:nvSpPr>
            <p:spPr>
              <a:xfrm rot="5400000">
                <a:off x="4464628" y="1825336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3" name="Right Arrow 42"/>
              <p:cNvSpPr/>
              <p:nvPr/>
            </p:nvSpPr>
            <p:spPr>
              <a:xfrm rot="10800000">
                <a:off x="3664528" y="1399309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4" name="Right Arrow 43"/>
              <p:cNvSpPr/>
              <p:nvPr/>
            </p:nvSpPr>
            <p:spPr>
              <a:xfrm rot="10800000">
                <a:off x="5153891" y="1420091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5" name="Right Arrow 44"/>
              <p:cNvSpPr/>
              <p:nvPr/>
            </p:nvSpPr>
            <p:spPr>
              <a:xfrm rot="10800000" flipH="1">
                <a:off x="5534891" y="374323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6" name="Right Arrow 45"/>
              <p:cNvSpPr/>
              <p:nvPr/>
            </p:nvSpPr>
            <p:spPr>
              <a:xfrm rot="3288561">
                <a:off x="741218" y="727364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1039091" y="865909"/>
                <a:ext cx="451485" cy="299085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SD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2854037" y="706581"/>
                <a:ext cx="533400" cy="337185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RTC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2590800" y="2154381"/>
                <a:ext cx="968375" cy="40195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Battery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ight Arrow 49"/>
              <p:cNvSpPr/>
              <p:nvPr/>
            </p:nvSpPr>
            <p:spPr>
              <a:xfrm rot="10800000">
                <a:off x="3622964" y="2265218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51" name="Right Arrow 50"/>
              <p:cNvSpPr/>
              <p:nvPr/>
            </p:nvSpPr>
            <p:spPr>
              <a:xfrm rot="16200000" flipV="1">
                <a:off x="2795155" y="1922318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2389909" y="1156854"/>
                <a:ext cx="4321175" cy="149669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55" name="Rounded Rectangle 54"/>
            <p:cNvSpPr/>
            <p:nvPr/>
          </p:nvSpPr>
          <p:spPr>
            <a:xfrm>
              <a:off x="347181" y="3241655"/>
              <a:ext cx="1342386" cy="7753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Level</a:t>
              </a: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Shifter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99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4E00F3-35C1-1487-EF53-4D7B2FFC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1479" y="1073816"/>
            <a:ext cx="7710588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strategy will include Gain scheduled adaptive control, Model Reference Adaptive Control MRAC,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 GS to be developed using MATLAB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will be developed using ESP-IDF, Arduino IDE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tasks will include; evaluating algorithm response to fluctuating solar input, implementing duty cycle adjustments based on SoC and load variation, and finally, modelling power management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 (active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sleep, and harvest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74928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4136773" y="602853"/>
            <a:ext cx="4547976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 control algorithm  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72450" y="1232696"/>
            <a:ext cx="3382598" cy="5227210"/>
          </a:xfrm>
          <a:prstGeom prst="rect">
            <a:avLst/>
          </a:prstGeom>
          <a:solidFill>
            <a:srgbClr val="31875A"/>
          </a:solidFill>
          <a:ln w="762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GB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Logic</a:t>
            </a:r>
          </a:p>
          <a:p>
            <a:pPr algn="ctr">
              <a:spcAft>
                <a:spcPts val="800"/>
              </a:spcAft>
            </a:pP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------------------------------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 ˃ SoC</a:t>
            </a:r>
            <a:r>
              <a:rPr lang="en-GB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implies all sensors &amp; frequent </a:t>
            </a: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transmissions</a:t>
            </a:r>
          </a:p>
          <a:p>
            <a:pPr algn="ctr">
              <a:spcAft>
                <a:spcPts val="800"/>
              </a:spcAft>
            </a:pPr>
            <a:r>
              <a:rPr lang="en-GB" sz="100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</a:p>
          <a:p>
            <a:pPr algn="just">
              <a:spcAft>
                <a:spcPts val="800"/>
              </a:spcAft>
            </a:pP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</a:t>
            </a:r>
            <a:r>
              <a:rPr lang="en-GB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≤ SoC ≤  SoC</a:t>
            </a:r>
            <a:r>
              <a:rPr lang="en-GB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implies less frequent </a:t>
            </a: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transmissions</a:t>
            </a:r>
          </a:p>
          <a:p>
            <a:pPr algn="ctr">
              <a:spcAft>
                <a:spcPts val="800"/>
              </a:spcAft>
            </a:pPr>
            <a:r>
              <a:rPr lang="en-GB" sz="100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</a:p>
          <a:p>
            <a:pPr algn="just">
              <a:spcAft>
                <a:spcPts val="800"/>
              </a:spcAft>
            </a:pP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 ˂ SoC</a:t>
            </a:r>
            <a:r>
              <a:rPr lang="en-GB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</a:t>
            </a: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implies minimal safe mode, essential sensors, local data storage no or minimal </a:t>
            </a: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transmission</a:t>
            </a:r>
          </a:p>
          <a:p>
            <a:pPr algn="ctr">
              <a:spcAft>
                <a:spcPts val="800"/>
              </a:spcAft>
            </a:pPr>
            <a:r>
              <a:rPr lang="en-GB" sz="105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en-GB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Thresholds</a:t>
            </a:r>
            <a:endParaRPr lang="en-GB" b="1" dirty="0">
              <a:solidFill>
                <a:srgbClr val="FFFF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GB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SoC_high = 0.6, SoC_low = 0.2</a:t>
            </a:r>
            <a:endParaRPr lang="en-US" sz="16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4E00F3-35C1-1487-EF53-4D7B2FFC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527140" y="1722231"/>
            <a:ext cx="469515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Evaluate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system 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uptime (%)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Energy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efficiency in (mWh/day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Communication reliability (%).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Fault tolerance 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GB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MTBF, MTTR, RPO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en-GB" sz="20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Environmental resilience.</a:t>
            </a:r>
            <a:endParaRPr lang="en-US" sz="3200" dirty="0"/>
          </a:p>
        </p:txBody>
      </p:sp>
      <p:sp>
        <p:nvSpPr>
          <p:cNvPr id="16" name="Rectangle 15"/>
          <p:cNvSpPr/>
          <p:nvPr/>
        </p:nvSpPr>
        <p:spPr>
          <a:xfrm>
            <a:off x="823769" y="654708"/>
            <a:ext cx="10538691" cy="479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Field Testing and Performance </a:t>
            </a:r>
            <a:r>
              <a:rPr lang="en-GB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74928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27140" y="1228699"/>
            <a:ext cx="41875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and Comm. Subsystem (</a:t>
            </a:r>
            <a:r>
              <a:rPr lang="en-GB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KPI)</a:t>
            </a:r>
            <a:endParaRPr lang="en-US" sz="2000" dirty="0">
              <a:solidFill>
                <a:schemeClr val="accent1"/>
              </a:solidFill>
            </a:endParaRPr>
          </a:p>
          <a:p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38189" y="1182532"/>
            <a:ext cx="2501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subsystem (KPI)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63550" y="1582642"/>
            <a:ext cx="43522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Converter efficiency and losses</a:t>
            </a:r>
            <a:endParaRPr lang="en-US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4095" y="2242914"/>
            <a:ext cx="3409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2" indent="-28575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Battery/ SoC update</a:t>
            </a:r>
            <a:endParaRPr lang="en-US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63550" y="2949628"/>
            <a:ext cx="3170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Calibri" panose="020F0502020204030204" pitchFamily="34" charset="0"/>
              </a:rPr>
              <a:t>Solar energy and PV Sizing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24095" y="3776794"/>
            <a:ext cx="478432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2" indent="-28575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budget for communication</a:t>
            </a:r>
            <a:endParaRPr lang="en-US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4095" y="4711242"/>
            <a:ext cx="360226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2" indent="-28575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average power</a:t>
            </a:r>
            <a:endParaRPr lang="en-US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763550" y="5786624"/>
                <a:ext cx="4203971" cy="562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𝐚𝐭𝐭𝐞𝐫𝐲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𝐥𝐢𝐟𝐞𝐭𝐢𝐦𝐞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𝐡𝐨𝐮𝐫𝐬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batt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nom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avg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550" y="5786624"/>
                <a:ext cx="4203971" cy="562975"/>
              </a:xfrm>
              <a:prstGeom prst="rect">
                <a:avLst/>
              </a:prstGeom>
              <a:blipFill rotWithShape="0">
                <a:blip r:embed="rId3"/>
                <a:stretch>
                  <a:fillRect l="-870"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751179" y="5100156"/>
                <a:ext cx="4336893" cy="5908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active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active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sleep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active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179" y="5100156"/>
                <a:ext cx="4336893" cy="59086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763550" y="4150457"/>
                <a:ext cx="4165691" cy="6914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comm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period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idle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period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550" y="4150457"/>
                <a:ext cx="4165691" cy="69140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728280" y="3376741"/>
                <a:ext cx="3987181" cy="3948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daily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panel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panel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day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sun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80" y="3376741"/>
                <a:ext cx="3987181" cy="394852"/>
              </a:xfrm>
              <a:prstGeom prst="rect">
                <a:avLst/>
              </a:prstGeom>
              <a:blipFill rotWithShape="0"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343157" y="2175573"/>
                <a:ext cx="2094611" cy="697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oC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batt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batt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nom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157" y="2175573"/>
                <a:ext cx="2094611" cy="69788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A6FC126-3187-20EF-F544-017D9E7F9DE2}"/>
              </a:ext>
            </a:extLst>
          </p:cNvPr>
          <p:cNvSpPr/>
          <p:nvPr/>
        </p:nvSpPr>
        <p:spPr>
          <a:xfrm>
            <a:off x="6946924" y="1450509"/>
            <a:ext cx="71060" cy="486503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1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EADE08-C795-D838-D912-41A2042A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95A465B-7CA8-06AF-8583-E704A43F1191}"/>
              </a:ext>
            </a:extLst>
          </p:cNvPr>
          <p:cNvSpPr txBox="1"/>
          <p:nvPr/>
        </p:nvSpPr>
        <p:spPr>
          <a:xfrm>
            <a:off x="3946632" y="3172728"/>
            <a:ext cx="4276726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 and Analysis</a:t>
            </a: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1391" y="3991688"/>
            <a:ext cx="11218132" cy="1959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sources;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nergy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monitors like INA219, SD card logs, &amp;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communication logs.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analysis tools; SSP, Python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(NumPy, Pandas, Matplotlib) and MATLAB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quality control: Ensure the reliability and validity of instruments used.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74928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188092" y="676656"/>
            <a:ext cx="4451083" cy="394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90459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Tx/>
              <a:buFontTx/>
              <a:buAutoNum type="arabicPeriod"/>
              <a:tabLst/>
            </a:pPr>
            <a:r>
              <a:rPr kumimoji="0" lang="en-GB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GB" altLang="en-US" sz="24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rototype development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990850" y="1324194"/>
            <a:ext cx="6448425" cy="1341366"/>
            <a:chOff x="245427" y="0"/>
            <a:chExt cx="4276569" cy="914400"/>
          </a:xfrm>
        </p:grpSpPr>
        <p:sp>
          <p:nvSpPr>
            <p:cNvPr id="10" name="Rounded Rectangle 9"/>
            <p:cNvSpPr/>
            <p:nvPr/>
          </p:nvSpPr>
          <p:spPr>
            <a:xfrm>
              <a:off x="245427" y="0"/>
              <a:ext cx="1104900" cy="9144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Fabrication</a:t>
              </a:r>
              <a:endPara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856509" y="0"/>
              <a:ext cx="1028700" cy="9144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Integration</a:t>
              </a:r>
              <a:endPara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378996" y="0"/>
              <a:ext cx="1143000" cy="9144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Testing</a:t>
              </a:r>
              <a:endPara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1434991" y="367434"/>
              <a:ext cx="349250" cy="2349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800" dirty="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2957477" y="339725"/>
              <a:ext cx="349250" cy="2349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658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EADE08-C795-D838-D912-41A2042A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74928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410" y="931023"/>
            <a:ext cx="11013874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enchmarking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designed AWS with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WIMEA-ICT AWS system,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erification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ensure the objectives of improved energy efficiency, reliability, and fault tolerance are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met. And other KPIs like Converter efficiency, sensor Sensitivity, SoC, and System Uptime (Availability)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data to identify limitations &amp;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recommendations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improvement.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77226" y="548076"/>
            <a:ext cx="4375557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 of research outcomes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85219" y="3846683"/>
            <a:ext cx="49119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 outcomes and limitations 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410" y="4344491"/>
            <a:ext cx="11572140" cy="251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 and Adaptive AWS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system, that if is small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of MMCs, multi energy sources, and hybrid communication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computation power is expected to be high, and component count, The goal to achieve miniaturisation might not be realised.</a:t>
            </a:r>
          </a:p>
        </p:txBody>
      </p:sp>
    </p:spTree>
    <p:extLst>
      <p:ext uri="{BB962C8B-B14F-4D97-AF65-F5344CB8AC3E}">
        <p14:creationId xmlns:p14="http://schemas.microsoft.com/office/powerpoint/2010/main" val="194238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EADE08-C795-D838-D912-41A2042A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2289" y="1249294"/>
            <a:ext cx="1066726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rotection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(Confidentiality),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 integrity,</a:t>
            </a:r>
          </a:p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Respect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intellectual property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rights</a:t>
            </a:r>
          </a:p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nsure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 citation of sources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GB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nvironmental considerations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Responsible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disposal of electronic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waste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ess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noisy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electronics</a:t>
            </a:r>
            <a:endParaRPr lang="en-GB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273858E-A100-3E2B-C74D-80D581835B23}"/>
              </a:ext>
            </a:extLst>
          </p:cNvPr>
          <p:cNvSpPr txBox="1"/>
          <p:nvPr/>
        </p:nvSpPr>
        <p:spPr>
          <a:xfrm>
            <a:off x="4563697" y="174928"/>
            <a:ext cx="422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4832616" y="664519"/>
            <a:ext cx="3098925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Ethical </a:t>
            </a:r>
            <a:r>
              <a:rPr lang="en-GB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considerations</a:t>
            </a:r>
            <a:endParaRPr lang="en-US" sz="2400" b="1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65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59D32E-452C-F634-B248-786BF1A39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220499-36BC-5F2C-9973-407F50737947}"/>
              </a:ext>
            </a:extLst>
          </p:cNvPr>
          <p:cNvSpPr txBox="1"/>
          <p:nvPr/>
        </p:nvSpPr>
        <p:spPr>
          <a:xfrm>
            <a:off x="5008661" y="95415"/>
            <a:ext cx="2667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2401" y="910691"/>
            <a:ext cx="11098923" cy="4974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6195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Selvam, A. P., &amp; Al-Humairi, S. N. S. (2024). Environmental impact evaluation using smart real-time weather monitoring systems: a systematic review. Innovative Infrastructure Solutions, 10(1), 13. </a:t>
            </a:r>
            <a:r>
              <a:rPr lang="en-US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https://doi.org/10.1007/s41062-024-01817-7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Kramer, B., &amp; Chakraborty, S. (2009). A review of power electronics interfaces for distributed energy systems towards achieving low-cost modular design. Renewable and Sustainable Energy Reviews, 13(9), 2323-2335. </a:t>
            </a:r>
            <a:r>
              <a:rPr lang="en-GB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https://doi.org/10.1016/j.rser.2009.05.005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Jaber, M. M., Ali, M. H., Abd, S. K., Jassim, M. M., Alkhayyat, A., Aziz, H. W., &amp; Alkhuwaylidee, A. R. (2022). Predicting climate factors based on big data analytics based agricultural disaster management. Physics and Chemistry of the Earth, Parts A/B/C, 128, 103243. </a:t>
            </a:r>
            <a:r>
              <a:rPr lang="en-US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https://doi.org/10.1016/J.PCE.2022.103243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Nsabagwa</a:t>
            </a: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Byamukama, M., &amp; Otim, J. S. (2019). Towards a robust and affordable Automatic Weather Station. Development Engineering, 4, 100040. </a:t>
            </a:r>
            <a:r>
              <a:rPr lang="en-GB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https://doi.org/10.1016/j.deveng.2018.100040</a:t>
            </a: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Pérez, M. A., Rodríguez, J., &amp; Bernet, S. (2022). A comprehensive review on modular multilevel converters. Energies, 15(10), 3701. </a:t>
            </a:r>
            <a:r>
              <a:rPr lang="en-GB" sz="16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https://doi.org/10.3390/en15103701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Ma, Z., Wang, X., &amp; Chen, L. (2023). Advances and perspectives in multilevel converters. Electronics, 13(18), </a:t>
            </a:r>
            <a:r>
              <a:rPr lang="en-GB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4736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Fang, Y.; Liu, Y.; Fu, A.; Shi, S.; Zhang, Z. A Data-Driven Control for Modular Multilevel Converters Based on Model-Free Adaptive Control with an Event-Triggered Scheme. Electronics, 2024, 13(15), 2899. </a:t>
            </a:r>
            <a:r>
              <a:rPr lang="en-GB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https://doi.org/10.3390/electronics13152899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Pallo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Bonfiglio, A., &amp; Procopio, R. (2020). Adaptive control of four-quadrant DC–DC converters. Energies, 13(21), 5619.</a:t>
            </a:r>
            <a:r>
              <a:rPr lang="en-GB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1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9008C4-09F6-1D2E-3676-E7B3AD35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D3F982-5C8F-BF94-A812-3DC1A5BC6A62}"/>
              </a:ext>
            </a:extLst>
          </p:cNvPr>
          <p:cNvSpPr txBox="1"/>
          <p:nvPr/>
        </p:nvSpPr>
        <p:spPr>
          <a:xfrm>
            <a:off x="5188969" y="0"/>
            <a:ext cx="3573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68B89BE-D5C7-2BFB-A500-AFA95ADA3FEE}"/>
              </a:ext>
            </a:extLst>
          </p:cNvPr>
          <p:cNvSpPr txBox="1"/>
          <p:nvPr/>
        </p:nvSpPr>
        <p:spPr>
          <a:xfrm>
            <a:off x="3564013" y="557744"/>
            <a:ext cx="5198350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Gantt chart showing proposed </a:t>
            </a:r>
            <a:r>
              <a:rPr lang="en-US" sz="2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ork </a:t>
            </a:r>
            <a:r>
              <a:rPr lang="en-US" sz="24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76" y="978002"/>
            <a:ext cx="8798913" cy="53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2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99FDB5-9F56-264E-9625-15A4229F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18FC9FA-7071-DBD5-26BA-89C600D1FE0E}"/>
              </a:ext>
            </a:extLst>
          </p:cNvPr>
          <p:cNvSpPr txBox="1"/>
          <p:nvPr/>
        </p:nvSpPr>
        <p:spPr>
          <a:xfrm>
            <a:off x="4575086" y="1662093"/>
            <a:ext cx="370693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2. Proposed Budget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1D7DC23E-ABE8-84D3-57C0-986CDDF69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164371"/>
              </p:ext>
            </p:extLst>
          </p:nvPr>
        </p:nvGraphicFramePr>
        <p:xfrm>
          <a:off x="1661746" y="2292666"/>
          <a:ext cx="9009670" cy="2804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xmlns="" val="2467134884"/>
                    </a:ext>
                  </a:extLst>
                </a:gridCol>
                <a:gridCol w="5747704">
                  <a:extLst>
                    <a:ext uri="{9D8B030D-6E8A-4147-A177-3AD203B41FA5}">
                      <a16:colId xmlns:a16="http://schemas.microsoft.com/office/drawing/2014/main" xmlns="" val="3222663029"/>
                    </a:ext>
                  </a:extLst>
                </a:gridCol>
                <a:gridCol w="2539880">
                  <a:extLst>
                    <a:ext uri="{9D8B030D-6E8A-4147-A177-3AD203B41FA5}">
                      <a16:colId xmlns:a16="http://schemas.microsoft.com/office/drawing/2014/main" xmlns="" val="4060444106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(USD)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78938937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 Fabrication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64483481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 &amp; Materials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8723588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 and Design Software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60226212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Installation &amp; Testing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71947275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 and Data Collection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68158110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Production &amp; Dissemination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17356136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3,400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0239395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BD3F982-5C8F-BF94-A812-3DC1A5BC6A62}"/>
              </a:ext>
            </a:extLst>
          </p:cNvPr>
          <p:cNvSpPr txBox="1"/>
          <p:nvPr/>
        </p:nvSpPr>
        <p:spPr>
          <a:xfrm>
            <a:off x="5188969" y="0"/>
            <a:ext cx="3573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11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4060</TotalTime>
  <Words>2281</Words>
  <Application>Microsoft Office PowerPoint</Application>
  <PresentationFormat>Widescreen</PresentationFormat>
  <Paragraphs>294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Muhanguzi Tobias</dc:creator>
  <cp:lastModifiedBy>Microsoft account</cp:lastModifiedBy>
  <cp:revision>613</cp:revision>
  <dcterms:created xsi:type="dcterms:W3CDTF">2025-08-04T04:23:59Z</dcterms:created>
  <dcterms:modified xsi:type="dcterms:W3CDTF">2025-12-11T13:26:02Z</dcterms:modified>
</cp:coreProperties>
</file>